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29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everyone, introduce yourself, and set expectations: this is a hands-on 2-hour session for complete beginners. No prior Git/GitHub knowledge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 show of hands for each question. This surfaces the room's experience level and creates buy-in for why version control matters. Keep it light and fast — 2-3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quickly. Reassure students this looks like a lot but each piece is small. Frame it as 'by the end you will have pushed real code to GitHub.'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messy filename example — most students will recognize it instantly. Pause after showing the files and ask 'sound familiar?' before revealing Git as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Git works locally and offline — no internet required to track history. This sets up the Git vs GitHub distinction in a later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live internet, briefly show github.com in a browser instead of relying only on the placeholder. Highlight that GitHub is built ON TOP of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distinction of the day. Say it explicitly: 'Git is the tool, GitHub is one place you can use it.' Consider repeating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 live demo here: open a terminal and run git --version together with the class. Troubleshoot installs now if anyone is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run all three commands with their own name/email live. Walk around or check screens to confirm it worked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folder analogy heavily. If time allows, open a real repository on GitHub and point out README, code, and history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actually create a repository on github.com while screen-sharing, narrating each field as you fill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create the folder and two files now on their own machines. This sets up the next few slides which build directly on this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git init and git status together. Point out the hidden .git folder in a file explorer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slide for the whole day — consider leaving it on screen for reference during the hands-on activity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staging and committing. Emphasize git add is like putting items in a box, commit is like sealing and dating that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the full push sequence end-to-end. This is often where students hit their first real error (auth, remote URL) — go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screenshot this slide or share it after class as a reference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the room during this activity. Encourage pair work for anyone stuck on installation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aloud, take answers verbally, then reveal the correct answer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day in one sentence: 'You installed Git, created a repo, and pushed code to the cloud.' Preview Day 2's branching and collaboration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59536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59536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59536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9536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59536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09828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09828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09828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09828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09828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09828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0120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60120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60120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60120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0120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10412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10412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10412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10412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10412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10412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60704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60704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60704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60704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60704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109960" y="5486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1109960" y="10515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109960" y="155448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1109960" y="20574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109960" y="25603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109960" y="30632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1094537"/>
            <a:ext cx="462686" cy="46268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2296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&amp; GITHUB FUNDAMENTALS</a:t>
            </a:r>
            <a:endParaRPr lang="en-US" sz="4800" dirty="0"/>
          </a:p>
        </p:txBody>
      </p:sp>
      <p:sp>
        <p:nvSpPr>
          <p:cNvPr id="41" name="Text 38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Introduction to Version Control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822960" y="3977640"/>
            <a:ext cx="3840480" cy="566928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1051560" y="3977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Ranjita Rai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for absolute beginners  ·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WARM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We Begin…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7863840" cy="502920"/>
          </a:xfrm>
          <a:prstGeom prst="roundRect">
            <a:avLst>
              <a:gd name="adj" fmla="val 50909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icons/commen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08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out your answer — yes, no, or maybe! Let's see some hands.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331720"/>
            <a:ext cx="352958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901952" y="2697480"/>
            <a:ext cx="822960" cy="82296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icons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462" y="2894990"/>
            <a:ext cx="427939" cy="4279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74904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you ever lost your code?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2960" y="47548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Deleted, overwritten, or a laptop crash ate your work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34256" y="2331720"/>
            <a:ext cx="352958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687568" y="2697480"/>
            <a:ext cx="822960" cy="82296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078" y="289499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374904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you heard of GitHub?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4608576" y="47548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you've never actually used it yourself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19872" y="2331720"/>
            <a:ext cx="352958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9473184" y="2697480"/>
            <a:ext cx="822960" cy="82296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0694" y="2894990"/>
            <a:ext cx="427939" cy="4279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48472" y="374904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Worked on a group project before?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8394192" y="475488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files over WhatsApp or email doesn't count!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49808" y="1828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boo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600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Version Control is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17920" y="1600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419088" y="1828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icons/cod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19495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600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 vs GitHub — the difference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2743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749808" y="2971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icons/downloa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09250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743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Git on your machine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17920" y="2743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6419088" y="2971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icons/cog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789" y="3092501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0" y="2743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Configure Git with your identity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548640" y="3886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icons/folder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9" y="4235501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886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 your first repository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217920" y="3886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419088" y="4114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icons/upload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9789" y="423550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2320" y="3886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Upload code using Git commands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548640" y="5029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2"/>
          <p:cNvSpPr/>
          <p:nvPr/>
        </p:nvSpPr>
        <p:spPr>
          <a:xfrm>
            <a:off x="749808" y="5257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icons/save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09" y="5378501"/>
            <a:ext cx="261518" cy="26151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029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Make your first commit</a:t>
            </a:r>
            <a:endParaRPr lang="en-US" sz="1450" dirty="0"/>
          </a:p>
        </p:txBody>
      </p:sp>
      <p:sp>
        <p:nvSpPr>
          <p:cNvPr id="34" name="Shape 24"/>
          <p:cNvSpPr/>
          <p:nvPr/>
        </p:nvSpPr>
        <p:spPr>
          <a:xfrm>
            <a:off x="6217920" y="50292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6419088" y="525780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icons/cloud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9789" y="5378501"/>
            <a:ext cx="261518" cy="26151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32320" y="50292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Push code to GitHub</a:t>
            </a:r>
            <a:endParaRPr lang="en-US" sz="1450" dirty="0"/>
          </a:p>
        </p:txBody>
      </p:sp>
      <p:sp>
        <p:nvSpPr>
          <p:cNvPr id="38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 We Need Version Control?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68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We've all been here...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icons/fil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4780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331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Assignment.docx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170432" y="2926080"/>
            <a:ext cx="0" cy="18288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68680" y="310896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icons/fil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552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08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Assignment_Final.docx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170432" y="3703320"/>
            <a:ext cx="0" cy="18288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868680" y="388620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icons/fil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325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886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Assignment_Final2.docx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1170432" y="4480560"/>
            <a:ext cx="0" cy="18288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868680" y="466344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FFEBE9"/>
          </a:solidFill>
          <a:ln w="12700">
            <a:solidFill>
              <a:srgbClr val="F1A8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icons/fil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80974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663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Assignment_Final_Final.docx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172200" y="3657600"/>
            <a:ext cx="685800" cy="0"/>
          </a:xfrm>
          <a:prstGeom prst="line">
            <a:avLst/>
          </a:prstGeom>
          <a:noFill/>
          <a:ln w="317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7086600" y="1600200"/>
            <a:ext cx="4553712" cy="4114800"/>
          </a:xfrm>
          <a:prstGeom prst="roundRect">
            <a:avLst>
              <a:gd name="adj" fmla="val 2222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8906256" y="1965960"/>
            <a:ext cx="914400" cy="9144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icons/g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185416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tracks every change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745236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file. Every version saved automatically in its history. Revert, compare, or restore any point in time — no more "_Final_Final".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Git?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g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icons/gi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5623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6002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</a:t>
            </a:r>
            <a:r>
              <a:rPr lang="en-US" sz="16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distributed version control system</a:t>
            </a:r>
            <a:r>
              <a:rPr lang="en-US" sz="16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tracks changes in your code over time.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48640" y="2926080"/>
            <a:ext cx="2624328" cy="27889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540764" y="324612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icons/history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383" y="339973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31520" y="452628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change ever made, by anyone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392424" y="2926080"/>
            <a:ext cx="2624328" cy="27889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4384548" y="324612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icons/desktop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167" y="339973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29584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offline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3575304" y="452628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entirely on your own computer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236208" y="2926080"/>
            <a:ext cx="2624328" cy="27889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7228332" y="324612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icons/branch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951" y="33997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73368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419088" y="452628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off, try things, undo mistakes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9079992" y="2926080"/>
            <a:ext cx="2624328" cy="27889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10072116" y="324612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icons/user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5735" y="339973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17152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9262872" y="452628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everyone's work without chaos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GitHub?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307592" y="18745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cloud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655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6060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67512" y="308152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your Git repositories online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79776" y="160020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538728" y="18745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icons/fold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791" y="20105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71216" y="26060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Hosting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898648" y="308152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unlimited public &amp; private repos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0243" y="1609531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769864" y="18745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icons/user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927" y="20105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02352" y="26060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129784" y="308152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 on the same codebase together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242048" y="160020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8001000" y="18745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icons/star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063" y="201058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33488" y="26060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360920" y="308152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projects to employers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73184" y="160020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10232136" y="18745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icons/glob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8199" y="201058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64624" y="26060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592056" y="308152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projects used worldwide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416052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777240" y="4315968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978408" y="431596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1179576" y="4315968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1371600" y="4279392"/>
            <a:ext cx="5943600" cy="292608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/>
          <p:nvPr/>
        </p:nvSpPr>
        <p:spPr>
          <a:xfrm>
            <a:off x="1463040" y="42793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github.com/your-username/your-repository</a:t>
            </a:r>
            <a:endParaRPr lang="en-US" sz="1000" dirty="0"/>
          </a:p>
        </p:txBody>
      </p:sp>
      <p:pic>
        <p:nvPicPr>
          <p:cNvPr id="38" name="Image 6" descr="icons/desktop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5074920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77240" y="56692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GitHub repository interface ]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5E97C22-D73B-D885-1F7F-13C535C3D0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448" y="4590288"/>
            <a:ext cx="9885762" cy="1609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vs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gi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" y="22549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19202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tool</a:t>
            </a:r>
            <a:endParaRPr lang="en-US" sz="1200" dirty="0"/>
          </a:p>
        </p:txBody>
      </p:sp>
      <p:pic>
        <p:nvPicPr>
          <p:cNvPr id="11" name="Image 2" descr="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290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55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computer</a:t>
            </a:r>
            <a:endParaRPr lang="en-US" sz="1350" dirty="0"/>
          </a:p>
        </p:txBody>
      </p:sp>
      <p:pic>
        <p:nvPicPr>
          <p:cNvPr id="13" name="Image 3" descr="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133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to files over time</a:t>
            </a:r>
            <a:endParaRPr lang="en-US" sz="1350" dirty="0"/>
          </a:p>
        </p:txBody>
      </p:sp>
      <p:pic>
        <p:nvPicPr>
          <p:cNvPr id="15" name="Image 4" descr="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4910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 the Command Line (CLI)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5774436" y="35890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5774436" y="35890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60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291072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0969DA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6656832" y="2057400"/>
            <a:ext cx="822960" cy="822960"/>
          </a:xfrm>
          <a:prstGeom prst="ellipse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icons/githu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342" y="2254910"/>
            <a:ext cx="427939" cy="42793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62672" y="2103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3000" dirty="0"/>
          </a:p>
        </p:txBody>
      </p:sp>
      <p:sp>
        <p:nvSpPr>
          <p:cNvPr id="23" name="Text 15"/>
          <p:cNvSpPr/>
          <p:nvPr/>
        </p:nvSpPr>
        <p:spPr>
          <a:xfrm>
            <a:off x="7662672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hosting platform</a:t>
            </a:r>
            <a:endParaRPr lang="en-US" sz="1200" dirty="0"/>
          </a:p>
        </p:txBody>
      </p:sp>
      <p:pic>
        <p:nvPicPr>
          <p:cNvPr id="24" name="Image 6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429000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14032" y="3355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repositories in the cloud</a:t>
            </a:r>
            <a:endParaRPr lang="en-US" sz="1350" dirty="0"/>
          </a:p>
        </p:txBody>
      </p:sp>
      <p:pic>
        <p:nvPicPr>
          <p:cNvPr id="26" name="Image 7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206240"/>
            <a:ext cx="292608" cy="2926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14032" y="4133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 collaboration online</a:t>
            </a:r>
            <a:endParaRPr lang="en-US" sz="1350" dirty="0"/>
          </a:p>
        </p:txBody>
      </p:sp>
      <p:pic>
        <p:nvPicPr>
          <p:cNvPr id="28" name="Image 8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983480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114032" y="4910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visual, browser-based UI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down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downloa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00200" y="22585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installer from git-scm.com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005072" y="2400300"/>
            <a:ext cx="265176" cy="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29768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526280" y="205740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cons/cog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2199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Install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349240" y="22585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with default options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54112" y="2400300"/>
            <a:ext cx="265176" cy="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04672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8275320" y="205740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2219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98280" y="22585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Git is ready to use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6720840" cy="2103120"/>
          </a:xfrm>
          <a:prstGeom prst="roundRect">
            <a:avLst>
              <a:gd name="adj" fmla="val 3478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6720840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48640" y="3685032"/>
            <a:ext cx="6720840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94944" y="363016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96112" y="363016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548640" y="3520440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04672" y="3995928"/>
            <a:ext cx="6208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git version 2.43.0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7543800" y="3520440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FFF8C5"/>
          </a:solidFill>
          <a:ln w="12700">
            <a:solidFill>
              <a:srgbClr val="EAC5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708392" y="3703320"/>
            <a:ext cx="457200" cy="457200"/>
          </a:xfrm>
          <a:prstGeom prst="ellipse">
            <a:avLst/>
          </a:prstGeom>
          <a:solidFill>
            <a:srgbClr val="D4A7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icon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81304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293608" y="3611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r>
              <a:rPr lang="en-US" sz="1250" dirty="0">
                <a:solidFill>
                  <a:srgbClr val="4A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install Git Bash — it gives you a Linux-style terminal that matches this workshop.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543800" y="4617720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FFEBE9"/>
          </a:solidFill>
          <a:ln w="12700">
            <a:solidFill>
              <a:srgbClr val="F1A8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7708392" y="4800600"/>
            <a:ext cx="457200" cy="45720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icons/war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91032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93608" y="470916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
</a:t>
            </a:r>
            <a:r>
              <a:rPr lang="en-US" sz="1250" dirty="0">
                <a:solidFill>
                  <a:srgbClr val="5C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restart your terminal after installing — commands won't be found otherwise.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co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labels every commit with who made it. Set your name and email once — every project on this machine will use it automatically.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your first commit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applies it to every repository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any time by re-running the command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FFF8C5"/>
          </a:solidFill>
          <a:ln w="12700">
            <a:solidFill>
              <a:srgbClr val="EAC5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13232" y="5212080"/>
            <a:ext cx="457200" cy="457200"/>
          </a:xfrm>
          <a:prstGeom prst="ellipse">
            <a:avLst/>
          </a:prstGeom>
          <a:solidFill>
            <a:srgbClr val="D4A7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18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5120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r>
              <a:rPr lang="en-US" sz="1250" dirty="0">
                <a:solidFill>
                  <a:srgbClr val="4A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 as your GitHub account so your commits are linked to your profile.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609531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035040" y="1600200"/>
            <a:ext cx="5605272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035040" y="1764792"/>
            <a:ext cx="5605272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81344" y="17099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382512" y="17099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583680" y="17099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035040" y="1600200"/>
            <a:ext cx="5605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91072" y="2075688"/>
            <a:ext cx="50932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your identity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“Ranjita Rai”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</a:t>
            </a:r>
            <a:r>
              <a:rPr lang="en-US" sz="13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		“ranjita@gmail.com”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your settings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user.name=Ranjita Rai
user.email=ranjita@gmail.com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 Repository?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("repo") </a:t>
            </a: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simply a project folder that Git is watching. It holds your files plus the entire history of every change.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0120" y="2633472"/>
            <a:ext cx="1463040" cy="292608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22960" y="288036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AEC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60120" y="3154680"/>
            <a:ext cx="4663440" cy="2606040"/>
          </a:xfrm>
          <a:prstGeom prst="roundRect">
            <a:avLst>
              <a:gd name="adj" fmla="val 3509"/>
            </a:avLst>
          </a:prstGeom>
          <a:solidFill>
            <a:srgbClr val="DD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8872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GitHubWorkshop/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88720" y="37947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s/cod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39776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337560" y="37947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cons/fi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9776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02152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188720" y="498348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icons/desktop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" y="51663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5577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337560" y="498348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icons/history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51663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02152" y="5577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72200" y="2377440"/>
            <a:ext cx="5468112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64465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like…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46520" y="3063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magic project folder with a built-in time machine — every save is remembered, nothing is ever truly lost, and you can jump back to any earlier version instantly.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6446520" y="4709160"/>
            <a:ext cx="4937760" cy="502920"/>
          </a:xfrm>
          <a:prstGeom prst="roundRect">
            <a:avLst>
              <a:gd name="adj" fmla="val 50909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icons/comment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82803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4709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anyone guess what a README file is for?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 GitHub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plu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69948" y="169164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86994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55748" y="2011680"/>
            <a:ext cx="187452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75988" y="169164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4759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38728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61788" y="2011680"/>
            <a:ext cx="187452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082028" y="169164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08202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44768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67828" y="2011680"/>
            <a:ext cx="187452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688068" y="169164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68806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750808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7302" y="3219062"/>
            <a:ext cx="11091672" cy="3017520"/>
          </a:xfrm>
          <a:prstGeom prst="roundRect">
            <a:avLst>
              <a:gd name="adj" fmla="val 3030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77240" y="3355848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978408" y="335584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179576" y="3355848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icons/github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251960"/>
            <a:ext cx="594360" cy="5943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77240" y="50292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"Create a new repository" screen ]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D154AB2-D3F6-5B6A-9B97-882926805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3721982"/>
            <a:ext cx="10190531" cy="2258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Project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run any Git commands, let's create a project folder with two starter files.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359152"/>
            <a:ext cx="5486400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94944" y="23042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96112" y="23042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97280" y="23042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48640" y="21945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structure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2670048"/>
            <a:ext cx="49743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GitHubWorkshop/
├── README.md
└── index.html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9360" y="2286000"/>
            <a:ext cx="53309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icons/folde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57860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414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GitHubWorkshop/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223760" y="2788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folder that will become a repository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09360" y="3611880"/>
            <a:ext cx="53309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icons/fil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0448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23760" y="3739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223760" y="4114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project — shown on GitHub's homepage for it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09360" y="4937760"/>
            <a:ext cx="53309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icons/cod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230368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50657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223760" y="5440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starter web page for our demo project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IT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Initialize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g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577840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8640" y="1764792"/>
            <a:ext cx="5577840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94944" y="17099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96112" y="17099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97280" y="17099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16002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" y="2075688"/>
            <a:ext cx="5065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Initialized empty Git repository
in /GitHubWorkshop/.git/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On branch main
No commits yet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5577840" cy="822960"/>
          </a:xfrm>
          <a:prstGeom prst="roundRect">
            <a:avLst>
              <a:gd name="adj" fmla="val 10000"/>
            </a:avLst>
          </a:prstGeom>
          <a:solidFill>
            <a:srgbClr val="FFF8C5"/>
          </a:solidFill>
          <a:ln w="12700">
            <a:solidFill>
              <a:srgbClr val="EAC5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13232" y="4526280"/>
            <a:ext cx="457200" cy="457200"/>
          </a:xfrm>
          <a:prstGeom prst="ellipse">
            <a:avLst/>
          </a:prstGeom>
          <a:solidFill>
            <a:srgbClr val="D4A7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3600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4434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r>
              <a:rPr lang="en-US" sz="1250" dirty="0">
                <a:solidFill>
                  <a:srgbClr val="4A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often — it's your best friend for seeing exactly what Git is thinking.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92240" y="1600200"/>
            <a:ext cx="2331720" cy="31089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69480" y="1874520"/>
            <a:ext cx="777240" cy="7772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icons/desktop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018" y="206105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75120" y="34290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visible project files on disk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15400" y="3154680"/>
            <a:ext cx="685800" cy="0"/>
          </a:xfrm>
          <a:prstGeom prst="line">
            <a:avLst/>
          </a:prstGeom>
          <a:noFill/>
          <a:ln w="3175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88696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692640" y="16002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0277856" y="1874520"/>
            <a:ext cx="777240" cy="77724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icons/g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4" y="2061058"/>
            <a:ext cx="404165" cy="40416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8408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(.git)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802368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folder that stores full history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Git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13152" y="1609344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81315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3504" y="1572768"/>
            <a:ext cx="6035040" cy="457200"/>
          </a:xfrm>
          <a:prstGeom prst="roundRect">
            <a:avLst>
              <a:gd name="adj" fmla="val 1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9" name="Image 1" descr="icons/fold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808" y="16733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3856" y="15727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61024" y="2029968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2813152" y="2189988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2813152" y="2189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43504" y="2153412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5" name="Image 2" descr="icons/termina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808" y="22539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73856" y="21534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r>
              <a:rPr lang="en-US" sz="1350" dirty="0" err="1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361024" y="2610612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2813152" y="2770632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281315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343504" y="2734056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808" y="28346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73856" y="27340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361024" y="3191256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2813152" y="3351276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2813152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343504" y="3314700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7" name="Image 4" descr="icons/plu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9808" y="34152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73856" y="33147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361024" y="3771900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2813152" y="3931920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/>
          <p:nvPr/>
        </p:nvSpPr>
        <p:spPr>
          <a:xfrm>
            <a:off x="281315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343504" y="3895344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icons/save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9808" y="399592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73856" y="389534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361024" y="4352544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2813152" y="4512564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/>
          <p:nvPr/>
        </p:nvSpPr>
        <p:spPr>
          <a:xfrm>
            <a:off x="2813152" y="4512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3343504" y="4475988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6" descr="icons/cloud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9808" y="4576572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873856" y="44759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</a:t>
            </a:r>
            <a:endParaRPr lang="en-US" sz="1350" dirty="0"/>
          </a:p>
        </p:txBody>
      </p:sp>
      <p:sp>
        <p:nvSpPr>
          <p:cNvPr id="41" name="Shape 32"/>
          <p:cNvSpPr/>
          <p:nvPr/>
        </p:nvSpPr>
        <p:spPr>
          <a:xfrm>
            <a:off x="6361024" y="4933188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2813152" y="5093208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4"/>
          <p:cNvSpPr/>
          <p:nvPr/>
        </p:nvSpPr>
        <p:spPr>
          <a:xfrm>
            <a:off x="2813152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3343504" y="5056632"/>
            <a:ext cx="6035040" cy="4572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7" descr="icons/branch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08" y="5157216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873856" y="50566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350" dirty="0"/>
          </a:p>
        </p:txBody>
      </p:sp>
      <p:sp>
        <p:nvSpPr>
          <p:cNvPr id="47" name="Shape 37"/>
          <p:cNvSpPr/>
          <p:nvPr/>
        </p:nvSpPr>
        <p:spPr>
          <a:xfrm>
            <a:off x="6361024" y="5513832"/>
            <a:ext cx="0" cy="123444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8"/>
          <p:cNvSpPr/>
          <p:nvPr/>
        </p:nvSpPr>
        <p:spPr>
          <a:xfrm>
            <a:off x="2813152" y="5673852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9"/>
          <p:cNvSpPr/>
          <p:nvPr/>
        </p:nvSpPr>
        <p:spPr>
          <a:xfrm>
            <a:off x="2813152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3343504" y="5637276"/>
            <a:ext cx="6035040" cy="457200"/>
          </a:xfrm>
          <a:prstGeom prst="roundRect">
            <a:avLst>
              <a:gd name="adj" fmla="val 18000"/>
            </a:avLst>
          </a:prstGeom>
          <a:solidFill>
            <a:srgbClr val="0969D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8" descr="icons/uploa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9808" y="5737860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3873856" y="56372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50" dirty="0"/>
          </a:p>
        </p:txBody>
      </p:sp>
      <p:sp>
        <p:nvSpPr>
          <p:cNvPr id="53" name="Text 4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ZONES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Stage and Commit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sa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805940" y="196596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desktop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505" y="214152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3291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 files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867912" y="2788920"/>
            <a:ext cx="676656" cy="0"/>
          </a:xfrm>
          <a:prstGeom prst="line">
            <a:avLst/>
          </a:prstGeom>
          <a:noFill/>
          <a:ln w="3175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617720" y="169164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875020" y="196596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cons/fi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585" y="214152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00600" y="3291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marked "ready to save"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936992" y="2788920"/>
            <a:ext cx="676656" cy="0"/>
          </a:xfrm>
          <a:prstGeom prst="line">
            <a:avLst/>
          </a:prstGeom>
          <a:noFill/>
          <a:ln w="3175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686800" y="169164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9944100" y="196596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icons/history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665" y="214152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2396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869680" y="3291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saved history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867912" y="23317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936992" y="23317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343400"/>
            <a:ext cx="6720840" cy="1874520"/>
          </a:xfrm>
          <a:prstGeom prst="roundRect">
            <a:avLst>
              <a:gd name="adj" fmla="val 3902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548640" y="4343400"/>
            <a:ext cx="6720840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548640" y="4507992"/>
            <a:ext cx="6720840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94944" y="44531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896112" y="44531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1097280" y="44531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548640" y="4343400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04672" y="4818888"/>
            <a:ext cx="6208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7543800" y="4343400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FFEBE9"/>
          </a:solidFill>
          <a:ln w="12700">
            <a:solidFill>
              <a:srgbClr val="F1A8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7708392" y="4526280"/>
            <a:ext cx="457200" cy="45720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icons/war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636008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93608" y="443484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
</a:t>
            </a:r>
            <a:r>
              <a:rPr lang="en-US" sz="1250" dirty="0">
                <a:solidFill>
                  <a:srgbClr val="5C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without git add first — Git can only commit what's been staged.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to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531620" y="1874520"/>
            <a:ext cx="777240" cy="7772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desktop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58" y="206105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2560320"/>
            <a:ext cx="914400" cy="0"/>
          </a:xfrm>
          <a:prstGeom prst="line">
            <a:avLst/>
          </a:prstGeom>
          <a:noFill/>
          <a:ln w="317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icons/uploa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057400"/>
            <a:ext cx="548640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97680" y="16002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969DA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280660" y="1874520"/>
            <a:ext cx="777240" cy="777240"/>
          </a:xfrm>
          <a:prstGeom prst="ellipse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198" y="2061058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Cloud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3891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online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315200" y="1600200"/>
            <a:ext cx="4325112" cy="4251960"/>
          </a:xfrm>
          <a:prstGeom prst="roundRect">
            <a:avLst>
              <a:gd name="adj" fmla="val 1720"/>
            </a:avLst>
          </a:prstGeom>
          <a:solidFill>
            <a:srgbClr val="1B1F24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7315200" y="1600200"/>
            <a:ext cx="4325112" cy="329184"/>
          </a:xfrm>
          <a:prstGeom prst="roundRect">
            <a:avLst>
              <a:gd name="adj" fmla="val 22222"/>
            </a:avLst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7315200" y="1764792"/>
            <a:ext cx="4325112" cy="16459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7461504" y="17099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7662672" y="17099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7863840" y="17099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7315200" y="160020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571232" y="2075688"/>
            <a:ext cx="38130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 to your GitHub repo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https://github.com/you/repo.git
</a:t>
            </a:r>
            <a:r>
              <a:rPr lang="en-US" sz="13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Rename branch to main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your code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6519672" cy="822960"/>
          </a:xfrm>
          <a:prstGeom prst="roundRect">
            <a:avLst>
              <a:gd name="adj" fmla="val 10000"/>
            </a:avLst>
          </a:prstGeom>
          <a:solidFill>
            <a:srgbClr val="FFEBE9"/>
          </a:solidFill>
          <a:ln w="12700">
            <a:solidFill>
              <a:srgbClr val="F1A8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713232" y="4160520"/>
            <a:ext cx="457200" cy="45720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icons/war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7024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98448" y="4069080"/>
            <a:ext cx="5605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
</a:t>
            </a:r>
            <a:r>
              <a:rPr lang="en-US" sz="1250" dirty="0">
                <a:solidFill>
                  <a:srgbClr val="5C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remote URL is the #1 push error — copy it directly from your GitHub repo page.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5074920"/>
            <a:ext cx="6519672" cy="822960"/>
          </a:xfrm>
          <a:prstGeom prst="roundRect">
            <a:avLst>
              <a:gd name="adj" fmla="val 10000"/>
            </a:avLst>
          </a:prstGeom>
          <a:solidFill>
            <a:srgbClr val="FFF8C5"/>
          </a:solidFill>
          <a:ln w="12700">
            <a:solidFill>
              <a:srgbClr val="EAC5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713232" y="5257800"/>
            <a:ext cx="457200" cy="457200"/>
          </a:xfrm>
          <a:prstGeom prst="ellipse">
            <a:avLst/>
          </a:prstGeom>
          <a:solidFill>
            <a:srgbClr val="D4A7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icons/bulb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36752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98448" y="5166360"/>
            <a:ext cx="5605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r>
              <a:rPr lang="en-US" sz="1250" dirty="0">
                <a:solidFill>
                  <a:srgbClr val="4A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-u flag only needs to run once — after that, a plain git push remembers where to send your code.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Cheat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6868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2064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2960" y="21305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60120" y="2130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0" y="20574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folder into a Git repository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87752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BFCFD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22960" y="266090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60120" y="2660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5877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what's changed and what's staged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118104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22960" y="319125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6012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11810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648456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BFCFD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22960" y="372160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60120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""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364845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178808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22960" y="425196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60120" y="4251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41788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local repo to GitHub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709160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BFCFD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822960" y="478231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60120" y="4782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20640" y="47091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5239512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22960" y="53126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960120" y="5312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120640" y="523951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latest changes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5769864"/>
            <a:ext cx="11091672" cy="530352"/>
          </a:xfrm>
          <a:prstGeom prst="roundRect">
            <a:avLst>
              <a:gd name="adj" fmla="val 17241"/>
            </a:avLst>
          </a:prstGeom>
          <a:solidFill>
            <a:srgbClr val="FBFCFD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822960" y="584301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960120" y="58430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120640" y="576986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existing repo to your machine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Hands-On Activity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65792" y="502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69164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77240" y="19888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502920" cy="502920"/>
          </a:xfrm>
          <a:prstGeom prst="rect">
            <a:avLst/>
          </a:prstGeom>
        </p:spPr>
      </p:pic>
      <p:pic>
        <p:nvPicPr>
          <p:cNvPr id="12" name="Image 3" descr="icons/github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1979676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0240" y="1691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217920" y="169164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6446520" y="19888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502920" cy="502920"/>
          </a:xfrm>
          <a:prstGeom prst="rect">
            <a:avLst/>
          </a:prstGeom>
        </p:spPr>
      </p:pic>
      <p:pic>
        <p:nvPicPr>
          <p:cNvPr id="17" name="Image 5" descr="icons/plu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979676"/>
            <a:ext cx="384048" cy="3840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589520" y="1691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repository</a:t>
            </a:r>
            <a:endParaRPr lang="en-US" sz="1450" dirty="0"/>
          </a:p>
        </p:txBody>
      </p:sp>
      <p:sp>
        <p:nvSpPr>
          <p:cNvPr id="19" name="Shape 11"/>
          <p:cNvSpPr/>
          <p:nvPr/>
        </p:nvSpPr>
        <p:spPr>
          <a:xfrm>
            <a:off x="548640" y="285292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77240" y="31501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81528"/>
            <a:ext cx="502920" cy="502920"/>
          </a:xfrm>
          <a:prstGeom prst="rect">
            <a:avLst/>
          </a:prstGeom>
        </p:spPr>
      </p:pic>
      <p:pic>
        <p:nvPicPr>
          <p:cNvPr id="22" name="Image 7" descr="icons/git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140964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920240" y="2852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init locally</a:t>
            </a:r>
            <a:endParaRPr lang="en-US" sz="1450" dirty="0"/>
          </a:p>
        </p:txBody>
      </p:sp>
      <p:sp>
        <p:nvSpPr>
          <p:cNvPr id="24" name="Shape 14"/>
          <p:cNvSpPr/>
          <p:nvPr/>
        </p:nvSpPr>
        <p:spPr>
          <a:xfrm>
            <a:off x="6217920" y="285292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5"/>
          <p:cNvSpPr/>
          <p:nvPr/>
        </p:nvSpPr>
        <p:spPr>
          <a:xfrm>
            <a:off x="6446520" y="31501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8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81528"/>
            <a:ext cx="502920" cy="502920"/>
          </a:xfrm>
          <a:prstGeom prst="rect">
            <a:avLst/>
          </a:prstGeom>
        </p:spPr>
      </p:pic>
      <p:pic>
        <p:nvPicPr>
          <p:cNvPr id="27" name="Image 9" descr="icons/fil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140964"/>
            <a:ext cx="384048" cy="38404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589520" y="2852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README file</a:t>
            </a:r>
            <a:endParaRPr lang="en-US" sz="1450" dirty="0"/>
          </a:p>
        </p:txBody>
      </p:sp>
      <p:sp>
        <p:nvSpPr>
          <p:cNvPr id="29" name="Shape 17"/>
          <p:cNvSpPr/>
          <p:nvPr/>
        </p:nvSpPr>
        <p:spPr>
          <a:xfrm>
            <a:off x="548640" y="401421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8"/>
          <p:cNvSpPr/>
          <p:nvPr/>
        </p:nvSpPr>
        <p:spPr>
          <a:xfrm>
            <a:off x="777240" y="43113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0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42816"/>
            <a:ext cx="502920" cy="502920"/>
          </a:xfrm>
          <a:prstGeom prst="rect">
            <a:avLst/>
          </a:prstGeom>
        </p:spPr>
      </p:pic>
      <p:pic>
        <p:nvPicPr>
          <p:cNvPr id="32" name="Image 11" descr="icons/save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320" y="4302252"/>
            <a:ext cx="384048" cy="38404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920240" y="4014216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first commit</a:t>
            </a:r>
            <a:endParaRPr lang="en-US" sz="1450" dirty="0"/>
          </a:p>
        </p:txBody>
      </p:sp>
      <p:sp>
        <p:nvSpPr>
          <p:cNvPr id="34" name="Shape 20"/>
          <p:cNvSpPr/>
          <p:nvPr/>
        </p:nvSpPr>
        <p:spPr>
          <a:xfrm>
            <a:off x="6217920" y="401421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1B1F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1"/>
          <p:cNvSpPr/>
          <p:nvPr/>
        </p:nvSpPr>
        <p:spPr>
          <a:xfrm>
            <a:off x="6446520" y="43113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2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242816"/>
            <a:ext cx="502920" cy="502920"/>
          </a:xfrm>
          <a:prstGeom prst="rect">
            <a:avLst/>
          </a:prstGeom>
        </p:spPr>
      </p:pic>
      <p:pic>
        <p:nvPicPr>
          <p:cNvPr id="37" name="Image 13" descr="icons/upload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302252"/>
            <a:ext cx="384048" cy="38404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7589520" y="4014216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it to GitHub</a:t>
            </a:r>
            <a:endParaRPr lang="en-US" sz="1450" dirty="0"/>
          </a:p>
        </p:txBody>
      </p:sp>
      <p:sp>
        <p:nvSpPr>
          <p:cNvPr id="39" name="Shape 23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50909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4" descr="icons/comment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108192"/>
            <a:ext cx="274320" cy="27432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1051560" y="598932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once you've pushed successfully — we'll come help anyone stuck!</a:t>
            </a:r>
            <a:endParaRPr lang="en-US" sz="1300" dirty="0"/>
          </a:p>
        </p:txBody>
      </p:sp>
      <p:sp>
        <p:nvSpPr>
          <p:cNvPr id="42" name="Text 2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3" name="Text 2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Quiz Time!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75" y="66705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11091672" cy="502920"/>
          </a:xfrm>
          <a:prstGeom prst="roundRect">
            <a:avLst>
              <a:gd name="adj" fmla="val 50909"/>
            </a:avLst>
          </a:prstGeom>
          <a:solidFill>
            <a:srgbClr val="DDF4FF"/>
          </a:solidFill>
          <a:ln w="1270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icons/commen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087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the chat or shout it out — let's see who's been paying attention!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77240" y="2386584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7724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28600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561320" y="24414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072384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2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417320" y="307238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initializes a Git repository?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561320" y="32278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3858768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417320" y="385876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git add do?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0561320" y="40142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8640" y="4645152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777240" y="4745736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7772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417320" y="464515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repository?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10561320" y="4800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48640" y="5431536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777240" y="553212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777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1417320" y="5431536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uploads your changes to GitHub?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— DAY 1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012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012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6304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6304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46304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46304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96596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96596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96596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96596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46888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46888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46888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46888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971800" y="45720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971800" y="96012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971800" y="146304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971800" y="1965960"/>
            <a:ext cx="54864" cy="54864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501488" y="777240"/>
            <a:ext cx="1188720" cy="11887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442" y="1098194"/>
            <a:ext cx="546811" cy="54681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29" name="Text 26"/>
          <p:cNvSpPr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2666848" y="4023360"/>
            <a:ext cx="6858000" cy="868680"/>
          </a:xfrm>
          <a:prstGeom prst="roundRect">
            <a:avLst>
              <a:gd name="adj" fmla="val 14737"/>
            </a:avLst>
          </a:prstGeom>
          <a:solidFill>
            <a:srgbClr val="1B1F24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icons/arrow_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168" y="429768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444088" y="40233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in Day 2: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Branching</a:t>
            </a:r>
            <a:endParaRPr lang="en-US" sz="1550" dirty="0"/>
          </a:p>
        </p:txBody>
      </p:sp>
      <p:sp>
        <p:nvSpPr>
          <p:cNvPr id="33" name="Text 29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&amp; GitHub Fundamentals, Day 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1993</Words>
  <Application>Microsoft Office PowerPoint</Application>
  <PresentationFormat>Widescreen</PresentationFormat>
  <Paragraphs>301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Fundamentals - Day 1</dc:title>
  <dc:subject>PptxGenJS Presentation</dc:subject>
  <dc:creator>D Group Education</dc:creator>
  <cp:lastModifiedBy>Ranjita Rai</cp:lastModifiedBy>
  <cp:revision>9</cp:revision>
  <dcterms:created xsi:type="dcterms:W3CDTF">2026-07-29T07:10:21Z</dcterms:created>
  <dcterms:modified xsi:type="dcterms:W3CDTF">2026-08-01T16:49:38Z</dcterms:modified>
</cp:coreProperties>
</file>