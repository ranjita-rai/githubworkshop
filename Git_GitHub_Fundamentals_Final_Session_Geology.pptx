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to the final session. Explain that Day 1 and Day 2 gave them Git and GitHub mechanics; today shows why those skills matter for geology and research work. Emphasize the main message: GitHub is a collaboration and project management tool, not only a programming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recap the previous two days. Day 1 focused on individual version control and the GitHub remote workflow. Day 2 focused on collaboration with branches, merge, and pull requests. Tell students that these concepts are now ready to be applied to a geological research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question directly and pause. Explain that many students associate GitHub with programming, but the deeper idea is managing changes, evidence, files, feedback, and teamwork. Those needs exist in geology, GIS, lab work, and research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examples. Connect each one to a real student task: collecting field observations, managing rock sample data, storing maps, writing reports, and working with classmates. Stress that GitHub can be used even when the project contains no complex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sample project that will be used for the rest of the session. Make it concrete: different students go to different field sites, record observations, collect measurements, and later combine everything into a single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 repository is like a well-organized research folder with history. The README introduces the project, data stores measurements, scripts may contain analysis, reports hold writing, and images hold field photos or figures. Students should understand structure before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data does not have to be complicated. Many research datasets start as CSV files. GitHub can track changes to CSV data, who updated the file, and when. Mention that clean column names and consistent formats make research easier to review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documentation is what makes a project understandable to other people. README files and Markdown reports are simple text documents that describe the objective, methods, findings, and conclusion. Good documentation is part of professional scientific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that this session is not a Python class. The point is to show the research workflow: data goes into a script, the script produces a graph or result, and that result goes into a report. GitHub tracks the data, script, figures, and report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roles in a geology project to GitHub workflow. Each student can work on a branch, commit their contribution, open a pull request for review, and merge the final approved work. This reduces confusion and keeps the group project organized.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table to translate Git terminology into research language. A repository stores the research project. A commit records changes. A branch lets one student work without disturbing the main project. A pull request allows review before merging.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checklist for the live demo. Keep the demo slow and simple. Use a small CSV file and README update. Show commit history so students see that GitHub records project evolution, not just final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benefits in a practical way. GitHub helps students organize work, recover earlier versions, collaborate fairly, and show a professional portfolio. For research, version history and documentation support reproducibility.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the final assignment clearly. They should create a repository, add a README, a small geological CSV dataset, a short report, and images if available. Ask them to make meaningful commits rather than one final upload.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workshop by repeating the main message. GitHub is a professional workflow tool. Encourage students to use it in research reports, field survey projects, GIS work, and team assignments. Invite questions and then proceed to the final activity or submission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117"/>
          </a:solidFill>
          <a:ln w="12700">
            <a:solidFill>
              <a:srgbClr val="0D1117"/>
            </a:solidFill>
            <a:prstDash val="solid"/>
          </a:ln>
        </p:spPr>
      </p:sp>
      <p:sp>
        <p:nvSpPr>
          <p:cNvPr id="3" name="Shape 1"/>
          <p:cNvSpPr/>
          <p:nvPr/>
        </p:nvSpPr>
        <p:spPr>
          <a:xfrm>
            <a:off x="0" y="0"/>
            <a:ext cx="12191695" cy="109728"/>
          </a:xfrm>
          <a:prstGeom prst="rect">
            <a:avLst/>
          </a:prstGeom>
          <a:solidFill>
            <a:srgbClr val="2EA043"/>
          </a:solidFill>
          <a:ln w="12700">
            <a:solidFill>
              <a:srgbClr val="2EA043"/>
            </a:solidFill>
            <a:prstDash val="solid"/>
          </a:ln>
        </p:spPr>
      </p:sp>
      <p:sp>
        <p:nvSpPr>
          <p:cNvPr id="4" name="Text 2"/>
          <p:cNvSpPr/>
          <p:nvPr/>
        </p:nvSpPr>
        <p:spPr>
          <a:xfrm>
            <a:off x="9326880" y="347472"/>
            <a:ext cx="2240280" cy="228600"/>
          </a:xfrm>
          <a:prstGeom prst="rect">
            <a:avLst/>
          </a:prstGeom>
          <a:noFill/>
          <a:ln/>
        </p:spPr>
        <p:txBody>
          <a:bodyPr wrap="square" lIns="0" tIns="0" rIns="0" bIns="0" rtlCol="0" anchor="ctr"/>
          <a:lstStyle/>
          <a:p>
            <a:pPr algn="r" indent="0" marL="0">
              <a:buNone/>
            </a:pPr>
            <a:r>
              <a:rPr lang="en-US" sz="800" dirty="0">
                <a:solidFill>
                  <a:srgbClr val="8B949E"/>
                </a:solidFill>
              </a:rPr>
              <a:t>GitHub for Geological Research</a:t>
            </a:r>
            <a:endParaRPr lang="en-US" sz="800" dirty="0"/>
          </a:p>
        </p:txBody>
      </p:sp>
      <p:sp>
        <p:nvSpPr>
          <p:cNvPr id="5" name="Text 3"/>
          <p:cNvSpPr/>
          <p:nvPr/>
        </p:nvSpPr>
        <p:spPr>
          <a:xfrm>
            <a:off x="685800" y="685800"/>
            <a:ext cx="5852160" cy="822960"/>
          </a:xfrm>
          <a:prstGeom prst="rect">
            <a:avLst/>
          </a:prstGeom>
          <a:noFill/>
          <a:ln/>
        </p:spPr>
        <p:txBody>
          <a:bodyPr wrap="square" lIns="0" tIns="0" rIns="0" bIns="0" rtlCol="0" anchor="ctr">
            <a:normAutofit/>
          </a:bodyPr>
          <a:lstStyle/>
          <a:p>
            <a:pPr indent="0" marL="0">
              <a:buNone/>
            </a:pPr>
            <a:r>
              <a:rPr lang="en-US" sz="3600" b="1" dirty="0">
                <a:solidFill>
                  <a:srgbClr val="F0F6FC"/>
                </a:solidFill>
                <a:latin typeface="Aptos Display" pitchFamily="34" charset="0"/>
                <a:ea typeface="Aptos Display" pitchFamily="34" charset="-122"/>
                <a:cs typeface="Aptos Display" pitchFamily="34" charset="-120"/>
              </a:rPr>
              <a:t>Git &amp; GitHub Fundamentals – Final Session</a:t>
            </a:r>
            <a:endParaRPr lang="en-US" sz="3600" dirty="0"/>
          </a:p>
        </p:txBody>
      </p:sp>
      <p:sp>
        <p:nvSpPr>
          <p:cNvPr id="6" name="Text 4"/>
          <p:cNvSpPr/>
          <p:nvPr/>
        </p:nvSpPr>
        <p:spPr>
          <a:xfrm>
            <a:off x="713232" y="1572768"/>
            <a:ext cx="5486400" cy="365760"/>
          </a:xfrm>
          <a:prstGeom prst="rect">
            <a:avLst/>
          </a:prstGeom>
          <a:noFill/>
          <a:ln/>
        </p:spPr>
        <p:txBody>
          <a:bodyPr wrap="square" lIns="0" tIns="0" rIns="0" bIns="0" rtlCol="0" anchor="ctr">
            <a:normAutofit/>
          </a:bodyPr>
          <a:lstStyle/>
          <a:p>
            <a:pPr indent="0" marL="0">
              <a:buNone/>
            </a:pPr>
            <a:r>
              <a:rPr lang="en-US" sz="1700" dirty="0">
                <a:solidFill>
                  <a:srgbClr val="E6EDF3"/>
                </a:solidFill>
              </a:rPr>
              <a:t>Applying Version Control in Geological Research</a:t>
            </a:r>
            <a:endParaRPr lang="en-US" sz="1700" dirty="0"/>
          </a:p>
        </p:txBody>
      </p:sp>
      <p:pic>
        <p:nvPicPr>
          <p:cNvPr id="7" name="Image 0" descr="/mnt/data/geology_team.jpg">    </p:cNvPr>
          <p:cNvPicPr>
            <a:picLocks noChangeAspect="1"/>
          </p:cNvPicPr>
          <p:nvPr/>
        </p:nvPicPr>
        <p:blipFill>
          <a:blip r:embed="rId1"/>
          <a:srcRect l="18889" r="18889" t="0" b="0"/>
          <a:stretch/>
        </p:blipFill>
        <p:spPr>
          <a:xfrm>
            <a:off x="7086600" y="777240"/>
            <a:ext cx="4480560" cy="4800600"/>
          </a:xfrm>
          <a:prstGeom prst="rect">
            <a:avLst/>
          </a:prstGeom>
        </p:spPr>
      </p:pic>
      <p:pic>
        <p:nvPicPr>
          <p:cNvPr id="8" name="Image 1" descr="/mnt/data/github_mark.png">    </p:cNvPr>
          <p:cNvPicPr>
            <a:picLocks noChangeAspect="1"/>
          </p:cNvPicPr>
          <p:nvPr/>
        </p:nvPicPr>
        <p:blipFill>
          <a:blip r:embed="rId2"/>
          <a:stretch>
            <a:fillRect/>
          </a:stretch>
        </p:blipFill>
        <p:spPr>
          <a:xfrm>
            <a:off x="914400" y="4297680"/>
            <a:ext cx="914400" cy="914400"/>
          </a:xfrm>
          <a:prstGeom prst="rect">
            <a:avLst/>
          </a:prstGeom>
        </p:spPr>
      </p:pic>
      <p:sp>
        <p:nvSpPr>
          <p:cNvPr id="9" name="Shape 5"/>
          <p:cNvSpPr/>
          <p:nvPr/>
        </p:nvSpPr>
        <p:spPr>
          <a:xfrm>
            <a:off x="731520" y="2148840"/>
            <a:ext cx="1554480" cy="420624"/>
          </a:xfrm>
          <a:prstGeom prst="roundRect">
            <a:avLst>
              <a:gd name="adj" fmla="val 26087"/>
            </a:avLst>
          </a:prstGeom>
          <a:solidFill>
            <a:srgbClr val="2F81F7"/>
          </a:solidFill>
          <a:ln w="12700">
            <a:solidFill>
              <a:srgbClr val="2F81F7"/>
            </a:solidFill>
            <a:prstDash val="solid"/>
          </a:ln>
        </p:spPr>
      </p:sp>
      <p:sp>
        <p:nvSpPr>
          <p:cNvPr id="10" name="Text 6"/>
          <p:cNvSpPr/>
          <p:nvPr/>
        </p:nvSpPr>
        <p:spPr>
          <a:xfrm>
            <a:off x="822960" y="2258568"/>
            <a:ext cx="1371600" cy="164592"/>
          </a:xfrm>
          <a:prstGeom prst="rect">
            <a:avLst/>
          </a:prstGeom>
          <a:noFill/>
          <a:ln/>
        </p:spPr>
        <p:txBody>
          <a:bodyPr wrap="square" lIns="0" tIns="0" rIns="0" bIns="0" rtlCol="0" anchor="ctr"/>
          <a:lstStyle/>
          <a:p>
            <a:pPr algn="ctr" indent="0" marL="0">
              <a:buNone/>
            </a:pPr>
            <a:r>
              <a:rPr lang="en-US" sz="1000" b="1" dirty="0">
                <a:solidFill>
                  <a:srgbClr val="FFFFFF"/>
                </a:solidFill>
              </a:rPr>
              <a:t>FINAL SESSION</a:t>
            </a:r>
            <a:endParaRPr lang="en-US" sz="1000" dirty="0"/>
          </a:p>
        </p:txBody>
      </p:sp>
      <p:sp>
        <p:nvSpPr>
          <p:cNvPr id="11" name="Shape 7"/>
          <p:cNvSpPr/>
          <p:nvPr/>
        </p:nvSpPr>
        <p:spPr>
          <a:xfrm>
            <a:off x="2468880" y="2148840"/>
            <a:ext cx="2286000" cy="420624"/>
          </a:xfrm>
          <a:prstGeom prst="roundRect">
            <a:avLst>
              <a:gd name="adj" fmla="val 26087"/>
            </a:avLst>
          </a:prstGeom>
          <a:solidFill>
            <a:srgbClr val="8B5E34"/>
          </a:solidFill>
          <a:ln w="12700">
            <a:solidFill>
              <a:srgbClr val="8B5E34"/>
            </a:solidFill>
            <a:prstDash val="solid"/>
          </a:ln>
        </p:spPr>
      </p:sp>
      <p:sp>
        <p:nvSpPr>
          <p:cNvPr id="12" name="Text 8"/>
          <p:cNvSpPr/>
          <p:nvPr/>
        </p:nvSpPr>
        <p:spPr>
          <a:xfrm>
            <a:off x="2560320" y="2258568"/>
            <a:ext cx="2103120" cy="164592"/>
          </a:xfrm>
          <a:prstGeom prst="rect">
            <a:avLst/>
          </a:prstGeom>
          <a:noFill/>
          <a:ln/>
        </p:spPr>
        <p:txBody>
          <a:bodyPr wrap="square" lIns="0" tIns="0" rIns="0" bIns="0" rtlCol="0" anchor="ctr"/>
          <a:lstStyle/>
          <a:p>
            <a:pPr algn="ctr" indent="0" marL="0">
              <a:buNone/>
            </a:pPr>
            <a:r>
              <a:rPr lang="en-US" sz="1000" b="1" dirty="0">
                <a:solidFill>
                  <a:srgbClr val="FFFFFF"/>
                </a:solidFill>
              </a:rPr>
              <a:t>GEOLOGY + COLLABORATION</a:t>
            </a:r>
            <a:endParaRPr lang="en-US" sz="1000" dirty="0"/>
          </a:p>
        </p:txBody>
      </p:sp>
      <p:sp>
        <p:nvSpPr>
          <p:cNvPr id="13" name="Text 9"/>
          <p:cNvSpPr/>
          <p:nvPr/>
        </p:nvSpPr>
        <p:spPr>
          <a:xfrm>
            <a:off x="731520" y="2788920"/>
            <a:ext cx="5303520" cy="640080"/>
          </a:xfrm>
          <a:prstGeom prst="rect">
            <a:avLst/>
          </a:prstGeom>
          <a:noFill/>
          <a:ln/>
        </p:spPr>
        <p:txBody>
          <a:bodyPr wrap="square" lIns="0" tIns="0" rIns="0" bIns="0" rtlCol="0" anchor="ctr"/>
          <a:lstStyle/>
          <a:p>
            <a:pPr indent="0" marL="0">
              <a:buNone/>
            </a:pPr>
            <a:r>
              <a:rPr lang="en-US" sz="2200" b="1" dirty="0">
                <a:solidFill>
                  <a:srgbClr val="E6EDF3"/>
                </a:solidFill>
              </a:rPr>
              <a:t>Today we connect GitHub concepts with a real-world geology project.</a:t>
            </a:r>
            <a:endParaRPr lang="en-US" sz="2200" dirty="0"/>
          </a:p>
        </p:txBody>
      </p:sp>
      <p:sp>
        <p:nvSpPr>
          <p:cNvPr id="14" name="Text 10"/>
          <p:cNvSpPr/>
          <p:nvPr/>
        </p:nvSpPr>
        <p:spPr>
          <a:xfrm>
            <a:off x="11292840" y="6464808"/>
            <a:ext cx="411480" cy="164592"/>
          </a:xfrm>
          <a:prstGeom prst="rect">
            <a:avLst/>
          </a:prstGeom>
          <a:noFill/>
          <a:ln/>
        </p:spPr>
        <p:txBody>
          <a:bodyPr wrap="square" lIns="0" tIns="0" rIns="0" bIns="0" rtlCol="0" anchor="ctr"/>
          <a:lstStyle/>
          <a:p>
            <a:pPr indent="0" marL="0">
              <a:buNone/>
            </a:pPr>
            <a:r>
              <a:rPr lang="en-US" sz="800" dirty="0">
                <a:solidFill>
                  <a:srgbClr val="8B949E"/>
                </a:solidFill>
              </a:rPr>
              <a:t>1/15</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117"/>
          </a:solidFill>
          <a:ln w="12700">
            <a:solidFill>
              <a:srgbClr val="0D1117"/>
            </a:solidFill>
            <a:prstDash val="solid"/>
          </a:ln>
        </p:spPr>
      </p:sp>
      <p:sp>
        <p:nvSpPr>
          <p:cNvPr id="3" name="Shape 1"/>
          <p:cNvSpPr/>
          <p:nvPr/>
        </p:nvSpPr>
        <p:spPr>
          <a:xfrm>
            <a:off x="0" y="0"/>
            <a:ext cx="12191695" cy="109728"/>
          </a:xfrm>
          <a:prstGeom prst="rect">
            <a:avLst/>
          </a:prstGeom>
          <a:solidFill>
            <a:srgbClr val="2EA043"/>
          </a:solidFill>
          <a:ln w="12700">
            <a:solidFill>
              <a:srgbClr val="2EA043"/>
            </a:solidFill>
            <a:prstDash val="solid"/>
          </a:ln>
        </p:spPr>
      </p:sp>
      <p:sp>
        <p:nvSpPr>
          <p:cNvPr id="4" name="Text 2"/>
          <p:cNvSpPr/>
          <p:nvPr/>
        </p:nvSpPr>
        <p:spPr>
          <a:xfrm>
            <a:off x="502920" y="292608"/>
            <a:ext cx="7772400" cy="438912"/>
          </a:xfrm>
          <a:prstGeom prst="rect">
            <a:avLst/>
          </a:prstGeom>
          <a:noFill/>
          <a:ln/>
        </p:spPr>
        <p:txBody>
          <a:bodyPr wrap="square" lIns="0" tIns="0" rIns="0" bIns="0" rtlCol="0" anchor="ctr"/>
          <a:lstStyle/>
          <a:p>
            <a:pPr indent="0" marL="0">
              <a:buNone/>
            </a:pPr>
            <a:r>
              <a:rPr lang="en-US" sz="2600" b="1" dirty="0">
                <a:solidFill>
                  <a:srgbClr val="F0F6FC"/>
                </a:solidFill>
                <a:latin typeface="Aptos Display" pitchFamily="34" charset="0"/>
                <a:ea typeface="Aptos Display" pitchFamily="34" charset="-122"/>
                <a:cs typeface="Aptos Display" pitchFamily="34" charset="-120"/>
              </a:rPr>
              <a:t>What We Learned So Far</a:t>
            </a:r>
            <a:endParaRPr lang="en-US" sz="2600" dirty="0"/>
          </a:p>
        </p:txBody>
      </p:sp>
      <p:sp>
        <p:nvSpPr>
          <p:cNvPr id="5" name="Text 3"/>
          <p:cNvSpPr/>
          <p:nvPr/>
        </p:nvSpPr>
        <p:spPr>
          <a:xfrm>
            <a:off x="9326880" y="347472"/>
            <a:ext cx="2240280" cy="228600"/>
          </a:xfrm>
          <a:prstGeom prst="rect">
            <a:avLst/>
          </a:prstGeom>
          <a:noFill/>
          <a:ln/>
        </p:spPr>
        <p:txBody>
          <a:bodyPr wrap="square" lIns="0" tIns="0" rIns="0" bIns="0" rtlCol="0" anchor="ctr"/>
          <a:lstStyle/>
          <a:p>
            <a:pPr algn="r" indent="0" marL="0">
              <a:buNone/>
            </a:pPr>
            <a:r>
              <a:rPr lang="en-US" sz="800" dirty="0">
                <a:solidFill>
                  <a:srgbClr val="8B949E"/>
                </a:solidFill>
              </a:rPr>
              <a:t>GitHub for Geological Research</a:t>
            </a:r>
            <a:endParaRPr lang="en-US" sz="800" dirty="0"/>
          </a:p>
        </p:txBody>
      </p:sp>
      <p:sp>
        <p:nvSpPr>
          <p:cNvPr id="6" name="Shape 4"/>
          <p:cNvSpPr/>
          <p:nvPr/>
        </p:nvSpPr>
        <p:spPr>
          <a:xfrm>
            <a:off x="1371600" y="2971800"/>
            <a:ext cx="9418320" cy="0"/>
          </a:xfrm>
          <a:prstGeom prst="line">
            <a:avLst/>
          </a:prstGeom>
          <a:noFill/>
          <a:ln w="38100">
            <a:solidFill>
              <a:srgbClr val="30363D"/>
            </a:solidFill>
            <a:prstDash val="solid"/>
          </a:ln>
        </p:spPr>
      </p:sp>
      <p:sp>
        <p:nvSpPr>
          <p:cNvPr id="7" name="Shape 5"/>
          <p:cNvSpPr/>
          <p:nvPr/>
        </p:nvSpPr>
        <p:spPr>
          <a:xfrm>
            <a:off x="1737360" y="2148840"/>
            <a:ext cx="1188720" cy="1188720"/>
          </a:xfrm>
          <a:prstGeom prst="ellipse">
            <a:avLst/>
          </a:prstGeom>
          <a:solidFill>
            <a:srgbClr val="2EA043"/>
          </a:solidFill>
          <a:ln w="12700">
            <a:solidFill>
              <a:srgbClr val="2EA043"/>
            </a:solidFill>
            <a:prstDash val="solid"/>
          </a:ln>
        </p:spPr>
      </p:sp>
      <p:sp>
        <p:nvSpPr>
          <p:cNvPr id="8" name="Text 6"/>
          <p:cNvSpPr/>
          <p:nvPr/>
        </p:nvSpPr>
        <p:spPr>
          <a:xfrm>
            <a:off x="2048256" y="2450592"/>
            <a:ext cx="365760" cy="182880"/>
          </a:xfrm>
          <a:prstGeom prst="rect">
            <a:avLst/>
          </a:prstGeom>
          <a:noFill/>
          <a:ln/>
        </p:spPr>
        <p:txBody>
          <a:bodyPr wrap="square" lIns="0" tIns="0" rIns="0" bIns="0" rtlCol="0" anchor="ctr"/>
          <a:lstStyle/>
          <a:p>
            <a:pPr indent="0" marL="0">
              <a:buNone/>
            </a:pPr>
            <a:r>
              <a:rPr lang="en-US" sz="2000" b="1" dirty="0">
                <a:solidFill>
                  <a:srgbClr val="FFFFFF"/>
                </a:solidFill>
              </a:rPr>
              <a:t>①</a:t>
            </a:r>
            <a:endParaRPr lang="en-US" sz="2000" dirty="0"/>
          </a:p>
        </p:txBody>
      </p:sp>
      <p:sp>
        <p:nvSpPr>
          <p:cNvPr id="9" name="Text 7"/>
          <p:cNvSpPr/>
          <p:nvPr/>
        </p:nvSpPr>
        <p:spPr>
          <a:xfrm>
            <a:off x="1097280" y="1600200"/>
            <a:ext cx="2560320" cy="274320"/>
          </a:xfrm>
          <a:prstGeom prst="rect">
            <a:avLst/>
          </a:prstGeom>
          <a:noFill/>
          <a:ln/>
        </p:spPr>
        <p:txBody>
          <a:bodyPr wrap="square" lIns="0" tIns="0" rIns="0" bIns="0" rtlCol="0" anchor="ctr"/>
          <a:lstStyle/>
          <a:p>
            <a:pPr algn="ctr" indent="0" marL="0">
              <a:buNone/>
            </a:pPr>
            <a:r>
              <a:rPr lang="en-US" sz="2200" b="1" dirty="0">
                <a:solidFill>
                  <a:srgbClr val="F0F6FC"/>
                </a:solidFill>
              </a:rPr>
              <a:t>Git</a:t>
            </a:r>
            <a:endParaRPr lang="en-US" sz="2200" dirty="0"/>
          </a:p>
        </p:txBody>
      </p:sp>
      <p:sp>
        <p:nvSpPr>
          <p:cNvPr id="10" name="Text 8"/>
          <p:cNvSpPr/>
          <p:nvPr/>
        </p:nvSpPr>
        <p:spPr>
          <a:xfrm>
            <a:off x="1188720" y="3657600"/>
            <a:ext cx="2377440" cy="914400"/>
          </a:xfrm>
          <a:prstGeom prst="rect">
            <a:avLst/>
          </a:prstGeom>
          <a:noFill/>
          <a:ln/>
        </p:spPr>
        <p:txBody>
          <a:bodyPr wrap="square" lIns="0" tIns="0" rIns="0" bIns="0" rtlCol="0" anchor="ctr">
            <a:normAutofit/>
          </a:bodyPr>
          <a:lstStyle/>
          <a:p>
            <a:pPr algn="ctr" indent="0" marL="0">
              <a:buNone/>
            </a:pPr>
            <a:r>
              <a:rPr lang="en-US" sz="1500" dirty="0">
                <a:solidFill>
                  <a:srgbClr val="E6EDF3"/>
                </a:solidFill>
              </a:rPr>
              <a:t>Version Control</a:t>
            </a:r>
            <a:endParaRPr lang="en-US" sz="1500" dirty="0"/>
          </a:p>
          <a:p>
            <a:pPr algn="ctr" indent="0" marL="0">
              <a:buNone/>
            </a:pPr>
            <a:r>
              <a:rPr lang="en-US" sz="1500" dirty="0">
                <a:solidFill>
                  <a:srgbClr val="E6EDF3"/>
                </a:solidFill>
              </a:rPr>
              <a:t>Tracking Changes</a:t>
            </a:r>
            <a:endParaRPr lang="en-US" sz="1500" dirty="0"/>
          </a:p>
          <a:p>
            <a:pPr algn="ctr" indent="0" marL="0">
              <a:buNone/>
            </a:pPr>
            <a:r>
              <a:rPr lang="en-US" sz="1500" dirty="0">
                <a:solidFill>
                  <a:srgbClr val="E6EDF3"/>
                </a:solidFill>
              </a:rPr>
              <a:t>Commits</a:t>
            </a:r>
            <a:endParaRPr lang="en-US" sz="1500" dirty="0"/>
          </a:p>
        </p:txBody>
      </p:sp>
      <p:sp>
        <p:nvSpPr>
          <p:cNvPr id="11" name="Shape 9"/>
          <p:cNvSpPr/>
          <p:nvPr/>
        </p:nvSpPr>
        <p:spPr>
          <a:xfrm>
            <a:off x="5532120" y="2148840"/>
            <a:ext cx="1188720" cy="1188720"/>
          </a:xfrm>
          <a:prstGeom prst="ellipse">
            <a:avLst/>
          </a:prstGeom>
          <a:solidFill>
            <a:srgbClr val="2F81F7"/>
          </a:solidFill>
          <a:ln w="12700">
            <a:solidFill>
              <a:srgbClr val="2F81F7"/>
            </a:solidFill>
            <a:prstDash val="solid"/>
          </a:ln>
        </p:spPr>
      </p:sp>
      <p:sp>
        <p:nvSpPr>
          <p:cNvPr id="12" name="Text 10"/>
          <p:cNvSpPr/>
          <p:nvPr/>
        </p:nvSpPr>
        <p:spPr>
          <a:xfrm>
            <a:off x="5843016" y="2450592"/>
            <a:ext cx="365760" cy="182880"/>
          </a:xfrm>
          <a:prstGeom prst="rect">
            <a:avLst/>
          </a:prstGeom>
          <a:noFill/>
          <a:ln/>
        </p:spPr>
        <p:txBody>
          <a:bodyPr wrap="square" lIns="0" tIns="0" rIns="0" bIns="0" rtlCol="0" anchor="ctr"/>
          <a:lstStyle/>
          <a:p>
            <a:pPr indent="0" marL="0">
              <a:buNone/>
            </a:pPr>
            <a:r>
              <a:rPr lang="en-US" sz="2000" b="1" dirty="0">
                <a:solidFill>
                  <a:srgbClr val="FFFFFF"/>
                </a:solidFill>
              </a:rPr>
              <a:t>②</a:t>
            </a:r>
            <a:endParaRPr lang="en-US" sz="2000" dirty="0"/>
          </a:p>
        </p:txBody>
      </p:sp>
      <p:sp>
        <p:nvSpPr>
          <p:cNvPr id="13" name="Text 11"/>
          <p:cNvSpPr/>
          <p:nvPr/>
        </p:nvSpPr>
        <p:spPr>
          <a:xfrm>
            <a:off x="4892040" y="1600200"/>
            <a:ext cx="2560320" cy="274320"/>
          </a:xfrm>
          <a:prstGeom prst="rect">
            <a:avLst/>
          </a:prstGeom>
          <a:noFill/>
          <a:ln/>
        </p:spPr>
        <p:txBody>
          <a:bodyPr wrap="square" lIns="0" tIns="0" rIns="0" bIns="0" rtlCol="0" anchor="ctr"/>
          <a:lstStyle/>
          <a:p>
            <a:pPr algn="ctr" indent="0" marL="0">
              <a:buNone/>
            </a:pPr>
            <a:r>
              <a:rPr lang="en-US" sz="2200" b="1" dirty="0">
                <a:solidFill>
                  <a:srgbClr val="F0F6FC"/>
                </a:solidFill>
              </a:rPr>
              <a:t>GitHub</a:t>
            </a:r>
            <a:endParaRPr lang="en-US" sz="2200" dirty="0"/>
          </a:p>
        </p:txBody>
      </p:sp>
      <p:sp>
        <p:nvSpPr>
          <p:cNvPr id="14" name="Text 12"/>
          <p:cNvSpPr/>
          <p:nvPr/>
        </p:nvSpPr>
        <p:spPr>
          <a:xfrm>
            <a:off x="4983480" y="3657600"/>
            <a:ext cx="2377440" cy="914400"/>
          </a:xfrm>
          <a:prstGeom prst="rect">
            <a:avLst/>
          </a:prstGeom>
          <a:noFill/>
          <a:ln/>
        </p:spPr>
        <p:txBody>
          <a:bodyPr wrap="square" lIns="0" tIns="0" rIns="0" bIns="0" rtlCol="0" anchor="ctr">
            <a:normAutofit/>
          </a:bodyPr>
          <a:lstStyle/>
          <a:p>
            <a:pPr algn="ctr" indent="0" marL="0">
              <a:buNone/>
            </a:pPr>
            <a:r>
              <a:rPr lang="en-US" sz="1500" dirty="0">
                <a:solidFill>
                  <a:srgbClr val="E6EDF3"/>
                </a:solidFill>
              </a:rPr>
              <a:t>Repository</a:t>
            </a:r>
            <a:endParaRPr lang="en-US" sz="1500" dirty="0"/>
          </a:p>
          <a:p>
            <a:pPr algn="ctr" indent="0" marL="0">
              <a:buNone/>
            </a:pPr>
            <a:r>
              <a:rPr lang="en-US" sz="1500" dirty="0">
                <a:solidFill>
                  <a:srgbClr val="E6EDF3"/>
                </a:solidFill>
              </a:rPr>
              <a:t>Remote Collaboration</a:t>
            </a:r>
            <a:endParaRPr lang="en-US" sz="1500" dirty="0"/>
          </a:p>
          <a:p>
            <a:pPr algn="ctr" indent="0" marL="0">
              <a:buNone/>
            </a:pPr>
            <a:r>
              <a:rPr lang="en-US" sz="1500" dirty="0">
                <a:solidFill>
                  <a:srgbClr val="E6EDF3"/>
                </a:solidFill>
              </a:rPr>
              <a:t>Sharing Projects</a:t>
            </a:r>
            <a:endParaRPr lang="en-US" sz="1500" dirty="0"/>
          </a:p>
        </p:txBody>
      </p:sp>
      <p:sp>
        <p:nvSpPr>
          <p:cNvPr id="15" name="Shape 13"/>
          <p:cNvSpPr/>
          <p:nvPr/>
        </p:nvSpPr>
        <p:spPr>
          <a:xfrm>
            <a:off x="9326880" y="2148840"/>
            <a:ext cx="1188720" cy="1188720"/>
          </a:xfrm>
          <a:prstGeom prst="ellipse">
            <a:avLst/>
          </a:prstGeom>
          <a:solidFill>
            <a:srgbClr val="8B5E34"/>
          </a:solidFill>
          <a:ln w="12700">
            <a:solidFill>
              <a:srgbClr val="8B5E34"/>
            </a:solidFill>
            <a:prstDash val="solid"/>
          </a:ln>
        </p:spPr>
      </p:sp>
      <p:sp>
        <p:nvSpPr>
          <p:cNvPr id="16" name="Text 14"/>
          <p:cNvSpPr/>
          <p:nvPr/>
        </p:nvSpPr>
        <p:spPr>
          <a:xfrm>
            <a:off x="9637776" y="2450592"/>
            <a:ext cx="365760" cy="182880"/>
          </a:xfrm>
          <a:prstGeom prst="rect">
            <a:avLst/>
          </a:prstGeom>
          <a:noFill/>
          <a:ln/>
        </p:spPr>
        <p:txBody>
          <a:bodyPr wrap="square" lIns="0" tIns="0" rIns="0" bIns="0" rtlCol="0" anchor="ctr"/>
          <a:lstStyle/>
          <a:p>
            <a:pPr indent="0" marL="0">
              <a:buNone/>
            </a:pPr>
            <a:r>
              <a:rPr lang="en-US" sz="2000" b="1" dirty="0">
                <a:solidFill>
                  <a:srgbClr val="FFFFFF"/>
                </a:solidFill>
              </a:rPr>
              <a:t>③</a:t>
            </a:r>
            <a:endParaRPr lang="en-US" sz="2000" dirty="0"/>
          </a:p>
        </p:txBody>
      </p:sp>
      <p:sp>
        <p:nvSpPr>
          <p:cNvPr id="17" name="Text 15"/>
          <p:cNvSpPr/>
          <p:nvPr/>
        </p:nvSpPr>
        <p:spPr>
          <a:xfrm>
            <a:off x="8686800" y="1600200"/>
            <a:ext cx="2560320" cy="274320"/>
          </a:xfrm>
          <a:prstGeom prst="rect">
            <a:avLst/>
          </a:prstGeom>
          <a:noFill/>
          <a:ln/>
        </p:spPr>
        <p:txBody>
          <a:bodyPr wrap="square" lIns="0" tIns="0" rIns="0" bIns="0" rtlCol="0" anchor="ctr"/>
          <a:lstStyle/>
          <a:p>
            <a:pPr algn="ctr" indent="0" marL="0">
              <a:buNone/>
            </a:pPr>
            <a:r>
              <a:rPr lang="en-US" sz="2200" b="1" dirty="0">
                <a:solidFill>
                  <a:srgbClr val="F0F6FC"/>
                </a:solidFill>
              </a:rPr>
              <a:t>Team Workflow</a:t>
            </a:r>
            <a:endParaRPr lang="en-US" sz="2200" dirty="0"/>
          </a:p>
        </p:txBody>
      </p:sp>
      <p:sp>
        <p:nvSpPr>
          <p:cNvPr id="18" name="Text 16"/>
          <p:cNvSpPr/>
          <p:nvPr/>
        </p:nvSpPr>
        <p:spPr>
          <a:xfrm>
            <a:off x="8778240" y="3657600"/>
            <a:ext cx="2377440" cy="914400"/>
          </a:xfrm>
          <a:prstGeom prst="rect">
            <a:avLst/>
          </a:prstGeom>
          <a:noFill/>
          <a:ln/>
        </p:spPr>
        <p:txBody>
          <a:bodyPr wrap="square" lIns="0" tIns="0" rIns="0" bIns="0" rtlCol="0" anchor="ctr">
            <a:normAutofit/>
          </a:bodyPr>
          <a:lstStyle/>
          <a:p>
            <a:pPr algn="ctr" indent="0" marL="0">
              <a:buNone/>
            </a:pPr>
            <a:r>
              <a:rPr lang="en-US" sz="1500" dirty="0">
                <a:solidFill>
                  <a:srgbClr val="E6EDF3"/>
                </a:solidFill>
              </a:rPr>
              <a:t>Branches</a:t>
            </a:r>
            <a:endParaRPr lang="en-US" sz="1500" dirty="0"/>
          </a:p>
          <a:p>
            <a:pPr algn="ctr" indent="0" marL="0">
              <a:buNone/>
            </a:pPr>
            <a:r>
              <a:rPr lang="en-US" sz="1500" dirty="0">
                <a:solidFill>
                  <a:srgbClr val="E6EDF3"/>
                </a:solidFill>
              </a:rPr>
              <a:t>Merge</a:t>
            </a:r>
            <a:endParaRPr lang="en-US" sz="1500" dirty="0"/>
          </a:p>
          <a:p>
            <a:pPr algn="ctr" indent="0" marL="0">
              <a:buNone/>
            </a:pPr>
            <a:r>
              <a:rPr lang="en-US" sz="1500" dirty="0">
                <a:solidFill>
                  <a:srgbClr val="E6EDF3"/>
                </a:solidFill>
              </a:rPr>
              <a:t>Pull Requests</a:t>
            </a:r>
            <a:endParaRPr lang="en-US" sz="1500" dirty="0"/>
          </a:p>
        </p:txBody>
      </p:sp>
      <p:sp>
        <p:nvSpPr>
          <p:cNvPr id="19" name="Text 17"/>
          <p:cNvSpPr/>
          <p:nvPr/>
        </p:nvSpPr>
        <p:spPr>
          <a:xfrm>
            <a:off x="11292840" y="6464808"/>
            <a:ext cx="411480" cy="164592"/>
          </a:xfrm>
          <a:prstGeom prst="rect">
            <a:avLst/>
          </a:prstGeom>
          <a:noFill/>
          <a:ln/>
        </p:spPr>
        <p:txBody>
          <a:bodyPr wrap="square" lIns="0" tIns="0" rIns="0" bIns="0" rtlCol="0" anchor="ctr"/>
          <a:lstStyle/>
          <a:p>
            <a:pPr indent="0" marL="0">
              <a:buNone/>
            </a:pPr>
            <a:r>
              <a:rPr lang="en-US" sz="800" dirty="0">
                <a:solidFill>
                  <a:srgbClr val="8B949E"/>
                </a:solidFill>
              </a:rPr>
              <a:t>2/15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117"/>
          </a:solidFill>
          <a:ln w="12700">
            <a:solidFill>
              <a:srgbClr val="0D1117"/>
            </a:solidFill>
            <a:prstDash val="solid"/>
          </a:ln>
        </p:spPr>
      </p:sp>
      <p:sp>
        <p:nvSpPr>
          <p:cNvPr id="3" name="Shape 1"/>
          <p:cNvSpPr/>
          <p:nvPr/>
        </p:nvSpPr>
        <p:spPr>
          <a:xfrm>
            <a:off x="0" y="0"/>
            <a:ext cx="12191695" cy="109728"/>
          </a:xfrm>
          <a:prstGeom prst="rect">
            <a:avLst/>
          </a:prstGeom>
          <a:solidFill>
            <a:srgbClr val="2EA043"/>
          </a:solidFill>
          <a:ln w="12700">
            <a:solidFill>
              <a:srgbClr val="2EA043"/>
            </a:solidFill>
            <a:prstDash val="solid"/>
          </a:ln>
        </p:spPr>
      </p:sp>
      <p:sp>
        <p:nvSpPr>
          <p:cNvPr id="4" name="Text 2"/>
          <p:cNvSpPr/>
          <p:nvPr/>
        </p:nvSpPr>
        <p:spPr>
          <a:xfrm>
            <a:off x="502920" y="292608"/>
            <a:ext cx="7772400" cy="438912"/>
          </a:xfrm>
          <a:prstGeom prst="rect">
            <a:avLst/>
          </a:prstGeom>
          <a:noFill/>
          <a:ln/>
        </p:spPr>
        <p:txBody>
          <a:bodyPr wrap="square" lIns="0" tIns="0" rIns="0" bIns="0" rtlCol="0" anchor="ctr"/>
          <a:lstStyle/>
          <a:p>
            <a:pPr indent="0" marL="0">
              <a:buNone/>
            </a:pPr>
            <a:r>
              <a:rPr lang="en-US" sz="2600" b="1" dirty="0">
                <a:solidFill>
                  <a:srgbClr val="F0F6FC"/>
                </a:solidFill>
                <a:latin typeface="Aptos Display" pitchFamily="34" charset="0"/>
                <a:ea typeface="Aptos Display" pitchFamily="34" charset="-122"/>
                <a:cs typeface="Aptos Display" pitchFamily="34" charset="-120"/>
              </a:rPr>
              <a:t>The Big Question</a:t>
            </a:r>
            <a:endParaRPr lang="en-US" sz="2600" dirty="0"/>
          </a:p>
        </p:txBody>
      </p:sp>
      <p:sp>
        <p:nvSpPr>
          <p:cNvPr id="5" name="Text 3"/>
          <p:cNvSpPr/>
          <p:nvPr/>
        </p:nvSpPr>
        <p:spPr>
          <a:xfrm>
            <a:off x="9326880" y="347472"/>
            <a:ext cx="2240280" cy="228600"/>
          </a:xfrm>
          <a:prstGeom prst="rect">
            <a:avLst/>
          </a:prstGeom>
          <a:noFill/>
          <a:ln/>
        </p:spPr>
        <p:txBody>
          <a:bodyPr wrap="square" lIns="0" tIns="0" rIns="0" bIns="0" rtlCol="0" anchor="ctr"/>
          <a:lstStyle/>
          <a:p>
            <a:pPr algn="r" indent="0" marL="0">
              <a:buNone/>
            </a:pPr>
            <a:r>
              <a:rPr lang="en-US" sz="800" dirty="0">
                <a:solidFill>
                  <a:srgbClr val="8B949E"/>
                </a:solidFill>
              </a:rPr>
              <a:t>GitHub for Geological Research</a:t>
            </a:r>
            <a:endParaRPr lang="en-US" sz="800" dirty="0"/>
          </a:p>
        </p:txBody>
      </p:sp>
      <p:sp>
        <p:nvSpPr>
          <p:cNvPr id="6" name="Text 4"/>
          <p:cNvSpPr/>
          <p:nvPr/>
        </p:nvSpPr>
        <p:spPr>
          <a:xfrm>
            <a:off x="822960" y="1234440"/>
            <a:ext cx="6492240" cy="1280160"/>
          </a:xfrm>
          <a:prstGeom prst="rect">
            <a:avLst/>
          </a:prstGeom>
          <a:noFill/>
          <a:ln/>
        </p:spPr>
        <p:txBody>
          <a:bodyPr wrap="square" lIns="0" tIns="0" rIns="0" bIns="0" rtlCol="0" anchor="ctr">
            <a:normAutofit/>
          </a:bodyPr>
          <a:lstStyle/>
          <a:p>
            <a:pPr indent="0" marL="0">
              <a:buNone/>
            </a:pPr>
            <a:r>
              <a:rPr lang="en-US" sz="3700" b="1" dirty="0">
                <a:solidFill>
                  <a:srgbClr val="F0F6FC"/>
                </a:solidFill>
              </a:rPr>
              <a:t>“Why should a Geology student learn GitHub?”</a:t>
            </a:r>
            <a:endParaRPr lang="en-US" sz="3700" dirty="0"/>
          </a:p>
        </p:txBody>
      </p:sp>
      <p:sp>
        <p:nvSpPr>
          <p:cNvPr id="7" name="Text 5"/>
          <p:cNvSpPr/>
          <p:nvPr/>
        </p:nvSpPr>
        <p:spPr>
          <a:xfrm>
            <a:off x="868680" y="2880360"/>
            <a:ext cx="5669280" cy="822960"/>
          </a:xfrm>
          <a:prstGeom prst="rect">
            <a:avLst/>
          </a:prstGeom>
          <a:noFill/>
          <a:ln/>
        </p:spPr>
        <p:txBody>
          <a:bodyPr wrap="square" lIns="0" tIns="0" rIns="0" bIns="0" rtlCol="0" anchor="ctr"/>
          <a:lstStyle/>
          <a:p>
            <a:pPr indent="0" marL="0">
              <a:buNone/>
            </a:pPr>
            <a:r>
              <a:rPr lang="en-US" sz="2000" dirty="0">
                <a:solidFill>
                  <a:srgbClr val="E6EDF3"/>
                </a:solidFill>
              </a:rPr>
              <a:t>GitHub is not only for programmers. Researchers, scientists, GIS professionals, and engineers use similar workflows.</a:t>
            </a:r>
            <a:endParaRPr lang="en-US" sz="2000" dirty="0"/>
          </a:p>
        </p:txBody>
      </p:sp>
      <p:pic>
        <p:nvPicPr>
          <p:cNvPr id="8" name="Image 0" descr="/mnt/data/geology_field.jpg">    </p:cNvPr>
          <p:cNvPicPr>
            <a:picLocks noChangeAspect="1"/>
          </p:cNvPicPr>
          <p:nvPr/>
        </p:nvPicPr>
        <p:blipFill>
          <a:blip r:embed="rId1"/>
          <a:srcRect l="0" r="0" t="2273" b="2273"/>
          <a:stretch/>
        </p:blipFill>
        <p:spPr>
          <a:xfrm>
            <a:off x="7635240" y="960120"/>
            <a:ext cx="3520440" cy="4480560"/>
          </a:xfrm>
          <a:prstGeom prst="rect">
            <a:avLst/>
          </a:prstGeom>
        </p:spPr>
      </p:pic>
      <p:sp>
        <p:nvSpPr>
          <p:cNvPr id="9" name="Shape 6"/>
          <p:cNvSpPr/>
          <p:nvPr/>
        </p:nvSpPr>
        <p:spPr>
          <a:xfrm>
            <a:off x="7360920" y="914400"/>
            <a:ext cx="0" cy="4572000"/>
          </a:xfrm>
          <a:prstGeom prst="line">
            <a:avLst/>
          </a:prstGeom>
          <a:noFill/>
          <a:ln w="38100">
            <a:solidFill>
              <a:srgbClr val="2EA043"/>
            </a:solidFill>
            <a:prstDash val="solid"/>
          </a:ln>
        </p:spPr>
      </p:sp>
      <p:sp>
        <p:nvSpPr>
          <p:cNvPr id="10" name="Text 7"/>
          <p:cNvSpPr/>
          <p:nvPr/>
        </p:nvSpPr>
        <p:spPr>
          <a:xfrm>
            <a:off x="11292840" y="6464808"/>
            <a:ext cx="411480" cy="164592"/>
          </a:xfrm>
          <a:prstGeom prst="rect">
            <a:avLst/>
          </a:prstGeom>
          <a:noFill/>
          <a:ln/>
        </p:spPr>
        <p:txBody>
          <a:bodyPr wrap="square" lIns="0" tIns="0" rIns="0" bIns="0" rtlCol="0" anchor="ctr"/>
          <a:lstStyle/>
          <a:p>
            <a:pPr indent="0" marL="0">
              <a:buNone/>
            </a:pPr>
            <a:r>
              <a:rPr lang="en-US" sz="800" dirty="0">
                <a:solidFill>
                  <a:srgbClr val="8B949E"/>
                </a:solidFill>
              </a:rPr>
              <a:t>3/15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117"/>
          </a:solidFill>
          <a:ln w="12700">
            <a:solidFill>
              <a:srgbClr val="0D1117"/>
            </a:solidFill>
            <a:prstDash val="solid"/>
          </a:ln>
        </p:spPr>
      </p:sp>
      <p:sp>
        <p:nvSpPr>
          <p:cNvPr id="3" name="Shape 1"/>
          <p:cNvSpPr/>
          <p:nvPr/>
        </p:nvSpPr>
        <p:spPr>
          <a:xfrm>
            <a:off x="0" y="0"/>
            <a:ext cx="12191695" cy="109728"/>
          </a:xfrm>
          <a:prstGeom prst="rect">
            <a:avLst/>
          </a:prstGeom>
          <a:solidFill>
            <a:srgbClr val="2EA043"/>
          </a:solidFill>
          <a:ln w="12700">
            <a:solidFill>
              <a:srgbClr val="2EA043"/>
            </a:solidFill>
            <a:prstDash val="solid"/>
          </a:ln>
        </p:spPr>
      </p:sp>
      <p:sp>
        <p:nvSpPr>
          <p:cNvPr id="4" name="Text 2"/>
          <p:cNvSpPr/>
          <p:nvPr/>
        </p:nvSpPr>
        <p:spPr>
          <a:xfrm>
            <a:off x="502920" y="292608"/>
            <a:ext cx="7772400" cy="438912"/>
          </a:xfrm>
          <a:prstGeom prst="rect">
            <a:avLst/>
          </a:prstGeom>
          <a:noFill/>
          <a:ln/>
        </p:spPr>
        <p:txBody>
          <a:bodyPr wrap="square" lIns="0" tIns="0" rIns="0" bIns="0" rtlCol="0" anchor="ctr"/>
          <a:lstStyle/>
          <a:p>
            <a:pPr indent="0" marL="0">
              <a:buNone/>
            </a:pPr>
            <a:r>
              <a:rPr lang="en-US" sz="2600" b="1" dirty="0">
                <a:solidFill>
                  <a:srgbClr val="F0F6FC"/>
                </a:solidFill>
                <a:latin typeface="Aptos Display" pitchFamily="34" charset="0"/>
                <a:ea typeface="Aptos Display" pitchFamily="34" charset="-122"/>
                <a:cs typeface="Aptos Display" pitchFamily="34" charset="-120"/>
              </a:rPr>
              <a:t>Where Can Geologists Use GitHub?</a:t>
            </a:r>
            <a:endParaRPr lang="en-US" sz="2600" dirty="0"/>
          </a:p>
        </p:txBody>
      </p:sp>
      <p:sp>
        <p:nvSpPr>
          <p:cNvPr id="5" name="Text 3"/>
          <p:cNvSpPr/>
          <p:nvPr/>
        </p:nvSpPr>
        <p:spPr>
          <a:xfrm>
            <a:off x="9326880" y="347472"/>
            <a:ext cx="2240280" cy="228600"/>
          </a:xfrm>
          <a:prstGeom prst="rect">
            <a:avLst/>
          </a:prstGeom>
          <a:noFill/>
          <a:ln/>
        </p:spPr>
        <p:txBody>
          <a:bodyPr wrap="square" lIns="0" tIns="0" rIns="0" bIns="0" rtlCol="0" anchor="ctr"/>
          <a:lstStyle/>
          <a:p>
            <a:pPr algn="r" indent="0" marL="0">
              <a:buNone/>
            </a:pPr>
            <a:r>
              <a:rPr lang="en-US" sz="800" dirty="0">
                <a:solidFill>
                  <a:srgbClr val="8B949E"/>
                </a:solidFill>
              </a:rPr>
              <a:t>GitHub for Geological Research</a:t>
            </a:r>
            <a:endParaRPr lang="en-US" sz="800" dirty="0"/>
          </a:p>
        </p:txBody>
      </p:sp>
      <p:sp>
        <p:nvSpPr>
          <p:cNvPr id="6" name="Shape 4"/>
          <p:cNvSpPr/>
          <p:nvPr/>
        </p:nvSpPr>
        <p:spPr>
          <a:xfrm>
            <a:off x="822960" y="1143000"/>
            <a:ext cx="4800600" cy="777240"/>
          </a:xfrm>
          <a:prstGeom prst="roundRect">
            <a:avLst>
              <a:gd name="adj" fmla="val 9412"/>
            </a:avLst>
          </a:prstGeom>
          <a:solidFill>
            <a:srgbClr val="21262D"/>
          </a:solidFill>
          <a:ln w="12700">
            <a:solidFill>
              <a:srgbClr val="30363D">
                <a:alpha val="80000"/>
              </a:srgbClr>
            </a:solidFill>
            <a:prstDash val="solid"/>
          </a:ln>
        </p:spPr>
      </p:sp>
      <p:sp>
        <p:nvSpPr>
          <p:cNvPr id="7" name="Text 5"/>
          <p:cNvSpPr/>
          <p:nvPr/>
        </p:nvSpPr>
        <p:spPr>
          <a:xfrm>
            <a:off x="987552" y="1280160"/>
            <a:ext cx="411480" cy="320040"/>
          </a:xfrm>
          <a:prstGeom prst="rect">
            <a:avLst/>
          </a:prstGeom>
          <a:noFill/>
          <a:ln/>
        </p:spPr>
        <p:txBody>
          <a:bodyPr wrap="square" lIns="0" tIns="0" rIns="0" bIns="0" rtlCol="0" anchor="ctr"/>
          <a:lstStyle/>
          <a:p>
            <a:pPr indent="0" marL="0">
              <a:buNone/>
            </a:pPr>
            <a:r>
              <a:rPr lang="en-US" sz="2300" dirty="0">
                <a:solidFill>
                  <a:srgbClr val="000000"/>
                </a:solidFill>
              </a:rPr>
              <a:t>🪨</a:t>
            </a:r>
            <a:endParaRPr lang="en-US" sz="2300" dirty="0"/>
          </a:p>
        </p:txBody>
      </p:sp>
      <p:sp>
        <p:nvSpPr>
          <p:cNvPr id="8" name="Text 6"/>
          <p:cNvSpPr/>
          <p:nvPr/>
        </p:nvSpPr>
        <p:spPr>
          <a:xfrm>
            <a:off x="1508760" y="1353312"/>
            <a:ext cx="3977640" cy="237744"/>
          </a:xfrm>
          <a:prstGeom prst="rect">
            <a:avLst/>
          </a:prstGeom>
          <a:noFill/>
          <a:ln/>
        </p:spPr>
        <p:txBody>
          <a:bodyPr wrap="square" lIns="0" tIns="0" rIns="0" bIns="0" rtlCol="0" anchor="ctr"/>
          <a:lstStyle/>
          <a:p>
            <a:pPr indent="0" marL="0">
              <a:buNone/>
            </a:pPr>
            <a:r>
              <a:rPr lang="en-US" sz="1500" b="1" dirty="0">
                <a:solidFill>
                  <a:srgbClr val="F0F6FC"/>
                </a:solidFill>
              </a:rPr>
              <a:t>Geological Research Projects</a:t>
            </a:r>
            <a:endParaRPr lang="en-US" sz="1500" dirty="0"/>
          </a:p>
        </p:txBody>
      </p:sp>
      <p:sp>
        <p:nvSpPr>
          <p:cNvPr id="9" name="Shape 7"/>
          <p:cNvSpPr/>
          <p:nvPr/>
        </p:nvSpPr>
        <p:spPr>
          <a:xfrm>
            <a:off x="6217920" y="1143000"/>
            <a:ext cx="4800600" cy="777240"/>
          </a:xfrm>
          <a:prstGeom prst="roundRect">
            <a:avLst>
              <a:gd name="adj" fmla="val 9412"/>
            </a:avLst>
          </a:prstGeom>
          <a:solidFill>
            <a:srgbClr val="161B22"/>
          </a:solidFill>
          <a:ln w="12700">
            <a:solidFill>
              <a:srgbClr val="30363D">
                <a:alpha val="80000"/>
              </a:srgbClr>
            </a:solidFill>
            <a:prstDash val="solid"/>
          </a:ln>
        </p:spPr>
      </p:sp>
      <p:sp>
        <p:nvSpPr>
          <p:cNvPr id="10" name="Text 8"/>
          <p:cNvSpPr/>
          <p:nvPr/>
        </p:nvSpPr>
        <p:spPr>
          <a:xfrm>
            <a:off x="6382512" y="1280160"/>
            <a:ext cx="411480" cy="320040"/>
          </a:xfrm>
          <a:prstGeom prst="rect">
            <a:avLst/>
          </a:prstGeom>
          <a:noFill/>
          <a:ln/>
        </p:spPr>
        <p:txBody>
          <a:bodyPr wrap="square" lIns="0" tIns="0" rIns="0" bIns="0" rtlCol="0" anchor="ctr"/>
          <a:lstStyle/>
          <a:p>
            <a:pPr indent="0" marL="0">
              <a:buNone/>
            </a:pPr>
            <a:r>
              <a:rPr lang="en-US" sz="2300" dirty="0">
                <a:solidFill>
                  <a:srgbClr val="000000"/>
                </a:solidFill>
              </a:rPr>
              <a:t>📍</a:t>
            </a:r>
            <a:endParaRPr lang="en-US" sz="2300" dirty="0"/>
          </a:p>
        </p:txBody>
      </p:sp>
      <p:sp>
        <p:nvSpPr>
          <p:cNvPr id="11" name="Text 9"/>
          <p:cNvSpPr/>
          <p:nvPr/>
        </p:nvSpPr>
        <p:spPr>
          <a:xfrm>
            <a:off x="6903720" y="1353312"/>
            <a:ext cx="3977640" cy="237744"/>
          </a:xfrm>
          <a:prstGeom prst="rect">
            <a:avLst/>
          </a:prstGeom>
          <a:noFill/>
          <a:ln/>
        </p:spPr>
        <p:txBody>
          <a:bodyPr wrap="square" lIns="0" tIns="0" rIns="0" bIns="0" rtlCol="0" anchor="ctr"/>
          <a:lstStyle/>
          <a:p>
            <a:pPr indent="0" marL="0">
              <a:buNone/>
            </a:pPr>
            <a:r>
              <a:rPr lang="en-US" sz="1500" b="1" dirty="0">
                <a:solidFill>
                  <a:srgbClr val="F0F6FC"/>
                </a:solidFill>
              </a:rPr>
              <a:t>Field Survey Data</a:t>
            </a:r>
            <a:endParaRPr lang="en-US" sz="1500" dirty="0"/>
          </a:p>
        </p:txBody>
      </p:sp>
      <p:sp>
        <p:nvSpPr>
          <p:cNvPr id="12" name="Shape 10"/>
          <p:cNvSpPr/>
          <p:nvPr/>
        </p:nvSpPr>
        <p:spPr>
          <a:xfrm>
            <a:off x="822960" y="2203704"/>
            <a:ext cx="4800600" cy="777240"/>
          </a:xfrm>
          <a:prstGeom prst="roundRect">
            <a:avLst>
              <a:gd name="adj" fmla="val 9412"/>
            </a:avLst>
          </a:prstGeom>
          <a:solidFill>
            <a:srgbClr val="161B22"/>
          </a:solidFill>
          <a:ln w="12700">
            <a:solidFill>
              <a:srgbClr val="30363D">
                <a:alpha val="80000"/>
              </a:srgbClr>
            </a:solidFill>
            <a:prstDash val="solid"/>
          </a:ln>
        </p:spPr>
      </p:sp>
      <p:sp>
        <p:nvSpPr>
          <p:cNvPr id="13" name="Text 11"/>
          <p:cNvSpPr/>
          <p:nvPr/>
        </p:nvSpPr>
        <p:spPr>
          <a:xfrm>
            <a:off x="987552" y="2340864"/>
            <a:ext cx="411480" cy="320040"/>
          </a:xfrm>
          <a:prstGeom prst="rect">
            <a:avLst/>
          </a:prstGeom>
          <a:noFill/>
          <a:ln/>
        </p:spPr>
        <p:txBody>
          <a:bodyPr wrap="square" lIns="0" tIns="0" rIns="0" bIns="0" rtlCol="0" anchor="ctr"/>
          <a:lstStyle/>
          <a:p>
            <a:pPr indent="0" marL="0">
              <a:buNone/>
            </a:pPr>
            <a:r>
              <a:rPr lang="en-US" sz="2300" dirty="0">
                <a:solidFill>
                  <a:srgbClr val="000000"/>
                </a:solidFill>
              </a:rPr>
              <a:t>🗺️</a:t>
            </a:r>
            <a:endParaRPr lang="en-US" sz="2300" dirty="0"/>
          </a:p>
        </p:txBody>
      </p:sp>
      <p:sp>
        <p:nvSpPr>
          <p:cNvPr id="14" name="Text 12"/>
          <p:cNvSpPr/>
          <p:nvPr/>
        </p:nvSpPr>
        <p:spPr>
          <a:xfrm>
            <a:off x="1508760" y="2414016"/>
            <a:ext cx="3977640" cy="237744"/>
          </a:xfrm>
          <a:prstGeom prst="rect">
            <a:avLst/>
          </a:prstGeom>
          <a:noFill/>
          <a:ln/>
        </p:spPr>
        <p:txBody>
          <a:bodyPr wrap="square" lIns="0" tIns="0" rIns="0" bIns="0" rtlCol="0" anchor="ctr"/>
          <a:lstStyle/>
          <a:p>
            <a:pPr indent="0" marL="0">
              <a:buNone/>
            </a:pPr>
            <a:r>
              <a:rPr lang="en-US" sz="1500" b="1" dirty="0">
                <a:solidFill>
                  <a:srgbClr val="F0F6FC"/>
                </a:solidFill>
              </a:rPr>
              <a:t>GIS Mapping Projects</a:t>
            </a:r>
            <a:endParaRPr lang="en-US" sz="1500" dirty="0"/>
          </a:p>
        </p:txBody>
      </p:sp>
      <p:sp>
        <p:nvSpPr>
          <p:cNvPr id="15" name="Shape 13"/>
          <p:cNvSpPr/>
          <p:nvPr/>
        </p:nvSpPr>
        <p:spPr>
          <a:xfrm>
            <a:off x="6217920" y="2203704"/>
            <a:ext cx="4800600" cy="777240"/>
          </a:xfrm>
          <a:prstGeom prst="roundRect">
            <a:avLst>
              <a:gd name="adj" fmla="val 9412"/>
            </a:avLst>
          </a:prstGeom>
          <a:solidFill>
            <a:srgbClr val="21262D"/>
          </a:solidFill>
          <a:ln w="12700">
            <a:solidFill>
              <a:srgbClr val="30363D">
                <a:alpha val="80000"/>
              </a:srgbClr>
            </a:solidFill>
            <a:prstDash val="solid"/>
          </a:ln>
        </p:spPr>
      </p:sp>
      <p:sp>
        <p:nvSpPr>
          <p:cNvPr id="16" name="Text 14"/>
          <p:cNvSpPr/>
          <p:nvPr/>
        </p:nvSpPr>
        <p:spPr>
          <a:xfrm>
            <a:off x="6382512" y="2340864"/>
            <a:ext cx="411480" cy="320040"/>
          </a:xfrm>
          <a:prstGeom prst="rect">
            <a:avLst/>
          </a:prstGeom>
          <a:noFill/>
          <a:ln/>
        </p:spPr>
        <p:txBody>
          <a:bodyPr wrap="square" lIns="0" tIns="0" rIns="0" bIns="0" rtlCol="0" anchor="ctr"/>
          <a:lstStyle/>
          <a:p>
            <a:pPr indent="0" marL="0">
              <a:buNone/>
            </a:pPr>
            <a:r>
              <a:rPr lang="en-US" sz="2300" dirty="0">
                <a:solidFill>
                  <a:srgbClr val="000000"/>
                </a:solidFill>
              </a:rPr>
              <a:t>🧪</a:t>
            </a:r>
            <a:endParaRPr lang="en-US" sz="2300" dirty="0"/>
          </a:p>
        </p:txBody>
      </p:sp>
      <p:sp>
        <p:nvSpPr>
          <p:cNvPr id="17" name="Text 15"/>
          <p:cNvSpPr/>
          <p:nvPr/>
        </p:nvSpPr>
        <p:spPr>
          <a:xfrm>
            <a:off x="6903720" y="2414016"/>
            <a:ext cx="3977640" cy="237744"/>
          </a:xfrm>
          <a:prstGeom prst="rect">
            <a:avLst/>
          </a:prstGeom>
          <a:noFill/>
          <a:ln/>
        </p:spPr>
        <p:txBody>
          <a:bodyPr wrap="square" lIns="0" tIns="0" rIns="0" bIns="0" rtlCol="0" anchor="ctr"/>
          <a:lstStyle/>
          <a:p>
            <a:pPr indent="0" marL="0">
              <a:buNone/>
            </a:pPr>
            <a:r>
              <a:rPr lang="en-US" sz="1500" b="1" dirty="0">
                <a:solidFill>
                  <a:srgbClr val="F0F6FC"/>
                </a:solidFill>
              </a:rPr>
              <a:t>Laboratory Data</a:t>
            </a:r>
            <a:endParaRPr lang="en-US" sz="1500" dirty="0"/>
          </a:p>
        </p:txBody>
      </p:sp>
      <p:sp>
        <p:nvSpPr>
          <p:cNvPr id="18" name="Shape 16"/>
          <p:cNvSpPr/>
          <p:nvPr/>
        </p:nvSpPr>
        <p:spPr>
          <a:xfrm>
            <a:off x="822960" y="3264408"/>
            <a:ext cx="4800600" cy="777240"/>
          </a:xfrm>
          <a:prstGeom prst="roundRect">
            <a:avLst>
              <a:gd name="adj" fmla="val 9412"/>
            </a:avLst>
          </a:prstGeom>
          <a:solidFill>
            <a:srgbClr val="161B22"/>
          </a:solidFill>
          <a:ln w="12700">
            <a:solidFill>
              <a:srgbClr val="30363D">
                <a:alpha val="80000"/>
              </a:srgbClr>
            </a:solidFill>
            <a:prstDash val="solid"/>
          </a:ln>
        </p:spPr>
      </p:sp>
      <p:sp>
        <p:nvSpPr>
          <p:cNvPr id="19" name="Text 17"/>
          <p:cNvSpPr/>
          <p:nvPr/>
        </p:nvSpPr>
        <p:spPr>
          <a:xfrm>
            <a:off x="987552" y="3401568"/>
            <a:ext cx="411480" cy="320040"/>
          </a:xfrm>
          <a:prstGeom prst="rect">
            <a:avLst/>
          </a:prstGeom>
          <a:noFill/>
          <a:ln/>
        </p:spPr>
        <p:txBody>
          <a:bodyPr wrap="square" lIns="0" tIns="0" rIns="0" bIns="0" rtlCol="0" anchor="ctr"/>
          <a:lstStyle/>
          <a:p>
            <a:pPr indent="0" marL="0">
              <a:buNone/>
            </a:pPr>
            <a:r>
              <a:rPr lang="en-US" sz="2300" dirty="0">
                <a:solidFill>
                  <a:srgbClr val="000000"/>
                </a:solidFill>
              </a:rPr>
              <a:t>📄</a:t>
            </a:r>
            <a:endParaRPr lang="en-US" sz="2300" dirty="0"/>
          </a:p>
        </p:txBody>
      </p:sp>
      <p:sp>
        <p:nvSpPr>
          <p:cNvPr id="20" name="Text 18"/>
          <p:cNvSpPr/>
          <p:nvPr/>
        </p:nvSpPr>
        <p:spPr>
          <a:xfrm>
            <a:off x="1508760" y="3474720"/>
            <a:ext cx="3977640" cy="237744"/>
          </a:xfrm>
          <a:prstGeom prst="rect">
            <a:avLst/>
          </a:prstGeom>
          <a:noFill/>
          <a:ln/>
        </p:spPr>
        <p:txBody>
          <a:bodyPr wrap="square" lIns="0" tIns="0" rIns="0" bIns="0" rtlCol="0" anchor="ctr"/>
          <a:lstStyle/>
          <a:p>
            <a:pPr indent="0" marL="0">
              <a:buNone/>
            </a:pPr>
            <a:r>
              <a:rPr lang="en-US" sz="1500" b="1" dirty="0">
                <a:solidFill>
                  <a:srgbClr val="F0F6FC"/>
                </a:solidFill>
              </a:rPr>
              <a:t>Research Reports</a:t>
            </a:r>
            <a:endParaRPr lang="en-US" sz="1500" dirty="0"/>
          </a:p>
        </p:txBody>
      </p:sp>
      <p:sp>
        <p:nvSpPr>
          <p:cNvPr id="21" name="Shape 19"/>
          <p:cNvSpPr/>
          <p:nvPr/>
        </p:nvSpPr>
        <p:spPr>
          <a:xfrm>
            <a:off x="6217920" y="3264408"/>
            <a:ext cx="4800600" cy="777240"/>
          </a:xfrm>
          <a:prstGeom prst="roundRect">
            <a:avLst>
              <a:gd name="adj" fmla="val 9412"/>
            </a:avLst>
          </a:prstGeom>
          <a:solidFill>
            <a:srgbClr val="161B22"/>
          </a:solidFill>
          <a:ln w="12700">
            <a:solidFill>
              <a:srgbClr val="30363D">
                <a:alpha val="80000"/>
              </a:srgbClr>
            </a:solidFill>
            <a:prstDash val="solid"/>
          </a:ln>
        </p:spPr>
      </p:sp>
      <p:sp>
        <p:nvSpPr>
          <p:cNvPr id="22" name="Text 20"/>
          <p:cNvSpPr/>
          <p:nvPr/>
        </p:nvSpPr>
        <p:spPr>
          <a:xfrm>
            <a:off x="6382512" y="3401568"/>
            <a:ext cx="411480" cy="320040"/>
          </a:xfrm>
          <a:prstGeom prst="rect">
            <a:avLst/>
          </a:prstGeom>
          <a:noFill/>
          <a:ln/>
        </p:spPr>
        <p:txBody>
          <a:bodyPr wrap="square" lIns="0" tIns="0" rIns="0" bIns="0" rtlCol="0" anchor="ctr"/>
          <a:lstStyle/>
          <a:p>
            <a:pPr indent="0" marL="0">
              <a:buNone/>
            </a:pPr>
            <a:r>
              <a:rPr lang="en-US" sz="2300" dirty="0">
                <a:solidFill>
                  <a:srgbClr val="000000"/>
                </a:solidFill>
              </a:rPr>
              <a:t>📝</a:t>
            </a:r>
            <a:endParaRPr lang="en-US" sz="2300" dirty="0"/>
          </a:p>
        </p:txBody>
      </p:sp>
      <p:sp>
        <p:nvSpPr>
          <p:cNvPr id="23" name="Text 21"/>
          <p:cNvSpPr/>
          <p:nvPr/>
        </p:nvSpPr>
        <p:spPr>
          <a:xfrm>
            <a:off x="6903720" y="3474720"/>
            <a:ext cx="3977640" cy="237744"/>
          </a:xfrm>
          <a:prstGeom prst="rect">
            <a:avLst/>
          </a:prstGeom>
          <a:noFill/>
          <a:ln/>
        </p:spPr>
        <p:txBody>
          <a:bodyPr wrap="square" lIns="0" tIns="0" rIns="0" bIns="0" rtlCol="0" anchor="ctr"/>
          <a:lstStyle/>
          <a:p>
            <a:pPr indent="0" marL="0">
              <a:buNone/>
            </a:pPr>
            <a:r>
              <a:rPr lang="en-US" sz="1500" b="1" dirty="0">
                <a:solidFill>
                  <a:srgbClr val="F0F6FC"/>
                </a:solidFill>
              </a:rPr>
              <a:t>Scientific Documentation</a:t>
            </a:r>
            <a:endParaRPr lang="en-US" sz="1500" dirty="0"/>
          </a:p>
        </p:txBody>
      </p:sp>
      <p:sp>
        <p:nvSpPr>
          <p:cNvPr id="24" name="Shape 22"/>
          <p:cNvSpPr/>
          <p:nvPr/>
        </p:nvSpPr>
        <p:spPr>
          <a:xfrm>
            <a:off x="822960" y="4325112"/>
            <a:ext cx="4800600" cy="777240"/>
          </a:xfrm>
          <a:prstGeom prst="roundRect">
            <a:avLst>
              <a:gd name="adj" fmla="val 9412"/>
            </a:avLst>
          </a:prstGeom>
          <a:solidFill>
            <a:srgbClr val="21262D"/>
          </a:solidFill>
          <a:ln w="12700">
            <a:solidFill>
              <a:srgbClr val="30363D">
                <a:alpha val="80000"/>
              </a:srgbClr>
            </a:solidFill>
            <a:prstDash val="solid"/>
          </a:ln>
        </p:spPr>
      </p:sp>
      <p:sp>
        <p:nvSpPr>
          <p:cNvPr id="25" name="Text 23"/>
          <p:cNvSpPr/>
          <p:nvPr/>
        </p:nvSpPr>
        <p:spPr>
          <a:xfrm>
            <a:off x="987552" y="4462272"/>
            <a:ext cx="411480" cy="320040"/>
          </a:xfrm>
          <a:prstGeom prst="rect">
            <a:avLst/>
          </a:prstGeom>
          <a:noFill/>
          <a:ln/>
        </p:spPr>
        <p:txBody>
          <a:bodyPr wrap="square" lIns="0" tIns="0" rIns="0" bIns="0" rtlCol="0" anchor="ctr"/>
          <a:lstStyle/>
          <a:p>
            <a:pPr indent="0" marL="0">
              <a:buNone/>
            </a:pPr>
            <a:r>
              <a:rPr lang="en-US" sz="2300" dirty="0">
                <a:solidFill>
                  <a:srgbClr val="000000"/>
                </a:solidFill>
              </a:rPr>
              <a:t>👥</a:t>
            </a:r>
            <a:endParaRPr lang="en-US" sz="2300" dirty="0"/>
          </a:p>
        </p:txBody>
      </p:sp>
      <p:sp>
        <p:nvSpPr>
          <p:cNvPr id="26" name="Text 24"/>
          <p:cNvSpPr/>
          <p:nvPr/>
        </p:nvSpPr>
        <p:spPr>
          <a:xfrm>
            <a:off x="1508760" y="4535424"/>
            <a:ext cx="3977640" cy="237744"/>
          </a:xfrm>
          <a:prstGeom prst="rect">
            <a:avLst/>
          </a:prstGeom>
          <a:noFill/>
          <a:ln/>
        </p:spPr>
        <p:txBody>
          <a:bodyPr wrap="square" lIns="0" tIns="0" rIns="0" bIns="0" rtlCol="0" anchor="ctr"/>
          <a:lstStyle/>
          <a:p>
            <a:pPr indent="0" marL="0">
              <a:buNone/>
            </a:pPr>
            <a:r>
              <a:rPr lang="en-US" sz="1500" b="1" dirty="0">
                <a:solidFill>
                  <a:srgbClr val="F0F6FC"/>
                </a:solidFill>
              </a:rPr>
              <a:t>Team Collaboration</a:t>
            </a:r>
            <a:endParaRPr lang="en-US" sz="1500" dirty="0"/>
          </a:p>
        </p:txBody>
      </p:sp>
      <p:sp>
        <p:nvSpPr>
          <p:cNvPr id="27" name="Text 25"/>
          <p:cNvSpPr/>
          <p:nvPr/>
        </p:nvSpPr>
        <p:spPr>
          <a:xfrm>
            <a:off x="11292840" y="6464808"/>
            <a:ext cx="411480" cy="164592"/>
          </a:xfrm>
          <a:prstGeom prst="rect">
            <a:avLst/>
          </a:prstGeom>
          <a:noFill/>
          <a:ln/>
        </p:spPr>
        <p:txBody>
          <a:bodyPr wrap="square" lIns="0" tIns="0" rIns="0" bIns="0" rtlCol="0" anchor="ctr"/>
          <a:lstStyle/>
          <a:p>
            <a:pPr indent="0" marL="0">
              <a:buNone/>
            </a:pPr>
            <a:r>
              <a:rPr lang="en-US" sz="800" dirty="0">
                <a:solidFill>
                  <a:srgbClr val="8B949E"/>
                </a:solidFill>
              </a:rPr>
              <a:t>4/15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117"/>
          </a:solidFill>
          <a:ln w="12700">
            <a:solidFill>
              <a:srgbClr val="0D1117"/>
            </a:solidFill>
            <a:prstDash val="solid"/>
          </a:ln>
        </p:spPr>
      </p:sp>
      <p:sp>
        <p:nvSpPr>
          <p:cNvPr id="3" name="Shape 1"/>
          <p:cNvSpPr/>
          <p:nvPr/>
        </p:nvSpPr>
        <p:spPr>
          <a:xfrm>
            <a:off x="0" y="0"/>
            <a:ext cx="12191695" cy="109728"/>
          </a:xfrm>
          <a:prstGeom prst="rect">
            <a:avLst/>
          </a:prstGeom>
          <a:solidFill>
            <a:srgbClr val="2EA043"/>
          </a:solidFill>
          <a:ln w="12700">
            <a:solidFill>
              <a:srgbClr val="2EA043"/>
            </a:solidFill>
            <a:prstDash val="solid"/>
          </a:ln>
        </p:spPr>
      </p:sp>
      <p:sp>
        <p:nvSpPr>
          <p:cNvPr id="4" name="Text 2"/>
          <p:cNvSpPr/>
          <p:nvPr/>
        </p:nvSpPr>
        <p:spPr>
          <a:xfrm>
            <a:off x="502920" y="292608"/>
            <a:ext cx="7772400" cy="438912"/>
          </a:xfrm>
          <a:prstGeom prst="rect">
            <a:avLst/>
          </a:prstGeom>
          <a:noFill/>
          <a:ln/>
        </p:spPr>
        <p:txBody>
          <a:bodyPr wrap="square" lIns="0" tIns="0" rIns="0" bIns="0" rtlCol="0" anchor="ctr"/>
          <a:lstStyle/>
          <a:p>
            <a:pPr indent="0" marL="0">
              <a:buNone/>
            </a:pPr>
            <a:r>
              <a:rPr lang="en-US" sz="2600" b="1" dirty="0">
                <a:solidFill>
                  <a:srgbClr val="F0F6FC"/>
                </a:solidFill>
                <a:latin typeface="Aptos Display" pitchFamily="34" charset="0"/>
                <a:ea typeface="Aptos Display" pitchFamily="34" charset="-122"/>
                <a:cs typeface="Aptos Display" pitchFamily="34" charset="-120"/>
              </a:rPr>
              <a:t>Real-World Example</a:t>
            </a:r>
            <a:endParaRPr lang="en-US" sz="2600" dirty="0"/>
          </a:p>
        </p:txBody>
      </p:sp>
      <p:sp>
        <p:nvSpPr>
          <p:cNvPr id="5" name="Text 3"/>
          <p:cNvSpPr/>
          <p:nvPr/>
        </p:nvSpPr>
        <p:spPr>
          <a:xfrm>
            <a:off x="9326880" y="347472"/>
            <a:ext cx="2240280" cy="228600"/>
          </a:xfrm>
          <a:prstGeom prst="rect">
            <a:avLst/>
          </a:prstGeom>
          <a:noFill/>
          <a:ln/>
        </p:spPr>
        <p:txBody>
          <a:bodyPr wrap="square" lIns="0" tIns="0" rIns="0" bIns="0" rtlCol="0" anchor="ctr"/>
          <a:lstStyle/>
          <a:p>
            <a:pPr algn="r" indent="0" marL="0">
              <a:buNone/>
            </a:pPr>
            <a:r>
              <a:rPr lang="en-US" sz="800" dirty="0">
                <a:solidFill>
                  <a:srgbClr val="8B949E"/>
                </a:solidFill>
              </a:rPr>
              <a:t>GitHub for Geological Research</a:t>
            </a:r>
            <a:endParaRPr lang="en-US" sz="800" dirty="0"/>
          </a:p>
        </p:txBody>
      </p:sp>
      <p:sp>
        <p:nvSpPr>
          <p:cNvPr id="6" name="Text 4"/>
          <p:cNvSpPr/>
          <p:nvPr/>
        </p:nvSpPr>
        <p:spPr>
          <a:xfrm>
            <a:off x="822960" y="1051560"/>
            <a:ext cx="5303520" cy="411480"/>
          </a:xfrm>
          <a:prstGeom prst="rect">
            <a:avLst/>
          </a:prstGeom>
          <a:noFill/>
          <a:ln/>
        </p:spPr>
        <p:txBody>
          <a:bodyPr wrap="square" lIns="0" tIns="0" rIns="0" bIns="0" rtlCol="0" anchor="ctr"/>
          <a:lstStyle/>
          <a:p>
            <a:pPr indent="0" marL="0">
              <a:buNone/>
            </a:pPr>
            <a:r>
              <a:rPr lang="en-US" sz="2500" b="1" dirty="0">
                <a:solidFill>
                  <a:srgbClr val="D8B46A"/>
                </a:solidFill>
              </a:rPr>
              <a:t>Project: Geological-Survey-2026</a:t>
            </a:r>
            <a:endParaRPr lang="en-US" sz="2500" dirty="0"/>
          </a:p>
        </p:txBody>
      </p:sp>
      <p:sp>
        <p:nvSpPr>
          <p:cNvPr id="7" name="Text 5"/>
          <p:cNvSpPr/>
          <p:nvPr/>
        </p:nvSpPr>
        <p:spPr>
          <a:xfrm>
            <a:off x="822960" y="1645920"/>
            <a:ext cx="5212080" cy="822960"/>
          </a:xfrm>
          <a:prstGeom prst="rect">
            <a:avLst/>
          </a:prstGeom>
          <a:noFill/>
          <a:ln/>
        </p:spPr>
        <p:txBody>
          <a:bodyPr wrap="square" lIns="0" tIns="0" rIns="0" bIns="0" rtlCol="0" anchor="ctr"/>
          <a:lstStyle/>
          <a:p>
            <a:pPr indent="0" marL="0">
              <a:buNone/>
            </a:pPr>
            <a:r>
              <a:rPr lang="en-US" sz="2000" dirty="0">
                <a:solidFill>
                  <a:srgbClr val="E6EDF3"/>
                </a:solidFill>
              </a:rPr>
              <a:t>A team of geology students collects rock samples from different locations and creates a research report.</a:t>
            </a:r>
            <a:endParaRPr lang="en-US" sz="2000" dirty="0"/>
          </a:p>
        </p:txBody>
      </p:sp>
      <p:sp>
        <p:nvSpPr>
          <p:cNvPr id="8" name="Shape 6"/>
          <p:cNvSpPr/>
          <p:nvPr/>
        </p:nvSpPr>
        <p:spPr>
          <a:xfrm>
            <a:off x="777240" y="3657600"/>
            <a:ext cx="1920240" cy="685800"/>
          </a:xfrm>
          <a:prstGeom prst="chevron">
            <a:avLst/>
          </a:prstGeom>
          <a:solidFill>
            <a:srgbClr val="2F81F7"/>
          </a:solidFill>
          <a:ln w="12700">
            <a:solidFill>
              <a:srgbClr val="FFFFFF">
                <a:alpha val="30000"/>
              </a:srgbClr>
            </a:solidFill>
            <a:prstDash val="solid"/>
          </a:ln>
        </p:spPr>
      </p:sp>
      <p:sp>
        <p:nvSpPr>
          <p:cNvPr id="9" name="Text 7"/>
          <p:cNvSpPr/>
          <p:nvPr/>
        </p:nvSpPr>
        <p:spPr>
          <a:xfrm>
            <a:off x="914400" y="3886200"/>
            <a:ext cx="1325880" cy="182880"/>
          </a:xfrm>
          <a:prstGeom prst="rect">
            <a:avLst/>
          </a:prstGeom>
          <a:noFill/>
          <a:ln/>
        </p:spPr>
        <p:txBody>
          <a:bodyPr wrap="square" lIns="0" tIns="0" rIns="0" bIns="0" rtlCol="0" anchor="ctr"/>
          <a:lstStyle/>
          <a:p>
            <a:pPr algn="ctr" indent="0" marL="0">
              <a:buNone/>
            </a:pPr>
            <a:r>
              <a:rPr lang="en-US" sz="1200" b="1" dirty="0">
                <a:solidFill>
                  <a:srgbClr val="FFFFFF"/>
                </a:solidFill>
              </a:rPr>
              <a:t>Plan survey</a:t>
            </a:r>
            <a:endParaRPr lang="en-US" sz="1200" dirty="0"/>
          </a:p>
        </p:txBody>
      </p:sp>
      <p:sp>
        <p:nvSpPr>
          <p:cNvPr id="10" name="Shape 8"/>
          <p:cNvSpPr/>
          <p:nvPr/>
        </p:nvSpPr>
        <p:spPr>
          <a:xfrm>
            <a:off x="2990088" y="3657600"/>
            <a:ext cx="1920240" cy="685800"/>
          </a:xfrm>
          <a:prstGeom prst="chevron">
            <a:avLst/>
          </a:prstGeom>
          <a:solidFill>
            <a:srgbClr val="2EA043"/>
          </a:solidFill>
          <a:ln w="12700">
            <a:solidFill>
              <a:srgbClr val="FFFFFF">
                <a:alpha val="30000"/>
              </a:srgbClr>
            </a:solidFill>
            <a:prstDash val="solid"/>
          </a:ln>
        </p:spPr>
      </p:sp>
      <p:sp>
        <p:nvSpPr>
          <p:cNvPr id="11" name="Text 9"/>
          <p:cNvSpPr/>
          <p:nvPr/>
        </p:nvSpPr>
        <p:spPr>
          <a:xfrm>
            <a:off x="3127248" y="3886200"/>
            <a:ext cx="1325880" cy="182880"/>
          </a:xfrm>
          <a:prstGeom prst="rect">
            <a:avLst/>
          </a:prstGeom>
          <a:noFill/>
          <a:ln/>
        </p:spPr>
        <p:txBody>
          <a:bodyPr wrap="square" lIns="0" tIns="0" rIns="0" bIns="0" rtlCol="0" anchor="ctr"/>
          <a:lstStyle/>
          <a:p>
            <a:pPr algn="ctr" indent="0" marL="0">
              <a:buNone/>
            </a:pPr>
            <a:r>
              <a:rPr lang="en-US" sz="1200" b="1" dirty="0">
                <a:solidFill>
                  <a:srgbClr val="FFFFFF"/>
                </a:solidFill>
              </a:rPr>
              <a:t>Collect samples</a:t>
            </a:r>
            <a:endParaRPr lang="en-US" sz="1200" dirty="0"/>
          </a:p>
        </p:txBody>
      </p:sp>
      <p:sp>
        <p:nvSpPr>
          <p:cNvPr id="12" name="Shape 10"/>
          <p:cNvSpPr/>
          <p:nvPr/>
        </p:nvSpPr>
        <p:spPr>
          <a:xfrm>
            <a:off x="5202936" y="3657600"/>
            <a:ext cx="1920240" cy="685800"/>
          </a:xfrm>
          <a:prstGeom prst="chevron">
            <a:avLst/>
          </a:prstGeom>
          <a:solidFill>
            <a:srgbClr val="8B5E34"/>
          </a:solidFill>
          <a:ln w="12700">
            <a:solidFill>
              <a:srgbClr val="FFFFFF">
                <a:alpha val="30000"/>
              </a:srgbClr>
            </a:solidFill>
            <a:prstDash val="solid"/>
          </a:ln>
        </p:spPr>
      </p:sp>
      <p:sp>
        <p:nvSpPr>
          <p:cNvPr id="13" name="Text 11"/>
          <p:cNvSpPr/>
          <p:nvPr/>
        </p:nvSpPr>
        <p:spPr>
          <a:xfrm>
            <a:off x="5340096" y="3886200"/>
            <a:ext cx="1325880" cy="182880"/>
          </a:xfrm>
          <a:prstGeom prst="rect">
            <a:avLst/>
          </a:prstGeom>
          <a:noFill/>
          <a:ln/>
        </p:spPr>
        <p:txBody>
          <a:bodyPr wrap="square" lIns="0" tIns="0" rIns="0" bIns="0" rtlCol="0" anchor="ctr"/>
          <a:lstStyle/>
          <a:p>
            <a:pPr algn="ctr" indent="0" marL="0">
              <a:buNone/>
            </a:pPr>
            <a:r>
              <a:rPr lang="en-US" sz="1200" b="1" dirty="0">
                <a:solidFill>
                  <a:srgbClr val="FFFFFF"/>
                </a:solidFill>
              </a:rPr>
              <a:t>Record data</a:t>
            </a:r>
            <a:endParaRPr lang="en-US" sz="1200" dirty="0"/>
          </a:p>
        </p:txBody>
      </p:sp>
      <p:sp>
        <p:nvSpPr>
          <p:cNvPr id="14" name="Shape 12"/>
          <p:cNvSpPr/>
          <p:nvPr/>
        </p:nvSpPr>
        <p:spPr>
          <a:xfrm>
            <a:off x="7415784" y="3657600"/>
            <a:ext cx="1920240" cy="685800"/>
          </a:xfrm>
          <a:prstGeom prst="chevron">
            <a:avLst/>
          </a:prstGeom>
          <a:solidFill>
            <a:srgbClr val="A15C38"/>
          </a:solidFill>
          <a:ln w="12700">
            <a:solidFill>
              <a:srgbClr val="FFFFFF">
                <a:alpha val="30000"/>
              </a:srgbClr>
            </a:solidFill>
            <a:prstDash val="solid"/>
          </a:ln>
        </p:spPr>
      </p:sp>
      <p:sp>
        <p:nvSpPr>
          <p:cNvPr id="15" name="Text 13"/>
          <p:cNvSpPr/>
          <p:nvPr/>
        </p:nvSpPr>
        <p:spPr>
          <a:xfrm>
            <a:off x="7552944" y="3886200"/>
            <a:ext cx="1325880" cy="182880"/>
          </a:xfrm>
          <a:prstGeom prst="rect">
            <a:avLst/>
          </a:prstGeom>
          <a:noFill/>
          <a:ln/>
        </p:spPr>
        <p:txBody>
          <a:bodyPr wrap="square" lIns="0" tIns="0" rIns="0" bIns="0" rtlCol="0" anchor="ctr"/>
          <a:lstStyle/>
          <a:p>
            <a:pPr algn="ctr" indent="0" marL="0">
              <a:buNone/>
            </a:pPr>
            <a:r>
              <a:rPr lang="en-US" sz="1200" b="1" dirty="0">
                <a:solidFill>
                  <a:srgbClr val="FFFFFF"/>
                </a:solidFill>
              </a:rPr>
              <a:t>Analyze</a:t>
            </a:r>
            <a:endParaRPr lang="en-US" sz="1200" dirty="0"/>
          </a:p>
        </p:txBody>
      </p:sp>
      <p:sp>
        <p:nvSpPr>
          <p:cNvPr id="16" name="Shape 14"/>
          <p:cNvSpPr/>
          <p:nvPr/>
        </p:nvSpPr>
        <p:spPr>
          <a:xfrm>
            <a:off x="9628632" y="3657600"/>
            <a:ext cx="1920240" cy="685800"/>
          </a:xfrm>
          <a:prstGeom prst="chevron">
            <a:avLst/>
          </a:prstGeom>
          <a:solidFill>
            <a:srgbClr val="D8B46A"/>
          </a:solidFill>
          <a:ln w="12700">
            <a:solidFill>
              <a:srgbClr val="FFFFFF">
                <a:alpha val="30000"/>
              </a:srgbClr>
            </a:solidFill>
            <a:prstDash val="solid"/>
          </a:ln>
        </p:spPr>
      </p:sp>
      <p:sp>
        <p:nvSpPr>
          <p:cNvPr id="17" name="Text 15"/>
          <p:cNvSpPr/>
          <p:nvPr/>
        </p:nvSpPr>
        <p:spPr>
          <a:xfrm>
            <a:off x="9765792" y="3886200"/>
            <a:ext cx="1325880" cy="182880"/>
          </a:xfrm>
          <a:prstGeom prst="rect">
            <a:avLst/>
          </a:prstGeom>
          <a:noFill/>
          <a:ln/>
        </p:spPr>
        <p:txBody>
          <a:bodyPr wrap="square" lIns="0" tIns="0" rIns="0" bIns="0" rtlCol="0" anchor="ctr"/>
          <a:lstStyle/>
          <a:p>
            <a:pPr algn="ctr" indent="0" marL="0">
              <a:buNone/>
            </a:pPr>
            <a:r>
              <a:rPr lang="en-US" sz="1200" b="1" dirty="0">
                <a:solidFill>
                  <a:srgbClr val="FFFFFF"/>
                </a:solidFill>
              </a:rPr>
              <a:t>Write report</a:t>
            </a:r>
            <a:endParaRPr lang="en-US" sz="1200" dirty="0"/>
          </a:p>
        </p:txBody>
      </p:sp>
      <p:pic>
        <p:nvPicPr>
          <p:cNvPr id="18" name="Image 0" descr="/mnt/data/geology_team.jpg">    </p:cNvPr>
          <p:cNvPicPr>
            <a:picLocks noChangeAspect="1"/>
          </p:cNvPicPr>
          <p:nvPr/>
        </p:nvPicPr>
        <p:blipFill>
          <a:blip r:embed="rId1"/>
          <a:srcRect l="0" r="0" t="6250" b="6250"/>
          <a:stretch/>
        </p:blipFill>
        <p:spPr>
          <a:xfrm>
            <a:off x="7315200" y="1005840"/>
            <a:ext cx="3840480" cy="2240280"/>
          </a:xfrm>
          <a:prstGeom prst="rect">
            <a:avLst/>
          </a:prstGeom>
        </p:spPr>
      </p:pic>
      <p:sp>
        <p:nvSpPr>
          <p:cNvPr id="19" name="Text 16"/>
          <p:cNvSpPr/>
          <p:nvPr/>
        </p:nvSpPr>
        <p:spPr>
          <a:xfrm>
            <a:off x="11292840" y="6464808"/>
            <a:ext cx="411480" cy="164592"/>
          </a:xfrm>
          <a:prstGeom prst="rect">
            <a:avLst/>
          </a:prstGeom>
          <a:noFill/>
          <a:ln/>
        </p:spPr>
        <p:txBody>
          <a:bodyPr wrap="square" lIns="0" tIns="0" rIns="0" bIns="0" rtlCol="0" anchor="ctr"/>
          <a:lstStyle/>
          <a:p>
            <a:pPr indent="0" marL="0">
              <a:buNone/>
            </a:pPr>
            <a:r>
              <a:rPr lang="en-US" sz="800" dirty="0">
                <a:solidFill>
                  <a:srgbClr val="8B949E"/>
                </a:solidFill>
              </a:rPr>
              <a:t>5/15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117"/>
          </a:solidFill>
          <a:ln w="12700">
            <a:solidFill>
              <a:srgbClr val="0D1117"/>
            </a:solidFill>
            <a:prstDash val="solid"/>
          </a:ln>
        </p:spPr>
      </p:sp>
      <p:sp>
        <p:nvSpPr>
          <p:cNvPr id="3" name="Shape 1"/>
          <p:cNvSpPr/>
          <p:nvPr/>
        </p:nvSpPr>
        <p:spPr>
          <a:xfrm>
            <a:off x="0" y="0"/>
            <a:ext cx="12191695" cy="109728"/>
          </a:xfrm>
          <a:prstGeom prst="rect">
            <a:avLst/>
          </a:prstGeom>
          <a:solidFill>
            <a:srgbClr val="2EA043"/>
          </a:solidFill>
          <a:ln w="12700">
            <a:solidFill>
              <a:srgbClr val="2EA043"/>
            </a:solidFill>
            <a:prstDash val="solid"/>
          </a:ln>
        </p:spPr>
      </p:sp>
      <p:sp>
        <p:nvSpPr>
          <p:cNvPr id="4" name="Text 2"/>
          <p:cNvSpPr/>
          <p:nvPr/>
        </p:nvSpPr>
        <p:spPr>
          <a:xfrm>
            <a:off x="502920" y="292608"/>
            <a:ext cx="7772400" cy="438912"/>
          </a:xfrm>
          <a:prstGeom prst="rect">
            <a:avLst/>
          </a:prstGeom>
          <a:noFill/>
          <a:ln/>
        </p:spPr>
        <p:txBody>
          <a:bodyPr wrap="square" lIns="0" tIns="0" rIns="0" bIns="0" rtlCol="0" anchor="ctr"/>
          <a:lstStyle/>
          <a:p>
            <a:pPr indent="0" marL="0">
              <a:buNone/>
            </a:pPr>
            <a:r>
              <a:rPr lang="en-US" sz="2600" b="1" dirty="0">
                <a:solidFill>
                  <a:srgbClr val="F0F6FC"/>
                </a:solidFill>
                <a:latin typeface="Aptos Display" pitchFamily="34" charset="0"/>
                <a:ea typeface="Aptos Display" pitchFamily="34" charset="-122"/>
                <a:cs typeface="Aptos Display" pitchFamily="34" charset="-120"/>
              </a:rPr>
              <a:t>Project Repository Structure</a:t>
            </a:r>
            <a:endParaRPr lang="en-US" sz="2600" dirty="0"/>
          </a:p>
        </p:txBody>
      </p:sp>
      <p:sp>
        <p:nvSpPr>
          <p:cNvPr id="5" name="Text 3"/>
          <p:cNvSpPr/>
          <p:nvPr/>
        </p:nvSpPr>
        <p:spPr>
          <a:xfrm>
            <a:off x="9326880" y="347472"/>
            <a:ext cx="2240280" cy="228600"/>
          </a:xfrm>
          <a:prstGeom prst="rect">
            <a:avLst/>
          </a:prstGeom>
          <a:noFill/>
          <a:ln/>
        </p:spPr>
        <p:txBody>
          <a:bodyPr wrap="square" lIns="0" tIns="0" rIns="0" bIns="0" rtlCol="0" anchor="ctr"/>
          <a:lstStyle/>
          <a:p>
            <a:pPr algn="r" indent="0" marL="0">
              <a:buNone/>
            </a:pPr>
            <a:r>
              <a:rPr lang="en-US" sz="800" dirty="0">
                <a:solidFill>
                  <a:srgbClr val="8B949E"/>
                </a:solidFill>
              </a:rPr>
              <a:t>GitHub for Geological Research</a:t>
            </a:r>
            <a:endParaRPr lang="en-US" sz="800" dirty="0"/>
          </a:p>
        </p:txBody>
      </p:sp>
      <p:sp>
        <p:nvSpPr>
          <p:cNvPr id="6" name="Shape 4"/>
          <p:cNvSpPr/>
          <p:nvPr/>
        </p:nvSpPr>
        <p:spPr>
          <a:xfrm>
            <a:off x="822960" y="1234440"/>
            <a:ext cx="5303520" cy="4251960"/>
          </a:xfrm>
          <a:prstGeom prst="roundRect">
            <a:avLst>
              <a:gd name="adj" fmla="val 1075"/>
            </a:avLst>
          </a:prstGeom>
          <a:solidFill>
            <a:srgbClr val="0B1220"/>
          </a:solidFill>
          <a:ln w="12700">
            <a:solidFill>
              <a:srgbClr val="30363D"/>
            </a:solidFill>
            <a:prstDash val="solid"/>
          </a:ln>
        </p:spPr>
      </p:sp>
      <p:sp>
        <p:nvSpPr>
          <p:cNvPr id="7" name="Text 5"/>
          <p:cNvSpPr/>
          <p:nvPr/>
        </p:nvSpPr>
        <p:spPr>
          <a:xfrm>
            <a:off x="1143000" y="1618488"/>
            <a:ext cx="4572000" cy="182880"/>
          </a:xfrm>
          <a:prstGeom prst="rect">
            <a:avLst/>
          </a:prstGeom>
          <a:noFill/>
          <a:ln/>
        </p:spPr>
        <p:txBody>
          <a:bodyPr wrap="square" lIns="0" tIns="0" rIns="0" bIns="0" rtlCol="0" anchor="ctr"/>
          <a:lstStyle/>
          <a:p>
            <a:pPr indent="0" marL="0">
              <a:buNone/>
            </a:pPr>
            <a:r>
              <a:rPr lang="en-US" sz="1400" dirty="0">
                <a:solidFill>
                  <a:srgbClr val="D8B46A"/>
                </a:solidFill>
                <a:latin typeface="Consolas" pitchFamily="34" charset="0"/>
                <a:ea typeface="Consolas" pitchFamily="34" charset="-122"/>
                <a:cs typeface="Consolas" pitchFamily="34" charset="-120"/>
              </a:rPr>
              <a:t>Geological-Survey-2026</a:t>
            </a:r>
            <a:endParaRPr lang="en-US" sz="1400" dirty="0"/>
          </a:p>
        </p:txBody>
      </p:sp>
      <p:sp>
        <p:nvSpPr>
          <p:cNvPr id="8" name="Text 6"/>
          <p:cNvSpPr/>
          <p:nvPr/>
        </p:nvSpPr>
        <p:spPr>
          <a:xfrm>
            <a:off x="1143000" y="2002536"/>
            <a:ext cx="4572000" cy="182880"/>
          </a:xfrm>
          <a:prstGeom prst="rect">
            <a:avLst/>
          </a:prstGeom>
          <a:noFill/>
          <a:ln/>
        </p:spPr>
        <p:txBody>
          <a:bodyPr wrap="square" lIns="0" tIns="0" rIns="0" bIns="0" rtlCol="0" anchor="ctr"/>
          <a:lstStyle/>
          <a:p>
            <a:pPr indent="0" marL="0">
              <a:buNone/>
            </a:pPr>
            <a:r>
              <a:rPr lang="en-US" sz="1400" dirty="0">
                <a:solidFill>
                  <a:srgbClr val="E6EDF3"/>
                </a:solidFill>
                <a:latin typeface="Consolas" pitchFamily="34" charset="0"/>
                <a:ea typeface="Consolas" pitchFamily="34" charset="-122"/>
                <a:cs typeface="Consolas" pitchFamily="34" charset="-120"/>
              </a:rPr>
              <a:t>├── README.md</a:t>
            </a:r>
            <a:endParaRPr lang="en-US" sz="1400" dirty="0"/>
          </a:p>
        </p:txBody>
      </p:sp>
      <p:sp>
        <p:nvSpPr>
          <p:cNvPr id="9" name="Text 7"/>
          <p:cNvSpPr/>
          <p:nvPr/>
        </p:nvSpPr>
        <p:spPr>
          <a:xfrm>
            <a:off x="1143000" y="2386584"/>
            <a:ext cx="4572000" cy="182880"/>
          </a:xfrm>
          <a:prstGeom prst="rect">
            <a:avLst/>
          </a:prstGeom>
          <a:noFill/>
          <a:ln/>
        </p:spPr>
        <p:txBody>
          <a:bodyPr wrap="square" lIns="0" tIns="0" rIns="0" bIns="0" rtlCol="0" anchor="ctr"/>
          <a:lstStyle/>
          <a:p>
            <a:pPr indent="0" marL="0">
              <a:buNone/>
            </a:pPr>
            <a:r>
              <a:rPr lang="en-US" sz="1400" dirty="0">
                <a:solidFill>
                  <a:srgbClr val="E6EDF3"/>
                </a:solidFill>
                <a:latin typeface="Consolas" pitchFamily="34" charset="0"/>
                <a:ea typeface="Consolas" pitchFamily="34" charset="-122"/>
                <a:cs typeface="Consolas" pitchFamily="34" charset="-120"/>
              </a:rPr>
              <a:t>├── data/</a:t>
            </a:r>
            <a:endParaRPr lang="en-US" sz="1400" dirty="0"/>
          </a:p>
        </p:txBody>
      </p:sp>
      <p:sp>
        <p:nvSpPr>
          <p:cNvPr id="10" name="Text 8"/>
          <p:cNvSpPr/>
          <p:nvPr/>
        </p:nvSpPr>
        <p:spPr>
          <a:xfrm>
            <a:off x="1143000" y="2770632"/>
            <a:ext cx="4572000" cy="182880"/>
          </a:xfrm>
          <a:prstGeom prst="rect">
            <a:avLst/>
          </a:prstGeom>
          <a:noFill/>
          <a:ln/>
        </p:spPr>
        <p:txBody>
          <a:bodyPr wrap="square" lIns="0" tIns="0" rIns="0" bIns="0" rtlCol="0" anchor="ctr"/>
          <a:lstStyle/>
          <a:p>
            <a:pPr indent="0" marL="0">
              <a:buNone/>
            </a:pPr>
            <a:r>
              <a:rPr lang="en-US" sz="1400" dirty="0">
                <a:solidFill>
                  <a:srgbClr val="E6EDF3"/>
                </a:solidFill>
                <a:latin typeface="Consolas" pitchFamily="34" charset="0"/>
                <a:ea typeface="Consolas" pitchFamily="34" charset="-122"/>
                <a:cs typeface="Consolas" pitchFamily="34" charset="-120"/>
              </a:rPr>
              <a:t>│   └── rock_samples.csv</a:t>
            </a:r>
            <a:endParaRPr lang="en-US" sz="1400" dirty="0"/>
          </a:p>
        </p:txBody>
      </p:sp>
      <p:sp>
        <p:nvSpPr>
          <p:cNvPr id="11" name="Text 9"/>
          <p:cNvSpPr/>
          <p:nvPr/>
        </p:nvSpPr>
        <p:spPr>
          <a:xfrm>
            <a:off x="1143000" y="3154680"/>
            <a:ext cx="4572000" cy="182880"/>
          </a:xfrm>
          <a:prstGeom prst="rect">
            <a:avLst/>
          </a:prstGeom>
          <a:noFill/>
          <a:ln/>
        </p:spPr>
        <p:txBody>
          <a:bodyPr wrap="square" lIns="0" tIns="0" rIns="0" bIns="0" rtlCol="0" anchor="ctr"/>
          <a:lstStyle/>
          <a:p>
            <a:pPr indent="0" marL="0">
              <a:buNone/>
            </a:pPr>
            <a:r>
              <a:rPr lang="en-US" sz="1400" dirty="0">
                <a:solidFill>
                  <a:srgbClr val="E6EDF3"/>
                </a:solidFill>
                <a:latin typeface="Consolas" pitchFamily="34" charset="0"/>
                <a:ea typeface="Consolas" pitchFamily="34" charset="-122"/>
                <a:cs typeface="Consolas" pitchFamily="34" charset="-120"/>
              </a:rPr>
              <a:t>├── scripts/</a:t>
            </a:r>
            <a:endParaRPr lang="en-US" sz="1400" dirty="0"/>
          </a:p>
        </p:txBody>
      </p:sp>
      <p:sp>
        <p:nvSpPr>
          <p:cNvPr id="12" name="Text 10"/>
          <p:cNvSpPr/>
          <p:nvPr/>
        </p:nvSpPr>
        <p:spPr>
          <a:xfrm>
            <a:off x="1143000" y="3538728"/>
            <a:ext cx="4572000" cy="182880"/>
          </a:xfrm>
          <a:prstGeom prst="rect">
            <a:avLst/>
          </a:prstGeom>
          <a:noFill/>
          <a:ln/>
        </p:spPr>
        <p:txBody>
          <a:bodyPr wrap="square" lIns="0" tIns="0" rIns="0" bIns="0" rtlCol="0" anchor="ctr"/>
          <a:lstStyle/>
          <a:p>
            <a:pPr indent="0" marL="0">
              <a:buNone/>
            </a:pPr>
            <a:r>
              <a:rPr lang="en-US" sz="1400" dirty="0">
                <a:solidFill>
                  <a:srgbClr val="E6EDF3"/>
                </a:solidFill>
                <a:latin typeface="Consolas" pitchFamily="34" charset="0"/>
                <a:ea typeface="Consolas" pitchFamily="34" charset="-122"/>
                <a:cs typeface="Consolas" pitchFamily="34" charset="-120"/>
              </a:rPr>
              <a:t>│   └── analyze.py</a:t>
            </a:r>
            <a:endParaRPr lang="en-US" sz="1400" dirty="0"/>
          </a:p>
        </p:txBody>
      </p:sp>
      <p:sp>
        <p:nvSpPr>
          <p:cNvPr id="13" name="Text 11"/>
          <p:cNvSpPr/>
          <p:nvPr/>
        </p:nvSpPr>
        <p:spPr>
          <a:xfrm>
            <a:off x="1143000" y="3922776"/>
            <a:ext cx="4572000" cy="182880"/>
          </a:xfrm>
          <a:prstGeom prst="rect">
            <a:avLst/>
          </a:prstGeom>
          <a:noFill/>
          <a:ln/>
        </p:spPr>
        <p:txBody>
          <a:bodyPr wrap="square" lIns="0" tIns="0" rIns="0" bIns="0" rtlCol="0" anchor="ctr"/>
          <a:lstStyle/>
          <a:p>
            <a:pPr indent="0" marL="0">
              <a:buNone/>
            </a:pPr>
            <a:r>
              <a:rPr lang="en-US" sz="1400" dirty="0">
                <a:solidFill>
                  <a:srgbClr val="E6EDF3"/>
                </a:solidFill>
                <a:latin typeface="Consolas" pitchFamily="34" charset="0"/>
                <a:ea typeface="Consolas" pitchFamily="34" charset="-122"/>
                <a:cs typeface="Consolas" pitchFamily="34" charset="-120"/>
              </a:rPr>
              <a:t>├── reports/</a:t>
            </a:r>
            <a:endParaRPr lang="en-US" sz="1400" dirty="0"/>
          </a:p>
        </p:txBody>
      </p:sp>
      <p:sp>
        <p:nvSpPr>
          <p:cNvPr id="14" name="Text 12"/>
          <p:cNvSpPr/>
          <p:nvPr/>
        </p:nvSpPr>
        <p:spPr>
          <a:xfrm>
            <a:off x="1143000" y="4306824"/>
            <a:ext cx="4572000" cy="182880"/>
          </a:xfrm>
          <a:prstGeom prst="rect">
            <a:avLst/>
          </a:prstGeom>
          <a:noFill/>
          <a:ln/>
        </p:spPr>
        <p:txBody>
          <a:bodyPr wrap="square" lIns="0" tIns="0" rIns="0" bIns="0" rtlCol="0" anchor="ctr"/>
          <a:lstStyle/>
          <a:p>
            <a:pPr indent="0" marL="0">
              <a:buNone/>
            </a:pPr>
            <a:r>
              <a:rPr lang="en-US" sz="1400" dirty="0">
                <a:solidFill>
                  <a:srgbClr val="E6EDF3"/>
                </a:solidFill>
                <a:latin typeface="Consolas" pitchFamily="34" charset="0"/>
                <a:ea typeface="Consolas" pitchFamily="34" charset="-122"/>
                <a:cs typeface="Consolas" pitchFamily="34" charset="-120"/>
              </a:rPr>
              <a:t>│   └── report.md</a:t>
            </a:r>
            <a:endParaRPr lang="en-US" sz="1400" dirty="0"/>
          </a:p>
        </p:txBody>
      </p:sp>
      <p:sp>
        <p:nvSpPr>
          <p:cNvPr id="15" name="Text 13"/>
          <p:cNvSpPr/>
          <p:nvPr/>
        </p:nvSpPr>
        <p:spPr>
          <a:xfrm>
            <a:off x="1143000" y="4690872"/>
            <a:ext cx="4572000" cy="182880"/>
          </a:xfrm>
          <a:prstGeom prst="rect">
            <a:avLst/>
          </a:prstGeom>
          <a:noFill/>
          <a:ln/>
        </p:spPr>
        <p:txBody>
          <a:bodyPr wrap="square" lIns="0" tIns="0" rIns="0" bIns="0" rtlCol="0" anchor="ctr"/>
          <a:lstStyle/>
          <a:p>
            <a:pPr indent="0" marL="0">
              <a:buNone/>
            </a:pPr>
            <a:r>
              <a:rPr lang="en-US" sz="1400" dirty="0">
                <a:solidFill>
                  <a:srgbClr val="E6EDF3"/>
                </a:solidFill>
                <a:latin typeface="Consolas" pitchFamily="34" charset="0"/>
                <a:ea typeface="Consolas" pitchFamily="34" charset="-122"/>
                <a:cs typeface="Consolas" pitchFamily="34" charset="-120"/>
              </a:rPr>
              <a:t>└── images/</a:t>
            </a:r>
            <a:endParaRPr lang="en-US" sz="1400" dirty="0"/>
          </a:p>
        </p:txBody>
      </p:sp>
      <p:sp>
        <p:nvSpPr>
          <p:cNvPr id="16" name="Text 14"/>
          <p:cNvSpPr/>
          <p:nvPr/>
        </p:nvSpPr>
        <p:spPr>
          <a:xfrm>
            <a:off x="6400800" y="1325880"/>
            <a:ext cx="4206240" cy="320040"/>
          </a:xfrm>
          <a:prstGeom prst="rect">
            <a:avLst/>
          </a:prstGeom>
          <a:noFill/>
          <a:ln/>
        </p:spPr>
        <p:txBody>
          <a:bodyPr wrap="square" lIns="0" tIns="0" rIns="0" bIns="0" rtlCol="0" anchor="ctr"/>
          <a:lstStyle/>
          <a:p>
            <a:pPr indent="0" marL="0">
              <a:buNone/>
            </a:pPr>
            <a:r>
              <a:rPr lang="en-US" sz="2500" b="1" dirty="0">
                <a:solidFill>
                  <a:srgbClr val="F0F6FC"/>
                </a:solidFill>
              </a:rPr>
              <a:t>Each folder has a purpose.</a:t>
            </a:r>
            <a:endParaRPr lang="en-US" sz="2500" dirty="0"/>
          </a:p>
        </p:txBody>
      </p:sp>
      <p:sp>
        <p:nvSpPr>
          <p:cNvPr id="17" name="Text 15"/>
          <p:cNvSpPr/>
          <p:nvPr/>
        </p:nvSpPr>
        <p:spPr>
          <a:xfrm>
            <a:off x="6446520" y="2011680"/>
            <a:ext cx="228600" cy="228600"/>
          </a:xfrm>
          <a:prstGeom prst="rect">
            <a:avLst/>
          </a:prstGeom>
          <a:noFill/>
          <a:ln/>
        </p:spPr>
        <p:txBody>
          <a:bodyPr wrap="square" lIns="0" tIns="0" rIns="0" bIns="0" rtlCol="0" anchor="ctr"/>
          <a:lstStyle/>
          <a:p>
            <a:pPr indent="0" marL="0">
              <a:buNone/>
            </a:pPr>
            <a:r>
              <a:rPr lang="en-US" sz="1800" b="1" dirty="0">
                <a:solidFill>
                  <a:srgbClr val="2EA043"/>
                </a:solidFill>
              </a:rPr>
              <a:t>•</a:t>
            </a:r>
            <a:endParaRPr lang="en-US" sz="1800" dirty="0"/>
          </a:p>
        </p:txBody>
      </p:sp>
      <p:sp>
        <p:nvSpPr>
          <p:cNvPr id="18" name="Text 16"/>
          <p:cNvSpPr/>
          <p:nvPr/>
        </p:nvSpPr>
        <p:spPr>
          <a:xfrm>
            <a:off x="6720840" y="2011680"/>
            <a:ext cx="4206240" cy="256032"/>
          </a:xfrm>
          <a:prstGeom prst="rect">
            <a:avLst/>
          </a:prstGeom>
          <a:noFill/>
          <a:ln/>
        </p:spPr>
        <p:txBody>
          <a:bodyPr wrap="square" lIns="0" tIns="0" rIns="0" bIns="0" rtlCol="0" anchor="ctr"/>
          <a:lstStyle/>
          <a:p>
            <a:pPr indent="0" marL="0">
              <a:buNone/>
            </a:pPr>
            <a:r>
              <a:rPr lang="en-US" sz="1800" dirty="0">
                <a:solidFill>
                  <a:srgbClr val="E6EDF3"/>
                </a:solidFill>
              </a:rPr>
              <a:t>README: project overview</a:t>
            </a:r>
            <a:endParaRPr lang="en-US" sz="1800" dirty="0"/>
          </a:p>
        </p:txBody>
      </p:sp>
      <p:sp>
        <p:nvSpPr>
          <p:cNvPr id="19" name="Text 17"/>
          <p:cNvSpPr/>
          <p:nvPr/>
        </p:nvSpPr>
        <p:spPr>
          <a:xfrm>
            <a:off x="6446520" y="2514600"/>
            <a:ext cx="228600" cy="228600"/>
          </a:xfrm>
          <a:prstGeom prst="rect">
            <a:avLst/>
          </a:prstGeom>
          <a:noFill/>
          <a:ln/>
        </p:spPr>
        <p:txBody>
          <a:bodyPr wrap="square" lIns="0" tIns="0" rIns="0" bIns="0" rtlCol="0" anchor="ctr"/>
          <a:lstStyle/>
          <a:p>
            <a:pPr indent="0" marL="0">
              <a:buNone/>
            </a:pPr>
            <a:r>
              <a:rPr lang="en-US" sz="1800" b="1" dirty="0">
                <a:solidFill>
                  <a:srgbClr val="2EA043"/>
                </a:solidFill>
              </a:rPr>
              <a:t>•</a:t>
            </a:r>
            <a:endParaRPr lang="en-US" sz="1800" dirty="0"/>
          </a:p>
        </p:txBody>
      </p:sp>
      <p:sp>
        <p:nvSpPr>
          <p:cNvPr id="20" name="Text 18"/>
          <p:cNvSpPr/>
          <p:nvPr/>
        </p:nvSpPr>
        <p:spPr>
          <a:xfrm>
            <a:off x="6720840" y="2514600"/>
            <a:ext cx="4206240" cy="256032"/>
          </a:xfrm>
          <a:prstGeom prst="rect">
            <a:avLst/>
          </a:prstGeom>
          <a:noFill/>
          <a:ln/>
        </p:spPr>
        <p:txBody>
          <a:bodyPr wrap="square" lIns="0" tIns="0" rIns="0" bIns="0" rtlCol="0" anchor="ctr"/>
          <a:lstStyle/>
          <a:p>
            <a:pPr indent="0" marL="0">
              <a:buNone/>
            </a:pPr>
            <a:r>
              <a:rPr lang="en-US" sz="1800" dirty="0">
                <a:solidFill>
                  <a:srgbClr val="E6EDF3"/>
                </a:solidFill>
              </a:rPr>
              <a:t>data: scientific datasets</a:t>
            </a:r>
            <a:endParaRPr lang="en-US" sz="1800" dirty="0"/>
          </a:p>
        </p:txBody>
      </p:sp>
      <p:sp>
        <p:nvSpPr>
          <p:cNvPr id="21" name="Text 19"/>
          <p:cNvSpPr/>
          <p:nvPr/>
        </p:nvSpPr>
        <p:spPr>
          <a:xfrm>
            <a:off x="6446520" y="3017520"/>
            <a:ext cx="228600" cy="228600"/>
          </a:xfrm>
          <a:prstGeom prst="rect">
            <a:avLst/>
          </a:prstGeom>
          <a:noFill/>
          <a:ln/>
        </p:spPr>
        <p:txBody>
          <a:bodyPr wrap="square" lIns="0" tIns="0" rIns="0" bIns="0" rtlCol="0" anchor="ctr"/>
          <a:lstStyle/>
          <a:p>
            <a:pPr indent="0" marL="0">
              <a:buNone/>
            </a:pPr>
            <a:r>
              <a:rPr lang="en-US" sz="1800" b="1" dirty="0">
                <a:solidFill>
                  <a:srgbClr val="2EA043"/>
                </a:solidFill>
              </a:rPr>
              <a:t>•</a:t>
            </a:r>
            <a:endParaRPr lang="en-US" sz="1800" dirty="0"/>
          </a:p>
        </p:txBody>
      </p:sp>
      <p:sp>
        <p:nvSpPr>
          <p:cNvPr id="22" name="Text 20"/>
          <p:cNvSpPr/>
          <p:nvPr/>
        </p:nvSpPr>
        <p:spPr>
          <a:xfrm>
            <a:off x="6720840" y="3017520"/>
            <a:ext cx="4206240" cy="256032"/>
          </a:xfrm>
          <a:prstGeom prst="rect">
            <a:avLst/>
          </a:prstGeom>
          <a:noFill/>
          <a:ln/>
        </p:spPr>
        <p:txBody>
          <a:bodyPr wrap="square" lIns="0" tIns="0" rIns="0" bIns="0" rtlCol="0" anchor="ctr"/>
          <a:lstStyle/>
          <a:p>
            <a:pPr indent="0" marL="0">
              <a:buNone/>
            </a:pPr>
            <a:r>
              <a:rPr lang="en-US" sz="1800" dirty="0">
                <a:solidFill>
                  <a:srgbClr val="E6EDF3"/>
                </a:solidFill>
              </a:rPr>
              <a:t>scripts: optional analysis tools</a:t>
            </a:r>
            <a:endParaRPr lang="en-US" sz="1800" dirty="0"/>
          </a:p>
        </p:txBody>
      </p:sp>
      <p:sp>
        <p:nvSpPr>
          <p:cNvPr id="23" name="Text 21"/>
          <p:cNvSpPr/>
          <p:nvPr/>
        </p:nvSpPr>
        <p:spPr>
          <a:xfrm>
            <a:off x="6446520" y="3520440"/>
            <a:ext cx="228600" cy="228600"/>
          </a:xfrm>
          <a:prstGeom prst="rect">
            <a:avLst/>
          </a:prstGeom>
          <a:noFill/>
          <a:ln/>
        </p:spPr>
        <p:txBody>
          <a:bodyPr wrap="square" lIns="0" tIns="0" rIns="0" bIns="0" rtlCol="0" anchor="ctr"/>
          <a:lstStyle/>
          <a:p>
            <a:pPr indent="0" marL="0">
              <a:buNone/>
            </a:pPr>
            <a:r>
              <a:rPr lang="en-US" sz="1800" b="1" dirty="0">
                <a:solidFill>
                  <a:srgbClr val="2EA043"/>
                </a:solidFill>
              </a:rPr>
              <a:t>•</a:t>
            </a:r>
            <a:endParaRPr lang="en-US" sz="1800" dirty="0"/>
          </a:p>
        </p:txBody>
      </p:sp>
      <p:sp>
        <p:nvSpPr>
          <p:cNvPr id="24" name="Text 22"/>
          <p:cNvSpPr/>
          <p:nvPr/>
        </p:nvSpPr>
        <p:spPr>
          <a:xfrm>
            <a:off x="6720840" y="3520440"/>
            <a:ext cx="4206240" cy="256032"/>
          </a:xfrm>
          <a:prstGeom prst="rect">
            <a:avLst/>
          </a:prstGeom>
          <a:noFill/>
          <a:ln/>
        </p:spPr>
        <p:txBody>
          <a:bodyPr wrap="square" lIns="0" tIns="0" rIns="0" bIns="0" rtlCol="0" anchor="ctr"/>
          <a:lstStyle/>
          <a:p>
            <a:pPr indent="0" marL="0">
              <a:buNone/>
            </a:pPr>
            <a:r>
              <a:rPr lang="en-US" sz="1800" dirty="0">
                <a:solidFill>
                  <a:srgbClr val="E6EDF3"/>
                </a:solidFill>
              </a:rPr>
              <a:t>reports: research writing</a:t>
            </a:r>
            <a:endParaRPr lang="en-US" sz="1800" dirty="0"/>
          </a:p>
        </p:txBody>
      </p:sp>
      <p:sp>
        <p:nvSpPr>
          <p:cNvPr id="25" name="Text 23"/>
          <p:cNvSpPr/>
          <p:nvPr/>
        </p:nvSpPr>
        <p:spPr>
          <a:xfrm>
            <a:off x="6446520" y="4023360"/>
            <a:ext cx="228600" cy="228600"/>
          </a:xfrm>
          <a:prstGeom prst="rect">
            <a:avLst/>
          </a:prstGeom>
          <a:noFill/>
          <a:ln/>
        </p:spPr>
        <p:txBody>
          <a:bodyPr wrap="square" lIns="0" tIns="0" rIns="0" bIns="0" rtlCol="0" anchor="ctr"/>
          <a:lstStyle/>
          <a:p>
            <a:pPr indent="0" marL="0">
              <a:buNone/>
            </a:pPr>
            <a:r>
              <a:rPr lang="en-US" sz="1800" b="1" dirty="0">
                <a:solidFill>
                  <a:srgbClr val="2EA043"/>
                </a:solidFill>
              </a:rPr>
              <a:t>•</a:t>
            </a:r>
            <a:endParaRPr lang="en-US" sz="1800" dirty="0"/>
          </a:p>
        </p:txBody>
      </p:sp>
      <p:sp>
        <p:nvSpPr>
          <p:cNvPr id="26" name="Text 24"/>
          <p:cNvSpPr/>
          <p:nvPr/>
        </p:nvSpPr>
        <p:spPr>
          <a:xfrm>
            <a:off x="6720840" y="4023360"/>
            <a:ext cx="4206240" cy="256032"/>
          </a:xfrm>
          <a:prstGeom prst="rect">
            <a:avLst/>
          </a:prstGeom>
          <a:noFill/>
          <a:ln/>
        </p:spPr>
        <p:txBody>
          <a:bodyPr wrap="square" lIns="0" tIns="0" rIns="0" bIns="0" rtlCol="0" anchor="ctr"/>
          <a:lstStyle/>
          <a:p>
            <a:pPr indent="0" marL="0">
              <a:buNone/>
            </a:pPr>
            <a:r>
              <a:rPr lang="en-US" sz="1800" dirty="0">
                <a:solidFill>
                  <a:srgbClr val="E6EDF3"/>
                </a:solidFill>
              </a:rPr>
              <a:t>images: field photos and figures</a:t>
            </a:r>
            <a:endParaRPr lang="en-US" sz="1800" dirty="0"/>
          </a:p>
        </p:txBody>
      </p:sp>
      <p:sp>
        <p:nvSpPr>
          <p:cNvPr id="27" name="Text 25"/>
          <p:cNvSpPr/>
          <p:nvPr/>
        </p:nvSpPr>
        <p:spPr>
          <a:xfrm>
            <a:off x="11292840" y="6464808"/>
            <a:ext cx="411480" cy="164592"/>
          </a:xfrm>
          <a:prstGeom prst="rect">
            <a:avLst/>
          </a:prstGeom>
          <a:noFill/>
          <a:ln/>
        </p:spPr>
        <p:txBody>
          <a:bodyPr wrap="square" lIns="0" tIns="0" rIns="0" bIns="0" rtlCol="0" anchor="ctr"/>
          <a:lstStyle/>
          <a:p>
            <a:pPr indent="0" marL="0">
              <a:buNone/>
            </a:pPr>
            <a:r>
              <a:rPr lang="en-US" sz="800" dirty="0">
                <a:solidFill>
                  <a:srgbClr val="8B949E"/>
                </a:solidFill>
              </a:rPr>
              <a:t>6/15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117"/>
          </a:solidFill>
          <a:ln w="12700">
            <a:solidFill>
              <a:srgbClr val="0D1117"/>
            </a:solidFill>
            <a:prstDash val="solid"/>
          </a:ln>
        </p:spPr>
      </p:sp>
      <p:sp>
        <p:nvSpPr>
          <p:cNvPr id="3" name="Shape 1"/>
          <p:cNvSpPr/>
          <p:nvPr/>
        </p:nvSpPr>
        <p:spPr>
          <a:xfrm>
            <a:off x="0" y="0"/>
            <a:ext cx="12191695" cy="109728"/>
          </a:xfrm>
          <a:prstGeom prst="rect">
            <a:avLst/>
          </a:prstGeom>
          <a:solidFill>
            <a:srgbClr val="2EA043"/>
          </a:solidFill>
          <a:ln w="12700">
            <a:solidFill>
              <a:srgbClr val="2EA043"/>
            </a:solidFill>
            <a:prstDash val="solid"/>
          </a:ln>
        </p:spPr>
      </p:sp>
      <p:sp>
        <p:nvSpPr>
          <p:cNvPr id="4" name="Text 2"/>
          <p:cNvSpPr/>
          <p:nvPr/>
        </p:nvSpPr>
        <p:spPr>
          <a:xfrm>
            <a:off x="502920" y="292608"/>
            <a:ext cx="7772400" cy="438912"/>
          </a:xfrm>
          <a:prstGeom prst="rect">
            <a:avLst/>
          </a:prstGeom>
          <a:noFill/>
          <a:ln/>
        </p:spPr>
        <p:txBody>
          <a:bodyPr wrap="square" lIns="0" tIns="0" rIns="0" bIns="0" rtlCol="0" anchor="ctr"/>
          <a:lstStyle/>
          <a:p>
            <a:pPr indent="0" marL="0">
              <a:buNone/>
            </a:pPr>
            <a:r>
              <a:rPr lang="en-US" sz="2600" b="1" dirty="0">
                <a:solidFill>
                  <a:srgbClr val="F0F6FC"/>
                </a:solidFill>
                <a:latin typeface="Aptos Display" pitchFamily="34" charset="0"/>
                <a:ea typeface="Aptos Display" pitchFamily="34" charset="-122"/>
                <a:cs typeface="Aptos Display" pitchFamily="34" charset="-120"/>
              </a:rPr>
              <a:t>Managing Geological Data</a:t>
            </a:r>
            <a:endParaRPr lang="en-US" sz="2600" dirty="0"/>
          </a:p>
        </p:txBody>
      </p:sp>
      <p:sp>
        <p:nvSpPr>
          <p:cNvPr id="5" name="Text 3"/>
          <p:cNvSpPr/>
          <p:nvPr/>
        </p:nvSpPr>
        <p:spPr>
          <a:xfrm>
            <a:off x="9326880" y="347472"/>
            <a:ext cx="2240280" cy="228600"/>
          </a:xfrm>
          <a:prstGeom prst="rect">
            <a:avLst/>
          </a:prstGeom>
          <a:noFill/>
          <a:ln/>
        </p:spPr>
        <p:txBody>
          <a:bodyPr wrap="square" lIns="0" tIns="0" rIns="0" bIns="0" rtlCol="0" anchor="ctr"/>
          <a:lstStyle/>
          <a:p>
            <a:pPr algn="r" indent="0" marL="0">
              <a:buNone/>
            </a:pPr>
            <a:r>
              <a:rPr lang="en-US" sz="800" dirty="0">
                <a:solidFill>
                  <a:srgbClr val="8B949E"/>
                </a:solidFill>
              </a:rPr>
              <a:t>GitHub for Geological Research</a:t>
            </a:r>
            <a:endParaRPr lang="en-US" sz="800" dirty="0"/>
          </a:p>
        </p:txBody>
      </p:sp>
      <p:sp>
        <p:nvSpPr>
          <p:cNvPr id="6" name="Shape 4"/>
          <p:cNvSpPr/>
          <p:nvPr/>
        </p:nvSpPr>
        <p:spPr>
          <a:xfrm>
            <a:off x="822960" y="1325880"/>
            <a:ext cx="1143000" cy="393192"/>
          </a:xfrm>
          <a:prstGeom prst="rect">
            <a:avLst/>
          </a:prstGeom>
          <a:solidFill>
            <a:srgbClr val="2F81F7"/>
          </a:solidFill>
          <a:ln w="12700">
            <a:solidFill>
              <a:srgbClr val="30363D"/>
            </a:solidFill>
            <a:prstDash val="solid"/>
          </a:ln>
        </p:spPr>
      </p:sp>
      <p:sp>
        <p:nvSpPr>
          <p:cNvPr id="7" name="Text 5"/>
          <p:cNvSpPr/>
          <p:nvPr/>
        </p:nvSpPr>
        <p:spPr>
          <a:xfrm>
            <a:off x="868680" y="1444752"/>
            <a:ext cx="1051560" cy="91440"/>
          </a:xfrm>
          <a:prstGeom prst="rect">
            <a:avLst/>
          </a:prstGeom>
          <a:noFill/>
          <a:ln/>
        </p:spPr>
        <p:txBody>
          <a:bodyPr wrap="square" lIns="0" tIns="0" rIns="0" bIns="0" rtlCol="0" anchor="ctr"/>
          <a:lstStyle/>
          <a:p>
            <a:pPr algn="ctr" indent="0" marL="0">
              <a:buNone/>
            </a:pPr>
            <a:r>
              <a:rPr lang="en-US" sz="1000" b="1" dirty="0">
                <a:solidFill>
                  <a:srgbClr val="FFFFFF"/>
                </a:solidFill>
              </a:rPr>
              <a:t>Sample_ID</a:t>
            </a:r>
            <a:endParaRPr lang="en-US" sz="1000" dirty="0"/>
          </a:p>
        </p:txBody>
      </p:sp>
      <p:sp>
        <p:nvSpPr>
          <p:cNvPr id="8" name="Shape 6"/>
          <p:cNvSpPr/>
          <p:nvPr/>
        </p:nvSpPr>
        <p:spPr>
          <a:xfrm>
            <a:off x="1965960" y="1325880"/>
            <a:ext cx="1325880" cy="393192"/>
          </a:xfrm>
          <a:prstGeom prst="rect">
            <a:avLst/>
          </a:prstGeom>
          <a:solidFill>
            <a:srgbClr val="2F81F7"/>
          </a:solidFill>
          <a:ln w="12700">
            <a:solidFill>
              <a:srgbClr val="30363D"/>
            </a:solidFill>
            <a:prstDash val="solid"/>
          </a:ln>
        </p:spPr>
      </p:sp>
      <p:sp>
        <p:nvSpPr>
          <p:cNvPr id="9" name="Text 7"/>
          <p:cNvSpPr/>
          <p:nvPr/>
        </p:nvSpPr>
        <p:spPr>
          <a:xfrm>
            <a:off x="2011680" y="1444752"/>
            <a:ext cx="1234440" cy="91440"/>
          </a:xfrm>
          <a:prstGeom prst="rect">
            <a:avLst/>
          </a:prstGeom>
          <a:noFill/>
          <a:ln/>
        </p:spPr>
        <p:txBody>
          <a:bodyPr wrap="square" lIns="0" tIns="0" rIns="0" bIns="0" rtlCol="0" anchor="ctr"/>
          <a:lstStyle/>
          <a:p>
            <a:pPr algn="ctr" indent="0" marL="0">
              <a:buNone/>
            </a:pPr>
            <a:r>
              <a:rPr lang="en-US" sz="1000" b="1" dirty="0">
                <a:solidFill>
                  <a:srgbClr val="FFFFFF"/>
                </a:solidFill>
              </a:rPr>
              <a:t>Location</a:t>
            </a:r>
            <a:endParaRPr lang="en-US" sz="1000" dirty="0"/>
          </a:p>
        </p:txBody>
      </p:sp>
      <p:sp>
        <p:nvSpPr>
          <p:cNvPr id="10" name="Shape 8"/>
          <p:cNvSpPr/>
          <p:nvPr/>
        </p:nvSpPr>
        <p:spPr>
          <a:xfrm>
            <a:off x="3291840" y="1325880"/>
            <a:ext cx="1417320" cy="393192"/>
          </a:xfrm>
          <a:prstGeom prst="rect">
            <a:avLst/>
          </a:prstGeom>
          <a:solidFill>
            <a:srgbClr val="2F81F7"/>
          </a:solidFill>
          <a:ln w="12700">
            <a:solidFill>
              <a:srgbClr val="30363D"/>
            </a:solidFill>
            <a:prstDash val="solid"/>
          </a:ln>
        </p:spPr>
      </p:sp>
      <p:sp>
        <p:nvSpPr>
          <p:cNvPr id="11" name="Text 9"/>
          <p:cNvSpPr/>
          <p:nvPr/>
        </p:nvSpPr>
        <p:spPr>
          <a:xfrm>
            <a:off x="3337560" y="1444752"/>
            <a:ext cx="1325880" cy="91440"/>
          </a:xfrm>
          <a:prstGeom prst="rect">
            <a:avLst/>
          </a:prstGeom>
          <a:noFill/>
          <a:ln/>
        </p:spPr>
        <p:txBody>
          <a:bodyPr wrap="square" lIns="0" tIns="0" rIns="0" bIns="0" rtlCol="0" anchor="ctr"/>
          <a:lstStyle/>
          <a:p>
            <a:pPr algn="ctr" indent="0" marL="0">
              <a:buNone/>
            </a:pPr>
            <a:r>
              <a:rPr lang="en-US" sz="1000" b="1" dirty="0">
                <a:solidFill>
                  <a:srgbClr val="FFFFFF"/>
                </a:solidFill>
              </a:rPr>
              <a:t>Rock_Type</a:t>
            </a:r>
            <a:endParaRPr lang="en-US" sz="1000" dirty="0"/>
          </a:p>
        </p:txBody>
      </p:sp>
      <p:sp>
        <p:nvSpPr>
          <p:cNvPr id="12" name="Shape 10"/>
          <p:cNvSpPr/>
          <p:nvPr/>
        </p:nvSpPr>
        <p:spPr>
          <a:xfrm>
            <a:off x="4709160" y="1325880"/>
            <a:ext cx="1143000" cy="393192"/>
          </a:xfrm>
          <a:prstGeom prst="rect">
            <a:avLst/>
          </a:prstGeom>
          <a:solidFill>
            <a:srgbClr val="2F81F7"/>
          </a:solidFill>
          <a:ln w="12700">
            <a:solidFill>
              <a:srgbClr val="30363D"/>
            </a:solidFill>
            <a:prstDash val="solid"/>
          </a:ln>
        </p:spPr>
      </p:sp>
      <p:sp>
        <p:nvSpPr>
          <p:cNvPr id="13" name="Text 11"/>
          <p:cNvSpPr/>
          <p:nvPr/>
        </p:nvSpPr>
        <p:spPr>
          <a:xfrm>
            <a:off x="4754880" y="1444752"/>
            <a:ext cx="1051560" cy="91440"/>
          </a:xfrm>
          <a:prstGeom prst="rect">
            <a:avLst/>
          </a:prstGeom>
          <a:noFill/>
          <a:ln/>
        </p:spPr>
        <p:txBody>
          <a:bodyPr wrap="square" lIns="0" tIns="0" rIns="0" bIns="0" rtlCol="0" anchor="ctr"/>
          <a:lstStyle/>
          <a:p>
            <a:pPr algn="ctr" indent="0" marL="0">
              <a:buNone/>
            </a:pPr>
            <a:r>
              <a:rPr lang="en-US" sz="1000" b="1" dirty="0">
                <a:solidFill>
                  <a:srgbClr val="FFFFFF"/>
                </a:solidFill>
              </a:rPr>
              <a:t>Hardness</a:t>
            </a:r>
            <a:endParaRPr lang="en-US" sz="1000" dirty="0"/>
          </a:p>
        </p:txBody>
      </p:sp>
      <p:sp>
        <p:nvSpPr>
          <p:cNvPr id="14" name="Shape 12"/>
          <p:cNvSpPr/>
          <p:nvPr/>
        </p:nvSpPr>
        <p:spPr>
          <a:xfrm>
            <a:off x="5852160" y="1325880"/>
            <a:ext cx="1051560" cy="393192"/>
          </a:xfrm>
          <a:prstGeom prst="rect">
            <a:avLst/>
          </a:prstGeom>
          <a:solidFill>
            <a:srgbClr val="2F81F7"/>
          </a:solidFill>
          <a:ln w="12700">
            <a:solidFill>
              <a:srgbClr val="30363D"/>
            </a:solidFill>
            <a:prstDash val="solid"/>
          </a:ln>
        </p:spPr>
      </p:sp>
      <p:sp>
        <p:nvSpPr>
          <p:cNvPr id="15" name="Text 13"/>
          <p:cNvSpPr/>
          <p:nvPr/>
        </p:nvSpPr>
        <p:spPr>
          <a:xfrm>
            <a:off x="5897880" y="1444752"/>
            <a:ext cx="960120" cy="91440"/>
          </a:xfrm>
          <a:prstGeom prst="rect">
            <a:avLst/>
          </a:prstGeom>
          <a:noFill/>
          <a:ln/>
        </p:spPr>
        <p:txBody>
          <a:bodyPr wrap="square" lIns="0" tIns="0" rIns="0" bIns="0" rtlCol="0" anchor="ctr"/>
          <a:lstStyle/>
          <a:p>
            <a:pPr algn="ctr" indent="0" marL="0">
              <a:buNone/>
            </a:pPr>
            <a:r>
              <a:rPr lang="en-US" sz="1000" b="1" dirty="0">
                <a:solidFill>
                  <a:srgbClr val="FFFFFF"/>
                </a:solidFill>
              </a:rPr>
              <a:t>Density</a:t>
            </a:r>
            <a:endParaRPr lang="en-US" sz="1000" dirty="0"/>
          </a:p>
        </p:txBody>
      </p:sp>
      <p:sp>
        <p:nvSpPr>
          <p:cNvPr id="16" name="Shape 14"/>
          <p:cNvSpPr/>
          <p:nvPr/>
        </p:nvSpPr>
        <p:spPr>
          <a:xfrm>
            <a:off x="822960" y="1719072"/>
            <a:ext cx="1143000" cy="393192"/>
          </a:xfrm>
          <a:prstGeom prst="rect">
            <a:avLst/>
          </a:prstGeom>
          <a:solidFill>
            <a:srgbClr val="161B22"/>
          </a:solidFill>
          <a:ln w="12700">
            <a:solidFill>
              <a:srgbClr val="30363D"/>
            </a:solidFill>
            <a:prstDash val="solid"/>
          </a:ln>
        </p:spPr>
      </p:sp>
      <p:sp>
        <p:nvSpPr>
          <p:cNvPr id="17" name="Text 15"/>
          <p:cNvSpPr/>
          <p:nvPr/>
        </p:nvSpPr>
        <p:spPr>
          <a:xfrm>
            <a:off x="868680" y="1837944"/>
            <a:ext cx="1051560" cy="91440"/>
          </a:xfrm>
          <a:prstGeom prst="rect">
            <a:avLst/>
          </a:prstGeom>
          <a:noFill/>
          <a:ln/>
        </p:spPr>
        <p:txBody>
          <a:bodyPr wrap="square" lIns="0" tIns="0" rIns="0" bIns="0" rtlCol="0" anchor="ctr"/>
          <a:lstStyle/>
          <a:p>
            <a:pPr algn="ctr" indent="0" marL="0">
              <a:buNone/>
            </a:pPr>
            <a:r>
              <a:rPr lang="en-US" sz="1000" dirty="0">
                <a:solidFill>
                  <a:srgbClr val="F0F6FC"/>
                </a:solidFill>
              </a:rPr>
              <a:t>RS-001</a:t>
            </a:r>
            <a:endParaRPr lang="en-US" sz="1000" dirty="0"/>
          </a:p>
        </p:txBody>
      </p:sp>
      <p:sp>
        <p:nvSpPr>
          <p:cNvPr id="18" name="Shape 16"/>
          <p:cNvSpPr/>
          <p:nvPr/>
        </p:nvSpPr>
        <p:spPr>
          <a:xfrm>
            <a:off x="1965960" y="1719072"/>
            <a:ext cx="1325880" cy="393192"/>
          </a:xfrm>
          <a:prstGeom prst="rect">
            <a:avLst/>
          </a:prstGeom>
          <a:solidFill>
            <a:srgbClr val="161B22"/>
          </a:solidFill>
          <a:ln w="12700">
            <a:solidFill>
              <a:srgbClr val="30363D"/>
            </a:solidFill>
            <a:prstDash val="solid"/>
          </a:ln>
        </p:spPr>
      </p:sp>
      <p:sp>
        <p:nvSpPr>
          <p:cNvPr id="19" name="Text 17"/>
          <p:cNvSpPr/>
          <p:nvPr/>
        </p:nvSpPr>
        <p:spPr>
          <a:xfrm>
            <a:off x="2011680" y="1837944"/>
            <a:ext cx="1234440" cy="91440"/>
          </a:xfrm>
          <a:prstGeom prst="rect">
            <a:avLst/>
          </a:prstGeom>
          <a:noFill/>
          <a:ln/>
        </p:spPr>
        <p:txBody>
          <a:bodyPr wrap="square" lIns="0" tIns="0" rIns="0" bIns="0" rtlCol="0" anchor="ctr"/>
          <a:lstStyle/>
          <a:p>
            <a:pPr algn="ctr" indent="0" marL="0">
              <a:buNone/>
            </a:pPr>
            <a:r>
              <a:rPr lang="en-US" sz="1000" dirty="0">
                <a:solidFill>
                  <a:srgbClr val="F0F6FC"/>
                </a:solidFill>
              </a:rPr>
              <a:t>Dhangadhi</a:t>
            </a:r>
            <a:endParaRPr lang="en-US" sz="1000" dirty="0"/>
          </a:p>
        </p:txBody>
      </p:sp>
      <p:sp>
        <p:nvSpPr>
          <p:cNvPr id="20" name="Shape 18"/>
          <p:cNvSpPr/>
          <p:nvPr/>
        </p:nvSpPr>
        <p:spPr>
          <a:xfrm>
            <a:off x="3291840" y="1719072"/>
            <a:ext cx="1417320" cy="393192"/>
          </a:xfrm>
          <a:prstGeom prst="rect">
            <a:avLst/>
          </a:prstGeom>
          <a:solidFill>
            <a:srgbClr val="161B22"/>
          </a:solidFill>
          <a:ln w="12700">
            <a:solidFill>
              <a:srgbClr val="30363D"/>
            </a:solidFill>
            <a:prstDash val="solid"/>
          </a:ln>
        </p:spPr>
      </p:sp>
      <p:sp>
        <p:nvSpPr>
          <p:cNvPr id="21" name="Text 19"/>
          <p:cNvSpPr/>
          <p:nvPr/>
        </p:nvSpPr>
        <p:spPr>
          <a:xfrm>
            <a:off x="3337560" y="1837944"/>
            <a:ext cx="1325880" cy="91440"/>
          </a:xfrm>
          <a:prstGeom prst="rect">
            <a:avLst/>
          </a:prstGeom>
          <a:noFill/>
          <a:ln/>
        </p:spPr>
        <p:txBody>
          <a:bodyPr wrap="square" lIns="0" tIns="0" rIns="0" bIns="0" rtlCol="0" anchor="ctr"/>
          <a:lstStyle/>
          <a:p>
            <a:pPr algn="ctr" indent="0" marL="0">
              <a:buNone/>
            </a:pPr>
            <a:r>
              <a:rPr lang="en-US" sz="1000" dirty="0">
                <a:solidFill>
                  <a:srgbClr val="F0F6FC"/>
                </a:solidFill>
              </a:rPr>
              <a:t>Sandstone</a:t>
            </a:r>
            <a:endParaRPr lang="en-US" sz="1000" dirty="0"/>
          </a:p>
        </p:txBody>
      </p:sp>
      <p:sp>
        <p:nvSpPr>
          <p:cNvPr id="22" name="Shape 20"/>
          <p:cNvSpPr/>
          <p:nvPr/>
        </p:nvSpPr>
        <p:spPr>
          <a:xfrm>
            <a:off x="4709160" y="1719072"/>
            <a:ext cx="1143000" cy="393192"/>
          </a:xfrm>
          <a:prstGeom prst="rect">
            <a:avLst/>
          </a:prstGeom>
          <a:solidFill>
            <a:srgbClr val="161B22"/>
          </a:solidFill>
          <a:ln w="12700">
            <a:solidFill>
              <a:srgbClr val="30363D"/>
            </a:solidFill>
            <a:prstDash val="solid"/>
          </a:ln>
        </p:spPr>
      </p:sp>
      <p:sp>
        <p:nvSpPr>
          <p:cNvPr id="23" name="Text 21"/>
          <p:cNvSpPr/>
          <p:nvPr/>
        </p:nvSpPr>
        <p:spPr>
          <a:xfrm>
            <a:off x="4754880" y="1837944"/>
            <a:ext cx="1051560" cy="91440"/>
          </a:xfrm>
          <a:prstGeom prst="rect">
            <a:avLst/>
          </a:prstGeom>
          <a:noFill/>
          <a:ln/>
        </p:spPr>
        <p:txBody>
          <a:bodyPr wrap="square" lIns="0" tIns="0" rIns="0" bIns="0" rtlCol="0" anchor="ctr"/>
          <a:lstStyle/>
          <a:p>
            <a:pPr algn="ctr" indent="0" marL="0">
              <a:buNone/>
            </a:pPr>
            <a:r>
              <a:rPr lang="en-US" sz="1000" dirty="0">
                <a:solidFill>
                  <a:srgbClr val="F0F6FC"/>
                </a:solidFill>
              </a:rPr>
              <a:t>5</a:t>
            </a:r>
            <a:endParaRPr lang="en-US" sz="1000" dirty="0"/>
          </a:p>
        </p:txBody>
      </p:sp>
      <p:sp>
        <p:nvSpPr>
          <p:cNvPr id="24" name="Shape 22"/>
          <p:cNvSpPr/>
          <p:nvPr/>
        </p:nvSpPr>
        <p:spPr>
          <a:xfrm>
            <a:off x="5852160" y="1719072"/>
            <a:ext cx="1051560" cy="393192"/>
          </a:xfrm>
          <a:prstGeom prst="rect">
            <a:avLst/>
          </a:prstGeom>
          <a:solidFill>
            <a:srgbClr val="161B22"/>
          </a:solidFill>
          <a:ln w="12700">
            <a:solidFill>
              <a:srgbClr val="30363D"/>
            </a:solidFill>
            <a:prstDash val="solid"/>
          </a:ln>
        </p:spPr>
      </p:sp>
      <p:sp>
        <p:nvSpPr>
          <p:cNvPr id="25" name="Text 23"/>
          <p:cNvSpPr/>
          <p:nvPr/>
        </p:nvSpPr>
        <p:spPr>
          <a:xfrm>
            <a:off x="5897880" y="1837944"/>
            <a:ext cx="960120" cy="91440"/>
          </a:xfrm>
          <a:prstGeom prst="rect">
            <a:avLst/>
          </a:prstGeom>
          <a:noFill/>
          <a:ln/>
        </p:spPr>
        <p:txBody>
          <a:bodyPr wrap="square" lIns="0" tIns="0" rIns="0" bIns="0" rtlCol="0" anchor="ctr"/>
          <a:lstStyle/>
          <a:p>
            <a:pPr algn="ctr" indent="0" marL="0">
              <a:buNone/>
            </a:pPr>
            <a:r>
              <a:rPr lang="en-US" sz="1000" dirty="0">
                <a:solidFill>
                  <a:srgbClr val="F0F6FC"/>
                </a:solidFill>
              </a:rPr>
              <a:t>2.35</a:t>
            </a:r>
            <a:endParaRPr lang="en-US" sz="1000" dirty="0"/>
          </a:p>
        </p:txBody>
      </p:sp>
      <p:sp>
        <p:nvSpPr>
          <p:cNvPr id="26" name="Shape 24"/>
          <p:cNvSpPr/>
          <p:nvPr/>
        </p:nvSpPr>
        <p:spPr>
          <a:xfrm>
            <a:off x="822960" y="2112264"/>
            <a:ext cx="1143000" cy="393192"/>
          </a:xfrm>
          <a:prstGeom prst="rect">
            <a:avLst/>
          </a:prstGeom>
          <a:solidFill>
            <a:srgbClr val="161B22"/>
          </a:solidFill>
          <a:ln w="12700">
            <a:solidFill>
              <a:srgbClr val="30363D"/>
            </a:solidFill>
            <a:prstDash val="solid"/>
          </a:ln>
        </p:spPr>
      </p:sp>
      <p:sp>
        <p:nvSpPr>
          <p:cNvPr id="27" name="Text 25"/>
          <p:cNvSpPr/>
          <p:nvPr/>
        </p:nvSpPr>
        <p:spPr>
          <a:xfrm>
            <a:off x="868680" y="2231136"/>
            <a:ext cx="1051560" cy="91440"/>
          </a:xfrm>
          <a:prstGeom prst="rect">
            <a:avLst/>
          </a:prstGeom>
          <a:noFill/>
          <a:ln/>
        </p:spPr>
        <p:txBody>
          <a:bodyPr wrap="square" lIns="0" tIns="0" rIns="0" bIns="0" rtlCol="0" anchor="ctr"/>
          <a:lstStyle/>
          <a:p>
            <a:pPr algn="ctr" indent="0" marL="0">
              <a:buNone/>
            </a:pPr>
            <a:r>
              <a:rPr lang="en-US" sz="1000" dirty="0">
                <a:solidFill>
                  <a:srgbClr val="F0F6FC"/>
                </a:solidFill>
              </a:rPr>
              <a:t>RS-002</a:t>
            </a:r>
            <a:endParaRPr lang="en-US" sz="1000" dirty="0"/>
          </a:p>
        </p:txBody>
      </p:sp>
      <p:sp>
        <p:nvSpPr>
          <p:cNvPr id="28" name="Shape 26"/>
          <p:cNvSpPr/>
          <p:nvPr/>
        </p:nvSpPr>
        <p:spPr>
          <a:xfrm>
            <a:off x="1965960" y="2112264"/>
            <a:ext cx="1325880" cy="393192"/>
          </a:xfrm>
          <a:prstGeom prst="rect">
            <a:avLst/>
          </a:prstGeom>
          <a:solidFill>
            <a:srgbClr val="161B22"/>
          </a:solidFill>
          <a:ln w="12700">
            <a:solidFill>
              <a:srgbClr val="30363D"/>
            </a:solidFill>
            <a:prstDash val="solid"/>
          </a:ln>
        </p:spPr>
      </p:sp>
      <p:sp>
        <p:nvSpPr>
          <p:cNvPr id="29" name="Text 27"/>
          <p:cNvSpPr/>
          <p:nvPr/>
        </p:nvSpPr>
        <p:spPr>
          <a:xfrm>
            <a:off x="2011680" y="2231136"/>
            <a:ext cx="1234440" cy="91440"/>
          </a:xfrm>
          <a:prstGeom prst="rect">
            <a:avLst/>
          </a:prstGeom>
          <a:noFill/>
          <a:ln/>
        </p:spPr>
        <p:txBody>
          <a:bodyPr wrap="square" lIns="0" tIns="0" rIns="0" bIns="0" rtlCol="0" anchor="ctr"/>
          <a:lstStyle/>
          <a:p>
            <a:pPr algn="ctr" indent="0" marL="0">
              <a:buNone/>
            </a:pPr>
            <a:r>
              <a:rPr lang="en-US" sz="1000" dirty="0">
                <a:solidFill>
                  <a:srgbClr val="F0F6FC"/>
                </a:solidFill>
              </a:rPr>
              <a:t>Kailali</a:t>
            </a:r>
            <a:endParaRPr lang="en-US" sz="1000" dirty="0"/>
          </a:p>
        </p:txBody>
      </p:sp>
      <p:sp>
        <p:nvSpPr>
          <p:cNvPr id="30" name="Shape 28"/>
          <p:cNvSpPr/>
          <p:nvPr/>
        </p:nvSpPr>
        <p:spPr>
          <a:xfrm>
            <a:off x="3291840" y="2112264"/>
            <a:ext cx="1417320" cy="393192"/>
          </a:xfrm>
          <a:prstGeom prst="rect">
            <a:avLst/>
          </a:prstGeom>
          <a:solidFill>
            <a:srgbClr val="161B22"/>
          </a:solidFill>
          <a:ln w="12700">
            <a:solidFill>
              <a:srgbClr val="30363D"/>
            </a:solidFill>
            <a:prstDash val="solid"/>
          </a:ln>
        </p:spPr>
      </p:sp>
      <p:sp>
        <p:nvSpPr>
          <p:cNvPr id="31" name="Text 29"/>
          <p:cNvSpPr/>
          <p:nvPr/>
        </p:nvSpPr>
        <p:spPr>
          <a:xfrm>
            <a:off x="3337560" y="2231136"/>
            <a:ext cx="1325880" cy="91440"/>
          </a:xfrm>
          <a:prstGeom prst="rect">
            <a:avLst/>
          </a:prstGeom>
          <a:noFill/>
          <a:ln/>
        </p:spPr>
        <p:txBody>
          <a:bodyPr wrap="square" lIns="0" tIns="0" rIns="0" bIns="0" rtlCol="0" anchor="ctr"/>
          <a:lstStyle/>
          <a:p>
            <a:pPr algn="ctr" indent="0" marL="0">
              <a:buNone/>
            </a:pPr>
            <a:r>
              <a:rPr lang="en-US" sz="1000" dirty="0">
                <a:solidFill>
                  <a:srgbClr val="F0F6FC"/>
                </a:solidFill>
              </a:rPr>
              <a:t>Limestone</a:t>
            </a:r>
            <a:endParaRPr lang="en-US" sz="1000" dirty="0"/>
          </a:p>
        </p:txBody>
      </p:sp>
      <p:sp>
        <p:nvSpPr>
          <p:cNvPr id="32" name="Shape 30"/>
          <p:cNvSpPr/>
          <p:nvPr/>
        </p:nvSpPr>
        <p:spPr>
          <a:xfrm>
            <a:off x="4709160" y="2112264"/>
            <a:ext cx="1143000" cy="393192"/>
          </a:xfrm>
          <a:prstGeom prst="rect">
            <a:avLst/>
          </a:prstGeom>
          <a:solidFill>
            <a:srgbClr val="161B22"/>
          </a:solidFill>
          <a:ln w="12700">
            <a:solidFill>
              <a:srgbClr val="30363D"/>
            </a:solidFill>
            <a:prstDash val="solid"/>
          </a:ln>
        </p:spPr>
      </p:sp>
      <p:sp>
        <p:nvSpPr>
          <p:cNvPr id="33" name="Text 31"/>
          <p:cNvSpPr/>
          <p:nvPr/>
        </p:nvSpPr>
        <p:spPr>
          <a:xfrm>
            <a:off x="4754880" y="2231136"/>
            <a:ext cx="1051560" cy="91440"/>
          </a:xfrm>
          <a:prstGeom prst="rect">
            <a:avLst/>
          </a:prstGeom>
          <a:noFill/>
          <a:ln/>
        </p:spPr>
        <p:txBody>
          <a:bodyPr wrap="square" lIns="0" tIns="0" rIns="0" bIns="0" rtlCol="0" anchor="ctr"/>
          <a:lstStyle/>
          <a:p>
            <a:pPr algn="ctr" indent="0" marL="0">
              <a:buNone/>
            </a:pPr>
            <a:r>
              <a:rPr lang="en-US" sz="1000" dirty="0">
                <a:solidFill>
                  <a:srgbClr val="F0F6FC"/>
                </a:solidFill>
              </a:rPr>
              <a:t>3</a:t>
            </a:r>
            <a:endParaRPr lang="en-US" sz="1000" dirty="0"/>
          </a:p>
        </p:txBody>
      </p:sp>
      <p:sp>
        <p:nvSpPr>
          <p:cNvPr id="34" name="Shape 32"/>
          <p:cNvSpPr/>
          <p:nvPr/>
        </p:nvSpPr>
        <p:spPr>
          <a:xfrm>
            <a:off x="5852160" y="2112264"/>
            <a:ext cx="1051560" cy="393192"/>
          </a:xfrm>
          <a:prstGeom prst="rect">
            <a:avLst/>
          </a:prstGeom>
          <a:solidFill>
            <a:srgbClr val="161B22"/>
          </a:solidFill>
          <a:ln w="12700">
            <a:solidFill>
              <a:srgbClr val="30363D"/>
            </a:solidFill>
            <a:prstDash val="solid"/>
          </a:ln>
        </p:spPr>
      </p:sp>
      <p:sp>
        <p:nvSpPr>
          <p:cNvPr id="35" name="Text 33"/>
          <p:cNvSpPr/>
          <p:nvPr/>
        </p:nvSpPr>
        <p:spPr>
          <a:xfrm>
            <a:off x="5897880" y="2231136"/>
            <a:ext cx="960120" cy="91440"/>
          </a:xfrm>
          <a:prstGeom prst="rect">
            <a:avLst/>
          </a:prstGeom>
          <a:noFill/>
          <a:ln/>
        </p:spPr>
        <p:txBody>
          <a:bodyPr wrap="square" lIns="0" tIns="0" rIns="0" bIns="0" rtlCol="0" anchor="ctr"/>
          <a:lstStyle/>
          <a:p>
            <a:pPr algn="ctr" indent="0" marL="0">
              <a:buNone/>
            </a:pPr>
            <a:r>
              <a:rPr lang="en-US" sz="1000" dirty="0">
                <a:solidFill>
                  <a:srgbClr val="F0F6FC"/>
                </a:solidFill>
              </a:rPr>
              <a:t>2.71</a:t>
            </a:r>
            <a:endParaRPr lang="en-US" sz="1000" dirty="0"/>
          </a:p>
        </p:txBody>
      </p:sp>
      <p:sp>
        <p:nvSpPr>
          <p:cNvPr id="36" name="Shape 34"/>
          <p:cNvSpPr/>
          <p:nvPr/>
        </p:nvSpPr>
        <p:spPr>
          <a:xfrm>
            <a:off x="822960" y="2505456"/>
            <a:ext cx="1143000" cy="393192"/>
          </a:xfrm>
          <a:prstGeom prst="rect">
            <a:avLst/>
          </a:prstGeom>
          <a:solidFill>
            <a:srgbClr val="161B22"/>
          </a:solidFill>
          <a:ln w="12700">
            <a:solidFill>
              <a:srgbClr val="30363D"/>
            </a:solidFill>
            <a:prstDash val="solid"/>
          </a:ln>
        </p:spPr>
      </p:sp>
      <p:sp>
        <p:nvSpPr>
          <p:cNvPr id="37" name="Text 35"/>
          <p:cNvSpPr/>
          <p:nvPr/>
        </p:nvSpPr>
        <p:spPr>
          <a:xfrm>
            <a:off x="868680" y="2624328"/>
            <a:ext cx="1051560" cy="91440"/>
          </a:xfrm>
          <a:prstGeom prst="rect">
            <a:avLst/>
          </a:prstGeom>
          <a:noFill/>
          <a:ln/>
        </p:spPr>
        <p:txBody>
          <a:bodyPr wrap="square" lIns="0" tIns="0" rIns="0" bIns="0" rtlCol="0" anchor="ctr"/>
          <a:lstStyle/>
          <a:p>
            <a:pPr algn="ctr" indent="0" marL="0">
              <a:buNone/>
            </a:pPr>
            <a:r>
              <a:rPr lang="en-US" sz="1000" dirty="0">
                <a:solidFill>
                  <a:srgbClr val="F0F6FC"/>
                </a:solidFill>
              </a:rPr>
              <a:t>RS-003</a:t>
            </a:r>
            <a:endParaRPr lang="en-US" sz="1000" dirty="0"/>
          </a:p>
        </p:txBody>
      </p:sp>
      <p:sp>
        <p:nvSpPr>
          <p:cNvPr id="38" name="Shape 36"/>
          <p:cNvSpPr/>
          <p:nvPr/>
        </p:nvSpPr>
        <p:spPr>
          <a:xfrm>
            <a:off x="1965960" y="2505456"/>
            <a:ext cx="1325880" cy="393192"/>
          </a:xfrm>
          <a:prstGeom prst="rect">
            <a:avLst/>
          </a:prstGeom>
          <a:solidFill>
            <a:srgbClr val="161B22"/>
          </a:solidFill>
          <a:ln w="12700">
            <a:solidFill>
              <a:srgbClr val="30363D"/>
            </a:solidFill>
            <a:prstDash val="solid"/>
          </a:ln>
        </p:spPr>
      </p:sp>
      <p:sp>
        <p:nvSpPr>
          <p:cNvPr id="39" name="Text 37"/>
          <p:cNvSpPr/>
          <p:nvPr/>
        </p:nvSpPr>
        <p:spPr>
          <a:xfrm>
            <a:off x="2011680" y="2624328"/>
            <a:ext cx="1234440" cy="91440"/>
          </a:xfrm>
          <a:prstGeom prst="rect">
            <a:avLst/>
          </a:prstGeom>
          <a:noFill/>
          <a:ln/>
        </p:spPr>
        <p:txBody>
          <a:bodyPr wrap="square" lIns="0" tIns="0" rIns="0" bIns="0" rtlCol="0" anchor="ctr"/>
          <a:lstStyle/>
          <a:p>
            <a:pPr algn="ctr" indent="0" marL="0">
              <a:buNone/>
            </a:pPr>
            <a:r>
              <a:rPr lang="en-US" sz="1000" dirty="0">
                <a:solidFill>
                  <a:srgbClr val="F0F6FC"/>
                </a:solidFill>
              </a:rPr>
              <a:t>Godawari</a:t>
            </a:r>
            <a:endParaRPr lang="en-US" sz="1000" dirty="0"/>
          </a:p>
        </p:txBody>
      </p:sp>
      <p:sp>
        <p:nvSpPr>
          <p:cNvPr id="40" name="Shape 38"/>
          <p:cNvSpPr/>
          <p:nvPr/>
        </p:nvSpPr>
        <p:spPr>
          <a:xfrm>
            <a:off x="3291840" y="2505456"/>
            <a:ext cx="1417320" cy="393192"/>
          </a:xfrm>
          <a:prstGeom prst="rect">
            <a:avLst/>
          </a:prstGeom>
          <a:solidFill>
            <a:srgbClr val="161B22"/>
          </a:solidFill>
          <a:ln w="12700">
            <a:solidFill>
              <a:srgbClr val="30363D"/>
            </a:solidFill>
            <a:prstDash val="solid"/>
          </a:ln>
        </p:spPr>
      </p:sp>
      <p:sp>
        <p:nvSpPr>
          <p:cNvPr id="41" name="Text 39"/>
          <p:cNvSpPr/>
          <p:nvPr/>
        </p:nvSpPr>
        <p:spPr>
          <a:xfrm>
            <a:off x="3337560" y="2624328"/>
            <a:ext cx="1325880" cy="91440"/>
          </a:xfrm>
          <a:prstGeom prst="rect">
            <a:avLst/>
          </a:prstGeom>
          <a:noFill/>
          <a:ln/>
        </p:spPr>
        <p:txBody>
          <a:bodyPr wrap="square" lIns="0" tIns="0" rIns="0" bIns="0" rtlCol="0" anchor="ctr"/>
          <a:lstStyle/>
          <a:p>
            <a:pPr algn="ctr" indent="0" marL="0">
              <a:buNone/>
            </a:pPr>
            <a:r>
              <a:rPr lang="en-US" sz="1000" dirty="0">
                <a:solidFill>
                  <a:srgbClr val="F0F6FC"/>
                </a:solidFill>
              </a:rPr>
              <a:t>Granite</a:t>
            </a:r>
            <a:endParaRPr lang="en-US" sz="1000" dirty="0"/>
          </a:p>
        </p:txBody>
      </p:sp>
      <p:sp>
        <p:nvSpPr>
          <p:cNvPr id="42" name="Shape 40"/>
          <p:cNvSpPr/>
          <p:nvPr/>
        </p:nvSpPr>
        <p:spPr>
          <a:xfrm>
            <a:off x="4709160" y="2505456"/>
            <a:ext cx="1143000" cy="393192"/>
          </a:xfrm>
          <a:prstGeom prst="rect">
            <a:avLst/>
          </a:prstGeom>
          <a:solidFill>
            <a:srgbClr val="161B22"/>
          </a:solidFill>
          <a:ln w="12700">
            <a:solidFill>
              <a:srgbClr val="30363D"/>
            </a:solidFill>
            <a:prstDash val="solid"/>
          </a:ln>
        </p:spPr>
      </p:sp>
      <p:sp>
        <p:nvSpPr>
          <p:cNvPr id="43" name="Text 41"/>
          <p:cNvSpPr/>
          <p:nvPr/>
        </p:nvSpPr>
        <p:spPr>
          <a:xfrm>
            <a:off x="4754880" y="2624328"/>
            <a:ext cx="1051560" cy="91440"/>
          </a:xfrm>
          <a:prstGeom prst="rect">
            <a:avLst/>
          </a:prstGeom>
          <a:noFill/>
          <a:ln/>
        </p:spPr>
        <p:txBody>
          <a:bodyPr wrap="square" lIns="0" tIns="0" rIns="0" bIns="0" rtlCol="0" anchor="ctr"/>
          <a:lstStyle/>
          <a:p>
            <a:pPr algn="ctr" indent="0" marL="0">
              <a:buNone/>
            </a:pPr>
            <a:r>
              <a:rPr lang="en-US" sz="1000" dirty="0">
                <a:solidFill>
                  <a:srgbClr val="F0F6FC"/>
                </a:solidFill>
              </a:rPr>
              <a:t>6</a:t>
            </a:r>
            <a:endParaRPr lang="en-US" sz="1000" dirty="0"/>
          </a:p>
        </p:txBody>
      </p:sp>
      <p:sp>
        <p:nvSpPr>
          <p:cNvPr id="44" name="Shape 42"/>
          <p:cNvSpPr/>
          <p:nvPr/>
        </p:nvSpPr>
        <p:spPr>
          <a:xfrm>
            <a:off x="5852160" y="2505456"/>
            <a:ext cx="1051560" cy="393192"/>
          </a:xfrm>
          <a:prstGeom prst="rect">
            <a:avLst/>
          </a:prstGeom>
          <a:solidFill>
            <a:srgbClr val="161B22"/>
          </a:solidFill>
          <a:ln w="12700">
            <a:solidFill>
              <a:srgbClr val="30363D"/>
            </a:solidFill>
            <a:prstDash val="solid"/>
          </a:ln>
        </p:spPr>
      </p:sp>
      <p:sp>
        <p:nvSpPr>
          <p:cNvPr id="45" name="Text 43"/>
          <p:cNvSpPr/>
          <p:nvPr/>
        </p:nvSpPr>
        <p:spPr>
          <a:xfrm>
            <a:off x="5897880" y="2624328"/>
            <a:ext cx="960120" cy="91440"/>
          </a:xfrm>
          <a:prstGeom prst="rect">
            <a:avLst/>
          </a:prstGeom>
          <a:noFill/>
          <a:ln/>
        </p:spPr>
        <p:txBody>
          <a:bodyPr wrap="square" lIns="0" tIns="0" rIns="0" bIns="0" rtlCol="0" anchor="ctr"/>
          <a:lstStyle/>
          <a:p>
            <a:pPr algn="ctr" indent="0" marL="0">
              <a:buNone/>
            </a:pPr>
            <a:r>
              <a:rPr lang="en-US" sz="1000" dirty="0">
                <a:solidFill>
                  <a:srgbClr val="F0F6FC"/>
                </a:solidFill>
              </a:rPr>
              <a:t>2.62</a:t>
            </a:r>
            <a:endParaRPr lang="en-US" sz="1000" dirty="0"/>
          </a:p>
        </p:txBody>
      </p:sp>
      <p:sp>
        <p:nvSpPr>
          <p:cNvPr id="46" name="Text 44"/>
          <p:cNvSpPr/>
          <p:nvPr/>
        </p:nvSpPr>
        <p:spPr>
          <a:xfrm>
            <a:off x="868680" y="3383280"/>
            <a:ext cx="5394960" cy="320040"/>
          </a:xfrm>
          <a:prstGeom prst="rect">
            <a:avLst/>
          </a:prstGeom>
          <a:noFill/>
          <a:ln/>
        </p:spPr>
        <p:txBody>
          <a:bodyPr wrap="square" lIns="0" tIns="0" rIns="0" bIns="0" rtlCol="0" anchor="ctr"/>
          <a:lstStyle/>
          <a:p>
            <a:pPr indent="0" marL="0">
              <a:buNone/>
            </a:pPr>
            <a:r>
              <a:rPr lang="en-US" sz="2300" b="1" dirty="0">
                <a:solidFill>
                  <a:srgbClr val="D8B46A"/>
                </a:solidFill>
              </a:rPr>
              <a:t>CSV files are common in scientific datasets.</a:t>
            </a:r>
            <a:endParaRPr lang="en-US" sz="2300" dirty="0"/>
          </a:p>
        </p:txBody>
      </p:sp>
      <p:sp>
        <p:nvSpPr>
          <p:cNvPr id="47" name="Text 45"/>
          <p:cNvSpPr/>
          <p:nvPr/>
        </p:nvSpPr>
        <p:spPr>
          <a:xfrm>
            <a:off x="914400" y="4069080"/>
            <a:ext cx="228600" cy="228600"/>
          </a:xfrm>
          <a:prstGeom prst="rect">
            <a:avLst/>
          </a:prstGeom>
          <a:noFill/>
          <a:ln/>
        </p:spPr>
        <p:txBody>
          <a:bodyPr wrap="square" lIns="0" tIns="0" rIns="0" bIns="0" rtlCol="0" anchor="ctr"/>
          <a:lstStyle/>
          <a:p>
            <a:pPr indent="0" marL="0">
              <a:buNone/>
            </a:pPr>
            <a:r>
              <a:rPr lang="en-US" sz="1800" b="1" dirty="0">
                <a:solidFill>
                  <a:srgbClr val="2EA043"/>
                </a:solidFill>
              </a:rPr>
              <a:t>•</a:t>
            </a:r>
            <a:endParaRPr lang="en-US" sz="1800" dirty="0"/>
          </a:p>
        </p:txBody>
      </p:sp>
      <p:sp>
        <p:nvSpPr>
          <p:cNvPr id="48" name="Text 46"/>
          <p:cNvSpPr/>
          <p:nvPr/>
        </p:nvSpPr>
        <p:spPr>
          <a:xfrm>
            <a:off x="1188720" y="4069080"/>
            <a:ext cx="3931920" cy="256032"/>
          </a:xfrm>
          <a:prstGeom prst="rect">
            <a:avLst/>
          </a:prstGeom>
          <a:noFill/>
          <a:ln/>
        </p:spPr>
        <p:txBody>
          <a:bodyPr wrap="square" lIns="0" tIns="0" rIns="0" bIns="0" rtlCol="0" anchor="ctr"/>
          <a:lstStyle/>
          <a:p>
            <a:pPr indent="0" marL="0">
              <a:buNone/>
            </a:pPr>
            <a:r>
              <a:rPr lang="en-US" sz="1800" dirty="0">
                <a:solidFill>
                  <a:srgbClr val="E6EDF3"/>
                </a:solidFill>
              </a:rPr>
              <a:t>Rock samples</a:t>
            </a:r>
            <a:endParaRPr lang="en-US" sz="1800" dirty="0"/>
          </a:p>
        </p:txBody>
      </p:sp>
      <p:sp>
        <p:nvSpPr>
          <p:cNvPr id="49" name="Text 47"/>
          <p:cNvSpPr/>
          <p:nvPr/>
        </p:nvSpPr>
        <p:spPr>
          <a:xfrm>
            <a:off x="914400" y="4572000"/>
            <a:ext cx="228600" cy="228600"/>
          </a:xfrm>
          <a:prstGeom prst="rect">
            <a:avLst/>
          </a:prstGeom>
          <a:noFill/>
          <a:ln/>
        </p:spPr>
        <p:txBody>
          <a:bodyPr wrap="square" lIns="0" tIns="0" rIns="0" bIns="0" rtlCol="0" anchor="ctr"/>
          <a:lstStyle/>
          <a:p>
            <a:pPr indent="0" marL="0">
              <a:buNone/>
            </a:pPr>
            <a:r>
              <a:rPr lang="en-US" sz="1800" b="1" dirty="0">
                <a:solidFill>
                  <a:srgbClr val="2EA043"/>
                </a:solidFill>
              </a:rPr>
              <a:t>•</a:t>
            </a:r>
            <a:endParaRPr lang="en-US" sz="1800" dirty="0"/>
          </a:p>
        </p:txBody>
      </p:sp>
      <p:sp>
        <p:nvSpPr>
          <p:cNvPr id="50" name="Text 48"/>
          <p:cNvSpPr/>
          <p:nvPr/>
        </p:nvSpPr>
        <p:spPr>
          <a:xfrm>
            <a:off x="1188720" y="4572000"/>
            <a:ext cx="3931920" cy="256032"/>
          </a:xfrm>
          <a:prstGeom prst="rect">
            <a:avLst/>
          </a:prstGeom>
          <a:noFill/>
          <a:ln/>
        </p:spPr>
        <p:txBody>
          <a:bodyPr wrap="square" lIns="0" tIns="0" rIns="0" bIns="0" rtlCol="0" anchor="ctr"/>
          <a:lstStyle/>
          <a:p>
            <a:pPr indent="0" marL="0">
              <a:buNone/>
            </a:pPr>
            <a:r>
              <a:rPr lang="en-US" sz="1800" dirty="0">
                <a:solidFill>
                  <a:srgbClr val="E6EDF3"/>
                </a:solidFill>
              </a:rPr>
              <a:t>Earthquake records</a:t>
            </a:r>
            <a:endParaRPr lang="en-US" sz="1800" dirty="0"/>
          </a:p>
        </p:txBody>
      </p:sp>
      <p:sp>
        <p:nvSpPr>
          <p:cNvPr id="51" name="Text 49"/>
          <p:cNvSpPr/>
          <p:nvPr/>
        </p:nvSpPr>
        <p:spPr>
          <a:xfrm>
            <a:off x="914400" y="5074920"/>
            <a:ext cx="228600" cy="228600"/>
          </a:xfrm>
          <a:prstGeom prst="rect">
            <a:avLst/>
          </a:prstGeom>
          <a:noFill/>
          <a:ln/>
        </p:spPr>
        <p:txBody>
          <a:bodyPr wrap="square" lIns="0" tIns="0" rIns="0" bIns="0" rtlCol="0" anchor="ctr"/>
          <a:lstStyle/>
          <a:p>
            <a:pPr indent="0" marL="0">
              <a:buNone/>
            </a:pPr>
            <a:r>
              <a:rPr lang="en-US" sz="1800" b="1" dirty="0">
                <a:solidFill>
                  <a:srgbClr val="2EA043"/>
                </a:solidFill>
              </a:rPr>
              <a:t>•</a:t>
            </a:r>
            <a:endParaRPr lang="en-US" sz="1800" dirty="0"/>
          </a:p>
        </p:txBody>
      </p:sp>
      <p:sp>
        <p:nvSpPr>
          <p:cNvPr id="52" name="Text 50"/>
          <p:cNvSpPr/>
          <p:nvPr/>
        </p:nvSpPr>
        <p:spPr>
          <a:xfrm>
            <a:off x="1188720" y="5074920"/>
            <a:ext cx="3931920" cy="256032"/>
          </a:xfrm>
          <a:prstGeom prst="rect">
            <a:avLst/>
          </a:prstGeom>
          <a:noFill/>
          <a:ln/>
        </p:spPr>
        <p:txBody>
          <a:bodyPr wrap="square" lIns="0" tIns="0" rIns="0" bIns="0" rtlCol="0" anchor="ctr"/>
          <a:lstStyle/>
          <a:p>
            <a:pPr indent="0" marL="0">
              <a:buNone/>
            </a:pPr>
            <a:r>
              <a:rPr lang="en-US" sz="1800" dirty="0">
                <a:solidFill>
                  <a:srgbClr val="E6EDF3"/>
                </a:solidFill>
              </a:rPr>
              <a:t>Soil analysis</a:t>
            </a:r>
            <a:endParaRPr lang="en-US" sz="1800" dirty="0"/>
          </a:p>
        </p:txBody>
      </p:sp>
      <p:sp>
        <p:nvSpPr>
          <p:cNvPr id="53" name="Text 51"/>
          <p:cNvSpPr/>
          <p:nvPr/>
        </p:nvSpPr>
        <p:spPr>
          <a:xfrm>
            <a:off x="914400" y="5577840"/>
            <a:ext cx="228600" cy="228600"/>
          </a:xfrm>
          <a:prstGeom prst="rect">
            <a:avLst/>
          </a:prstGeom>
          <a:noFill/>
          <a:ln/>
        </p:spPr>
        <p:txBody>
          <a:bodyPr wrap="square" lIns="0" tIns="0" rIns="0" bIns="0" rtlCol="0" anchor="ctr"/>
          <a:lstStyle/>
          <a:p>
            <a:pPr indent="0" marL="0">
              <a:buNone/>
            </a:pPr>
            <a:r>
              <a:rPr lang="en-US" sz="1800" b="1" dirty="0">
                <a:solidFill>
                  <a:srgbClr val="2EA043"/>
                </a:solidFill>
              </a:rPr>
              <a:t>•</a:t>
            </a:r>
            <a:endParaRPr lang="en-US" sz="1800" dirty="0"/>
          </a:p>
        </p:txBody>
      </p:sp>
      <p:sp>
        <p:nvSpPr>
          <p:cNvPr id="54" name="Text 52"/>
          <p:cNvSpPr/>
          <p:nvPr/>
        </p:nvSpPr>
        <p:spPr>
          <a:xfrm>
            <a:off x="1188720" y="5577840"/>
            <a:ext cx="3931920" cy="256032"/>
          </a:xfrm>
          <a:prstGeom prst="rect">
            <a:avLst/>
          </a:prstGeom>
          <a:noFill/>
          <a:ln/>
        </p:spPr>
        <p:txBody>
          <a:bodyPr wrap="square" lIns="0" tIns="0" rIns="0" bIns="0" rtlCol="0" anchor="ctr"/>
          <a:lstStyle/>
          <a:p>
            <a:pPr indent="0" marL="0">
              <a:buNone/>
            </a:pPr>
            <a:r>
              <a:rPr lang="en-US" sz="1800" dirty="0">
                <a:solidFill>
                  <a:srgbClr val="E6EDF3"/>
                </a:solidFill>
              </a:rPr>
              <a:t>Environmental data</a:t>
            </a:r>
            <a:endParaRPr lang="en-US" sz="1800" dirty="0"/>
          </a:p>
        </p:txBody>
      </p:sp>
      <p:sp>
        <p:nvSpPr>
          <p:cNvPr id="55" name="Shape 53"/>
          <p:cNvSpPr/>
          <p:nvPr/>
        </p:nvSpPr>
        <p:spPr>
          <a:xfrm>
            <a:off x="7818120" y="1325880"/>
            <a:ext cx="2514600" cy="4160520"/>
          </a:xfrm>
          <a:prstGeom prst="rect">
            <a:avLst/>
          </a:prstGeom>
          <a:solidFill>
            <a:srgbClr val="21262D"/>
          </a:solidFill>
          <a:ln w="12700">
            <a:solidFill>
              <a:srgbClr val="30363D"/>
            </a:solidFill>
            <a:prstDash val="solid"/>
          </a:ln>
        </p:spPr>
      </p:sp>
      <p:sp>
        <p:nvSpPr>
          <p:cNvPr id="56" name="Text 54"/>
          <p:cNvSpPr/>
          <p:nvPr/>
        </p:nvSpPr>
        <p:spPr>
          <a:xfrm>
            <a:off x="8183880" y="2011680"/>
            <a:ext cx="1737360" cy="1828800"/>
          </a:xfrm>
          <a:prstGeom prst="rect">
            <a:avLst/>
          </a:prstGeom>
          <a:noFill/>
          <a:ln/>
        </p:spPr>
        <p:txBody>
          <a:bodyPr wrap="square" lIns="0" tIns="0" rIns="0" bIns="0" rtlCol="0" anchor="ctr">
            <a:normAutofit/>
          </a:bodyPr>
          <a:lstStyle/>
          <a:p>
            <a:pPr algn="ctr" indent="0" marL="0">
              <a:buNone/>
            </a:pPr>
            <a:r>
              <a:rPr lang="en-US" sz="2400" b="1" dirty="0">
                <a:solidFill>
                  <a:srgbClr val="2EA043"/>
                </a:solidFill>
              </a:rPr>
              <a:t>CSV</a:t>
            </a:r>
            <a:endParaRPr lang="en-US" sz="2400" dirty="0"/>
          </a:p>
          <a:p>
            <a:pPr algn="ctr" indent="0" marL="0">
              <a:buNone/>
            </a:pPr>
            <a:r>
              <a:rPr lang="en-US" sz="2400" b="1" dirty="0">
                <a:solidFill>
                  <a:srgbClr val="2EA043"/>
                </a:solidFill>
              </a:rPr>
              <a:t>=</a:t>
            </a:r>
            <a:endParaRPr lang="en-US" sz="2400" dirty="0"/>
          </a:p>
          <a:p>
            <a:pPr algn="ctr" indent="0" marL="0">
              <a:buNone/>
            </a:pPr>
            <a:r>
              <a:rPr lang="en-US" sz="2400" b="1" dirty="0">
                <a:solidFill>
                  <a:srgbClr val="2EA043"/>
                </a:solidFill>
              </a:rPr>
              <a:t>structured</a:t>
            </a:r>
            <a:endParaRPr lang="en-US" sz="2400" dirty="0"/>
          </a:p>
          <a:p>
            <a:pPr algn="ctr" indent="0" marL="0">
              <a:buNone/>
            </a:pPr>
            <a:r>
              <a:rPr lang="en-US" sz="2400" b="1" dirty="0">
                <a:solidFill>
                  <a:srgbClr val="2EA043"/>
                </a:solidFill>
              </a:rPr>
              <a:t>evidence</a:t>
            </a:r>
            <a:endParaRPr lang="en-US" sz="2400" dirty="0"/>
          </a:p>
        </p:txBody>
      </p:sp>
      <p:sp>
        <p:nvSpPr>
          <p:cNvPr id="57" name="Text 55"/>
          <p:cNvSpPr/>
          <p:nvPr/>
        </p:nvSpPr>
        <p:spPr>
          <a:xfrm>
            <a:off x="11292840" y="6464808"/>
            <a:ext cx="411480" cy="164592"/>
          </a:xfrm>
          <a:prstGeom prst="rect">
            <a:avLst/>
          </a:prstGeom>
          <a:noFill/>
          <a:ln/>
        </p:spPr>
        <p:txBody>
          <a:bodyPr wrap="square" lIns="0" tIns="0" rIns="0" bIns="0" rtlCol="0" anchor="ctr"/>
          <a:lstStyle/>
          <a:p>
            <a:pPr indent="0" marL="0">
              <a:buNone/>
            </a:pPr>
            <a:r>
              <a:rPr lang="en-US" sz="800" dirty="0">
                <a:solidFill>
                  <a:srgbClr val="8B949E"/>
                </a:solidFill>
              </a:rPr>
              <a:t>7/15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117"/>
          </a:solidFill>
          <a:ln w="12700">
            <a:solidFill>
              <a:srgbClr val="0D1117"/>
            </a:solidFill>
            <a:prstDash val="solid"/>
          </a:ln>
        </p:spPr>
      </p:sp>
      <p:sp>
        <p:nvSpPr>
          <p:cNvPr id="3" name="Shape 1"/>
          <p:cNvSpPr/>
          <p:nvPr/>
        </p:nvSpPr>
        <p:spPr>
          <a:xfrm>
            <a:off x="0" y="0"/>
            <a:ext cx="12191695" cy="109728"/>
          </a:xfrm>
          <a:prstGeom prst="rect">
            <a:avLst/>
          </a:prstGeom>
          <a:solidFill>
            <a:srgbClr val="2EA043"/>
          </a:solidFill>
          <a:ln w="12700">
            <a:solidFill>
              <a:srgbClr val="2EA043"/>
            </a:solidFill>
            <a:prstDash val="solid"/>
          </a:ln>
        </p:spPr>
      </p:sp>
      <p:sp>
        <p:nvSpPr>
          <p:cNvPr id="4" name="Text 2"/>
          <p:cNvSpPr/>
          <p:nvPr/>
        </p:nvSpPr>
        <p:spPr>
          <a:xfrm>
            <a:off x="502920" y="292608"/>
            <a:ext cx="7772400" cy="438912"/>
          </a:xfrm>
          <a:prstGeom prst="rect">
            <a:avLst/>
          </a:prstGeom>
          <a:noFill/>
          <a:ln/>
        </p:spPr>
        <p:txBody>
          <a:bodyPr wrap="square" lIns="0" tIns="0" rIns="0" bIns="0" rtlCol="0" anchor="ctr"/>
          <a:lstStyle/>
          <a:p>
            <a:pPr indent="0" marL="0">
              <a:buNone/>
            </a:pPr>
            <a:r>
              <a:rPr lang="en-US" sz="2600" b="1" dirty="0">
                <a:solidFill>
                  <a:srgbClr val="F0F6FC"/>
                </a:solidFill>
                <a:latin typeface="Aptos Display" pitchFamily="34" charset="0"/>
                <a:ea typeface="Aptos Display" pitchFamily="34" charset="-122"/>
                <a:cs typeface="Aptos Display" pitchFamily="34" charset="-120"/>
              </a:rPr>
              <a:t>Documentation Matters</a:t>
            </a:r>
            <a:endParaRPr lang="en-US" sz="2600" dirty="0"/>
          </a:p>
        </p:txBody>
      </p:sp>
      <p:sp>
        <p:nvSpPr>
          <p:cNvPr id="5" name="Text 3"/>
          <p:cNvSpPr/>
          <p:nvPr/>
        </p:nvSpPr>
        <p:spPr>
          <a:xfrm>
            <a:off x="9326880" y="347472"/>
            <a:ext cx="2240280" cy="228600"/>
          </a:xfrm>
          <a:prstGeom prst="rect">
            <a:avLst/>
          </a:prstGeom>
          <a:noFill/>
          <a:ln/>
        </p:spPr>
        <p:txBody>
          <a:bodyPr wrap="square" lIns="0" tIns="0" rIns="0" bIns="0" rtlCol="0" anchor="ctr"/>
          <a:lstStyle/>
          <a:p>
            <a:pPr algn="r" indent="0" marL="0">
              <a:buNone/>
            </a:pPr>
            <a:r>
              <a:rPr lang="en-US" sz="800" dirty="0">
                <a:solidFill>
                  <a:srgbClr val="8B949E"/>
                </a:solidFill>
              </a:rPr>
              <a:t>GitHub for Geological Research</a:t>
            </a:r>
            <a:endParaRPr lang="en-US" sz="800" dirty="0"/>
          </a:p>
        </p:txBody>
      </p:sp>
      <p:sp>
        <p:nvSpPr>
          <p:cNvPr id="6" name="Text 4"/>
          <p:cNvSpPr/>
          <p:nvPr/>
        </p:nvSpPr>
        <p:spPr>
          <a:xfrm>
            <a:off x="822960" y="1051560"/>
            <a:ext cx="5852160" cy="548640"/>
          </a:xfrm>
          <a:prstGeom prst="rect">
            <a:avLst/>
          </a:prstGeom>
          <a:noFill/>
          <a:ln/>
        </p:spPr>
        <p:txBody>
          <a:bodyPr wrap="square" lIns="0" tIns="0" rIns="0" bIns="0" rtlCol="0" anchor="ctr"/>
          <a:lstStyle/>
          <a:p>
            <a:pPr indent="0" marL="0">
              <a:buNone/>
            </a:pPr>
            <a:r>
              <a:rPr lang="en-US" sz="2400" b="1" dirty="0">
                <a:solidFill>
                  <a:srgbClr val="F0F6FC"/>
                </a:solidFill>
              </a:rPr>
              <a:t>README.md and Markdown reports explain the research story.</a:t>
            </a:r>
            <a:endParaRPr lang="en-US" sz="2400" dirty="0"/>
          </a:p>
        </p:txBody>
      </p:sp>
      <p:sp>
        <p:nvSpPr>
          <p:cNvPr id="7" name="Shape 5"/>
          <p:cNvSpPr/>
          <p:nvPr/>
        </p:nvSpPr>
        <p:spPr>
          <a:xfrm>
            <a:off x="868680" y="1828800"/>
            <a:ext cx="5943600" cy="3566160"/>
          </a:xfrm>
          <a:prstGeom prst="roundRect">
            <a:avLst>
              <a:gd name="adj" fmla="val 1538"/>
            </a:avLst>
          </a:prstGeom>
          <a:solidFill>
            <a:srgbClr val="0B1220"/>
          </a:solidFill>
          <a:ln w="12700">
            <a:solidFill>
              <a:srgbClr val="30363D"/>
            </a:solidFill>
            <a:prstDash val="solid"/>
          </a:ln>
        </p:spPr>
      </p:sp>
      <p:sp>
        <p:nvSpPr>
          <p:cNvPr id="8" name="Text 6"/>
          <p:cNvSpPr/>
          <p:nvPr/>
        </p:nvSpPr>
        <p:spPr>
          <a:xfrm>
            <a:off x="1143000" y="2121408"/>
            <a:ext cx="5349240" cy="2834640"/>
          </a:xfrm>
          <a:prstGeom prst="rect">
            <a:avLst/>
          </a:prstGeom>
          <a:noFill/>
          <a:ln/>
        </p:spPr>
        <p:txBody>
          <a:bodyPr wrap="square" lIns="254" tIns="254" rIns="254" bIns="254" rtlCol="0" anchor="ctr">
            <a:normAutofit/>
          </a:bodyPr>
          <a:lstStyle/>
          <a:p>
            <a:pPr indent="0" marL="0">
              <a:buNone/>
            </a:pPr>
            <a:r>
              <a:rPr lang="en-US" sz="1400" dirty="0">
                <a:solidFill>
                  <a:srgbClr val="E6EDF3"/>
                </a:solidFill>
                <a:latin typeface="Consolas" pitchFamily="34" charset="0"/>
                <a:ea typeface="Consolas" pitchFamily="34" charset="-122"/>
                <a:cs typeface="Consolas" pitchFamily="34" charset="-120"/>
              </a:rPr>
              <a:t># Geological Survey 2026</a:t>
            </a:r>
            <a:endParaRPr lang="en-US" sz="1400" dirty="0"/>
          </a:p>
          <a:p>
            <a:pPr indent="0" marL="0">
              <a:buNone/>
            </a:pPr>
            <a:endParaRPr lang="en-US" sz="1400" dirty="0"/>
          </a:p>
          <a:p>
            <a:pPr indent="0" marL="0">
              <a:buNone/>
            </a:pPr>
            <a:r>
              <a:rPr lang="en-US" sz="1400" dirty="0">
                <a:solidFill>
                  <a:srgbClr val="E6EDF3"/>
                </a:solidFill>
                <a:latin typeface="Consolas" pitchFamily="34" charset="0"/>
                <a:ea typeface="Consolas" pitchFamily="34" charset="-122"/>
                <a:cs typeface="Consolas" pitchFamily="34" charset="-120"/>
              </a:rPr>
              <a:t>## Objective</a:t>
            </a:r>
            <a:endParaRPr lang="en-US" sz="1400" dirty="0"/>
          </a:p>
          <a:p>
            <a:pPr indent="0" marL="0">
              <a:buNone/>
            </a:pPr>
            <a:r>
              <a:rPr lang="en-US" sz="1400" dirty="0">
                <a:solidFill>
                  <a:srgbClr val="E6EDF3"/>
                </a:solidFill>
                <a:latin typeface="Consolas" pitchFamily="34" charset="0"/>
                <a:ea typeface="Consolas" pitchFamily="34" charset="-122"/>
                <a:cs typeface="Consolas" pitchFamily="34" charset="-120"/>
              </a:rPr>
              <a:t>Map and describe rock samples from selected field sites.</a:t>
            </a:r>
            <a:endParaRPr lang="en-US" sz="1400" dirty="0"/>
          </a:p>
          <a:p>
            <a:pPr indent="0" marL="0">
              <a:buNone/>
            </a:pPr>
            <a:endParaRPr lang="en-US" sz="1400" dirty="0"/>
          </a:p>
          <a:p>
            <a:pPr indent="0" marL="0">
              <a:buNone/>
            </a:pPr>
            <a:r>
              <a:rPr lang="en-US" sz="1400" dirty="0">
                <a:solidFill>
                  <a:srgbClr val="E6EDF3"/>
                </a:solidFill>
                <a:latin typeface="Consolas" pitchFamily="34" charset="0"/>
                <a:ea typeface="Consolas" pitchFamily="34" charset="-122"/>
                <a:cs typeface="Consolas" pitchFamily="34" charset="-120"/>
              </a:rPr>
              <a:t>## Methodology</a:t>
            </a:r>
            <a:endParaRPr lang="en-US" sz="1400" dirty="0"/>
          </a:p>
          <a:p>
            <a:pPr indent="0" marL="0">
              <a:buNone/>
            </a:pPr>
            <a:r>
              <a:rPr lang="en-US" sz="1400" dirty="0">
                <a:solidFill>
                  <a:srgbClr val="E6EDF3"/>
                </a:solidFill>
                <a:latin typeface="Consolas" pitchFamily="34" charset="0"/>
                <a:ea typeface="Consolas" pitchFamily="34" charset="-122"/>
                <a:cs typeface="Consolas" pitchFamily="34" charset="-120"/>
              </a:rPr>
              <a:t>- Field observation</a:t>
            </a:r>
            <a:endParaRPr lang="en-US" sz="1400" dirty="0"/>
          </a:p>
          <a:p>
            <a:pPr indent="0" marL="0">
              <a:buNone/>
            </a:pPr>
            <a:r>
              <a:rPr lang="en-US" sz="1400" dirty="0">
                <a:solidFill>
                  <a:srgbClr val="E6EDF3"/>
                </a:solidFill>
                <a:latin typeface="Consolas" pitchFamily="34" charset="0"/>
                <a:ea typeface="Consolas" pitchFamily="34" charset="-122"/>
                <a:cs typeface="Consolas" pitchFamily="34" charset="-120"/>
              </a:rPr>
              <a:t>- Sample labeling</a:t>
            </a:r>
            <a:endParaRPr lang="en-US" sz="1400" dirty="0"/>
          </a:p>
          <a:p>
            <a:pPr indent="0" marL="0">
              <a:buNone/>
            </a:pPr>
            <a:r>
              <a:rPr lang="en-US" sz="1400" dirty="0">
                <a:solidFill>
                  <a:srgbClr val="E6EDF3"/>
                </a:solidFill>
                <a:latin typeface="Consolas" pitchFamily="34" charset="0"/>
                <a:ea typeface="Consolas" pitchFamily="34" charset="-122"/>
                <a:cs typeface="Consolas" pitchFamily="34" charset="-120"/>
              </a:rPr>
              <a:t>- CSV data recording</a:t>
            </a:r>
            <a:endParaRPr lang="en-US" sz="1400" dirty="0"/>
          </a:p>
          <a:p>
            <a:pPr indent="0" marL="0">
              <a:buNone/>
            </a:pPr>
            <a:endParaRPr lang="en-US" sz="1400" dirty="0"/>
          </a:p>
          <a:p>
            <a:pPr indent="0" marL="0">
              <a:buNone/>
            </a:pPr>
            <a:r>
              <a:rPr lang="en-US" sz="1400" dirty="0">
                <a:solidFill>
                  <a:srgbClr val="E6EDF3"/>
                </a:solidFill>
                <a:latin typeface="Consolas" pitchFamily="34" charset="0"/>
                <a:ea typeface="Consolas" pitchFamily="34" charset="-122"/>
                <a:cs typeface="Consolas" pitchFamily="34" charset="-120"/>
              </a:rPr>
              <a:t>## Findings</a:t>
            </a:r>
            <a:endParaRPr lang="en-US" sz="1400" dirty="0"/>
          </a:p>
          <a:p>
            <a:pPr indent="0" marL="0">
              <a:buNone/>
            </a:pPr>
            <a:r>
              <a:rPr lang="en-US" sz="1400" dirty="0">
                <a:solidFill>
                  <a:srgbClr val="E6EDF3"/>
                </a:solidFill>
                <a:latin typeface="Consolas" pitchFamily="34" charset="0"/>
                <a:ea typeface="Consolas" pitchFamily="34" charset="-122"/>
                <a:cs typeface="Consolas" pitchFamily="34" charset="-120"/>
              </a:rPr>
              <a:t>Granite samples show higher hardness than limestone.</a:t>
            </a:r>
            <a:endParaRPr lang="en-US" sz="1400" dirty="0"/>
          </a:p>
        </p:txBody>
      </p:sp>
      <p:sp>
        <p:nvSpPr>
          <p:cNvPr id="9" name="Text 7"/>
          <p:cNvSpPr/>
          <p:nvPr/>
        </p:nvSpPr>
        <p:spPr>
          <a:xfrm>
            <a:off x="7315200" y="1965960"/>
            <a:ext cx="228600" cy="228600"/>
          </a:xfrm>
          <a:prstGeom prst="rect">
            <a:avLst/>
          </a:prstGeom>
          <a:noFill/>
          <a:ln/>
        </p:spPr>
        <p:txBody>
          <a:bodyPr wrap="square" lIns="0" tIns="0" rIns="0" bIns="0" rtlCol="0" anchor="ctr"/>
          <a:lstStyle/>
          <a:p>
            <a:pPr indent="0" marL="0">
              <a:buNone/>
            </a:pPr>
            <a:r>
              <a:rPr lang="en-US" sz="2000" b="1" dirty="0">
                <a:solidFill>
                  <a:srgbClr val="2EA043"/>
                </a:solidFill>
              </a:rPr>
              <a:t>•</a:t>
            </a:r>
            <a:endParaRPr lang="en-US" sz="2000" dirty="0"/>
          </a:p>
        </p:txBody>
      </p:sp>
      <p:sp>
        <p:nvSpPr>
          <p:cNvPr id="10" name="Text 8"/>
          <p:cNvSpPr/>
          <p:nvPr/>
        </p:nvSpPr>
        <p:spPr>
          <a:xfrm>
            <a:off x="7589520" y="1965960"/>
            <a:ext cx="3474720" cy="256032"/>
          </a:xfrm>
          <a:prstGeom prst="rect">
            <a:avLst/>
          </a:prstGeom>
          <a:noFill/>
          <a:ln/>
        </p:spPr>
        <p:txBody>
          <a:bodyPr wrap="square" lIns="0" tIns="0" rIns="0" bIns="0" rtlCol="0" anchor="ctr"/>
          <a:lstStyle/>
          <a:p>
            <a:pPr indent="0" marL="0">
              <a:buNone/>
            </a:pPr>
            <a:r>
              <a:rPr lang="en-US" sz="2000" dirty="0">
                <a:solidFill>
                  <a:srgbClr val="E6EDF3"/>
                </a:solidFill>
              </a:rPr>
              <a:t>Project objective</a:t>
            </a:r>
            <a:endParaRPr lang="en-US" sz="2000" dirty="0"/>
          </a:p>
        </p:txBody>
      </p:sp>
      <p:sp>
        <p:nvSpPr>
          <p:cNvPr id="11" name="Text 9"/>
          <p:cNvSpPr/>
          <p:nvPr/>
        </p:nvSpPr>
        <p:spPr>
          <a:xfrm>
            <a:off x="7315200" y="2468880"/>
            <a:ext cx="228600" cy="228600"/>
          </a:xfrm>
          <a:prstGeom prst="rect">
            <a:avLst/>
          </a:prstGeom>
          <a:noFill/>
          <a:ln/>
        </p:spPr>
        <p:txBody>
          <a:bodyPr wrap="square" lIns="0" tIns="0" rIns="0" bIns="0" rtlCol="0" anchor="ctr"/>
          <a:lstStyle/>
          <a:p>
            <a:pPr indent="0" marL="0">
              <a:buNone/>
            </a:pPr>
            <a:r>
              <a:rPr lang="en-US" sz="2000" b="1" dirty="0">
                <a:solidFill>
                  <a:srgbClr val="2EA043"/>
                </a:solidFill>
              </a:rPr>
              <a:t>•</a:t>
            </a:r>
            <a:endParaRPr lang="en-US" sz="2000" dirty="0"/>
          </a:p>
        </p:txBody>
      </p:sp>
      <p:sp>
        <p:nvSpPr>
          <p:cNvPr id="12" name="Text 10"/>
          <p:cNvSpPr/>
          <p:nvPr/>
        </p:nvSpPr>
        <p:spPr>
          <a:xfrm>
            <a:off x="7589520" y="2468880"/>
            <a:ext cx="3474720" cy="256032"/>
          </a:xfrm>
          <a:prstGeom prst="rect">
            <a:avLst/>
          </a:prstGeom>
          <a:noFill/>
          <a:ln/>
        </p:spPr>
        <p:txBody>
          <a:bodyPr wrap="square" lIns="0" tIns="0" rIns="0" bIns="0" rtlCol="0" anchor="ctr"/>
          <a:lstStyle/>
          <a:p>
            <a:pPr indent="0" marL="0">
              <a:buNone/>
            </a:pPr>
            <a:r>
              <a:rPr lang="en-US" sz="2000" dirty="0">
                <a:solidFill>
                  <a:srgbClr val="E6EDF3"/>
                </a:solidFill>
              </a:rPr>
              <a:t>Methodology</a:t>
            </a:r>
            <a:endParaRPr lang="en-US" sz="2000" dirty="0"/>
          </a:p>
        </p:txBody>
      </p:sp>
      <p:sp>
        <p:nvSpPr>
          <p:cNvPr id="13" name="Text 11"/>
          <p:cNvSpPr/>
          <p:nvPr/>
        </p:nvSpPr>
        <p:spPr>
          <a:xfrm>
            <a:off x="7315200" y="2971800"/>
            <a:ext cx="228600" cy="228600"/>
          </a:xfrm>
          <a:prstGeom prst="rect">
            <a:avLst/>
          </a:prstGeom>
          <a:noFill/>
          <a:ln/>
        </p:spPr>
        <p:txBody>
          <a:bodyPr wrap="square" lIns="0" tIns="0" rIns="0" bIns="0" rtlCol="0" anchor="ctr"/>
          <a:lstStyle/>
          <a:p>
            <a:pPr indent="0" marL="0">
              <a:buNone/>
            </a:pPr>
            <a:r>
              <a:rPr lang="en-US" sz="2000" b="1" dirty="0">
                <a:solidFill>
                  <a:srgbClr val="2EA043"/>
                </a:solidFill>
              </a:rPr>
              <a:t>•</a:t>
            </a:r>
            <a:endParaRPr lang="en-US" sz="2000" dirty="0"/>
          </a:p>
        </p:txBody>
      </p:sp>
      <p:sp>
        <p:nvSpPr>
          <p:cNvPr id="14" name="Text 12"/>
          <p:cNvSpPr/>
          <p:nvPr/>
        </p:nvSpPr>
        <p:spPr>
          <a:xfrm>
            <a:off x="7589520" y="2971800"/>
            <a:ext cx="3474720" cy="256032"/>
          </a:xfrm>
          <a:prstGeom prst="rect">
            <a:avLst/>
          </a:prstGeom>
          <a:noFill/>
          <a:ln/>
        </p:spPr>
        <p:txBody>
          <a:bodyPr wrap="square" lIns="0" tIns="0" rIns="0" bIns="0" rtlCol="0" anchor="ctr"/>
          <a:lstStyle/>
          <a:p>
            <a:pPr indent="0" marL="0">
              <a:buNone/>
            </a:pPr>
            <a:r>
              <a:rPr lang="en-US" sz="2000" dirty="0">
                <a:solidFill>
                  <a:srgbClr val="E6EDF3"/>
                </a:solidFill>
              </a:rPr>
              <a:t>Findings</a:t>
            </a:r>
            <a:endParaRPr lang="en-US" sz="2000" dirty="0"/>
          </a:p>
        </p:txBody>
      </p:sp>
      <p:sp>
        <p:nvSpPr>
          <p:cNvPr id="15" name="Text 13"/>
          <p:cNvSpPr/>
          <p:nvPr/>
        </p:nvSpPr>
        <p:spPr>
          <a:xfrm>
            <a:off x="7315200" y="3474720"/>
            <a:ext cx="228600" cy="228600"/>
          </a:xfrm>
          <a:prstGeom prst="rect">
            <a:avLst/>
          </a:prstGeom>
          <a:noFill/>
          <a:ln/>
        </p:spPr>
        <p:txBody>
          <a:bodyPr wrap="square" lIns="0" tIns="0" rIns="0" bIns="0" rtlCol="0" anchor="ctr"/>
          <a:lstStyle/>
          <a:p>
            <a:pPr indent="0" marL="0">
              <a:buNone/>
            </a:pPr>
            <a:r>
              <a:rPr lang="en-US" sz="2000" b="1" dirty="0">
                <a:solidFill>
                  <a:srgbClr val="2EA043"/>
                </a:solidFill>
              </a:rPr>
              <a:t>•</a:t>
            </a:r>
            <a:endParaRPr lang="en-US" sz="2000" dirty="0"/>
          </a:p>
        </p:txBody>
      </p:sp>
      <p:sp>
        <p:nvSpPr>
          <p:cNvPr id="16" name="Text 14"/>
          <p:cNvSpPr/>
          <p:nvPr/>
        </p:nvSpPr>
        <p:spPr>
          <a:xfrm>
            <a:off x="7589520" y="3474720"/>
            <a:ext cx="3474720" cy="256032"/>
          </a:xfrm>
          <a:prstGeom prst="rect">
            <a:avLst/>
          </a:prstGeom>
          <a:noFill/>
          <a:ln/>
        </p:spPr>
        <p:txBody>
          <a:bodyPr wrap="square" lIns="0" tIns="0" rIns="0" bIns="0" rtlCol="0" anchor="ctr"/>
          <a:lstStyle/>
          <a:p>
            <a:pPr indent="0" marL="0">
              <a:buNone/>
            </a:pPr>
            <a:r>
              <a:rPr lang="en-US" sz="2000" dirty="0">
                <a:solidFill>
                  <a:srgbClr val="E6EDF3"/>
                </a:solidFill>
              </a:rPr>
              <a:t>Conclusion</a:t>
            </a:r>
            <a:endParaRPr lang="en-US" sz="2000" dirty="0"/>
          </a:p>
        </p:txBody>
      </p:sp>
      <p:sp>
        <p:nvSpPr>
          <p:cNvPr id="17" name="Text 15"/>
          <p:cNvSpPr/>
          <p:nvPr/>
        </p:nvSpPr>
        <p:spPr>
          <a:xfrm>
            <a:off x="11292840" y="6464808"/>
            <a:ext cx="411480" cy="164592"/>
          </a:xfrm>
          <a:prstGeom prst="rect">
            <a:avLst/>
          </a:prstGeom>
          <a:noFill/>
          <a:ln/>
        </p:spPr>
        <p:txBody>
          <a:bodyPr wrap="square" lIns="0" tIns="0" rIns="0" bIns="0" rtlCol="0" anchor="ctr"/>
          <a:lstStyle/>
          <a:p>
            <a:pPr indent="0" marL="0">
              <a:buNone/>
            </a:pPr>
            <a:r>
              <a:rPr lang="en-US" sz="800" dirty="0">
                <a:solidFill>
                  <a:srgbClr val="8B949E"/>
                </a:solidFill>
              </a:rPr>
              <a:t>8/15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117"/>
          </a:solidFill>
          <a:ln w="12700">
            <a:solidFill>
              <a:srgbClr val="0D1117"/>
            </a:solidFill>
            <a:prstDash val="solid"/>
          </a:ln>
        </p:spPr>
      </p:sp>
      <p:sp>
        <p:nvSpPr>
          <p:cNvPr id="3" name="Shape 1"/>
          <p:cNvSpPr/>
          <p:nvPr/>
        </p:nvSpPr>
        <p:spPr>
          <a:xfrm>
            <a:off x="0" y="0"/>
            <a:ext cx="12191695" cy="109728"/>
          </a:xfrm>
          <a:prstGeom prst="rect">
            <a:avLst/>
          </a:prstGeom>
          <a:solidFill>
            <a:srgbClr val="2EA043"/>
          </a:solidFill>
          <a:ln w="12700">
            <a:solidFill>
              <a:srgbClr val="2EA043"/>
            </a:solidFill>
            <a:prstDash val="solid"/>
          </a:ln>
        </p:spPr>
      </p:sp>
      <p:sp>
        <p:nvSpPr>
          <p:cNvPr id="4" name="Text 2"/>
          <p:cNvSpPr/>
          <p:nvPr/>
        </p:nvSpPr>
        <p:spPr>
          <a:xfrm>
            <a:off x="502920" y="292608"/>
            <a:ext cx="7772400" cy="438912"/>
          </a:xfrm>
          <a:prstGeom prst="rect">
            <a:avLst/>
          </a:prstGeom>
          <a:noFill/>
          <a:ln/>
        </p:spPr>
        <p:txBody>
          <a:bodyPr wrap="square" lIns="0" tIns="0" rIns="0" bIns="0" rtlCol="0" anchor="ctr"/>
          <a:lstStyle/>
          <a:p>
            <a:pPr indent="0" marL="0">
              <a:buNone/>
            </a:pPr>
            <a:r>
              <a:rPr lang="en-US" sz="2600" b="1" dirty="0">
                <a:solidFill>
                  <a:srgbClr val="F0F6FC"/>
                </a:solidFill>
                <a:latin typeface="Aptos Display" pitchFamily="34" charset="0"/>
                <a:ea typeface="Aptos Display" pitchFamily="34" charset="-122"/>
                <a:cs typeface="Aptos Display" pitchFamily="34" charset="-120"/>
              </a:rPr>
              <a:t>Data Analysis Example</a:t>
            </a:r>
            <a:endParaRPr lang="en-US" sz="2600" dirty="0"/>
          </a:p>
        </p:txBody>
      </p:sp>
      <p:sp>
        <p:nvSpPr>
          <p:cNvPr id="5" name="Text 3"/>
          <p:cNvSpPr/>
          <p:nvPr/>
        </p:nvSpPr>
        <p:spPr>
          <a:xfrm>
            <a:off x="9326880" y="347472"/>
            <a:ext cx="2240280" cy="228600"/>
          </a:xfrm>
          <a:prstGeom prst="rect">
            <a:avLst/>
          </a:prstGeom>
          <a:noFill/>
          <a:ln/>
        </p:spPr>
        <p:txBody>
          <a:bodyPr wrap="square" lIns="0" tIns="0" rIns="0" bIns="0" rtlCol="0" anchor="ctr"/>
          <a:lstStyle/>
          <a:p>
            <a:pPr algn="r" indent="0" marL="0">
              <a:buNone/>
            </a:pPr>
            <a:r>
              <a:rPr lang="en-US" sz="800" dirty="0">
                <a:solidFill>
                  <a:srgbClr val="8B949E"/>
                </a:solidFill>
              </a:rPr>
              <a:t>GitHub for Geological Research</a:t>
            </a:r>
            <a:endParaRPr lang="en-US" sz="800" dirty="0"/>
          </a:p>
        </p:txBody>
      </p:sp>
      <p:sp>
        <p:nvSpPr>
          <p:cNvPr id="6" name="Text 4"/>
          <p:cNvSpPr/>
          <p:nvPr/>
        </p:nvSpPr>
        <p:spPr>
          <a:xfrm>
            <a:off x="822960" y="1051560"/>
            <a:ext cx="6217920" cy="411480"/>
          </a:xfrm>
          <a:prstGeom prst="rect">
            <a:avLst/>
          </a:prstGeom>
          <a:noFill/>
          <a:ln/>
        </p:spPr>
        <p:txBody>
          <a:bodyPr wrap="square" lIns="0" tIns="0" rIns="0" bIns="0" rtlCol="0" anchor="ctr"/>
          <a:lstStyle/>
          <a:p>
            <a:pPr indent="0" marL="0">
              <a:buNone/>
            </a:pPr>
            <a:r>
              <a:rPr lang="en-US" sz="2400" b="1" dirty="0">
                <a:solidFill>
                  <a:srgbClr val="F0F6FC"/>
                </a:solidFill>
              </a:rPr>
              <a:t>Python can support research by analyzing larger datasets.</a:t>
            </a:r>
            <a:endParaRPr lang="en-US" sz="2400" dirty="0"/>
          </a:p>
        </p:txBody>
      </p:sp>
      <p:sp>
        <p:nvSpPr>
          <p:cNvPr id="7" name="Shape 5"/>
          <p:cNvSpPr/>
          <p:nvPr/>
        </p:nvSpPr>
        <p:spPr>
          <a:xfrm>
            <a:off x="868680" y="2743200"/>
            <a:ext cx="1874520" cy="1005840"/>
          </a:xfrm>
          <a:prstGeom prst="roundRect">
            <a:avLst>
              <a:gd name="adj" fmla="val 7273"/>
            </a:avLst>
          </a:prstGeom>
          <a:solidFill>
            <a:srgbClr val="2F81F7"/>
          </a:solidFill>
          <a:ln w="12700">
            <a:solidFill>
              <a:srgbClr val="2F81F7"/>
            </a:solidFill>
            <a:prstDash val="solid"/>
          </a:ln>
        </p:spPr>
      </p:sp>
      <p:sp>
        <p:nvSpPr>
          <p:cNvPr id="8" name="Text 6"/>
          <p:cNvSpPr/>
          <p:nvPr/>
        </p:nvSpPr>
        <p:spPr>
          <a:xfrm>
            <a:off x="1581912" y="2880360"/>
            <a:ext cx="365760" cy="27432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9" name="Text 7"/>
          <p:cNvSpPr/>
          <p:nvPr/>
        </p:nvSpPr>
        <p:spPr>
          <a:xfrm>
            <a:off x="1033272" y="3429000"/>
            <a:ext cx="1508760" cy="182880"/>
          </a:xfrm>
          <a:prstGeom prst="rect">
            <a:avLst/>
          </a:prstGeom>
          <a:noFill/>
          <a:ln/>
        </p:spPr>
        <p:txBody>
          <a:bodyPr wrap="square" lIns="0" tIns="0" rIns="0" bIns="0" rtlCol="0" anchor="ctr"/>
          <a:lstStyle/>
          <a:p>
            <a:pPr algn="ctr" indent="0" marL="0">
              <a:buNone/>
            </a:pPr>
            <a:r>
              <a:rPr lang="en-US" sz="1200" b="1" dirty="0">
                <a:solidFill>
                  <a:srgbClr val="FFFFFF"/>
                </a:solidFill>
              </a:rPr>
              <a:t>CSV Data</a:t>
            </a:r>
            <a:endParaRPr lang="en-US" sz="1200" dirty="0"/>
          </a:p>
        </p:txBody>
      </p:sp>
      <p:sp>
        <p:nvSpPr>
          <p:cNvPr id="10" name="Text 8"/>
          <p:cNvSpPr/>
          <p:nvPr/>
        </p:nvSpPr>
        <p:spPr>
          <a:xfrm>
            <a:off x="2926080" y="3044952"/>
            <a:ext cx="365760" cy="228600"/>
          </a:xfrm>
          <a:prstGeom prst="rect">
            <a:avLst/>
          </a:prstGeom>
          <a:noFill/>
          <a:ln/>
        </p:spPr>
        <p:txBody>
          <a:bodyPr wrap="square" lIns="0" tIns="0" rIns="0" bIns="0" rtlCol="0" anchor="ctr"/>
          <a:lstStyle/>
          <a:p>
            <a:pPr indent="0" marL="0">
              <a:buNone/>
            </a:pPr>
            <a:r>
              <a:rPr lang="en-US" sz="2400" dirty="0">
                <a:solidFill>
                  <a:srgbClr val="8B949E"/>
                </a:solidFill>
              </a:rPr>
              <a:t>→</a:t>
            </a:r>
            <a:endParaRPr lang="en-US" sz="2400" dirty="0"/>
          </a:p>
        </p:txBody>
      </p:sp>
      <p:sp>
        <p:nvSpPr>
          <p:cNvPr id="11" name="Shape 9"/>
          <p:cNvSpPr/>
          <p:nvPr/>
        </p:nvSpPr>
        <p:spPr>
          <a:xfrm>
            <a:off x="3611880" y="2743200"/>
            <a:ext cx="1874520" cy="1005840"/>
          </a:xfrm>
          <a:prstGeom prst="roundRect">
            <a:avLst>
              <a:gd name="adj" fmla="val 7273"/>
            </a:avLst>
          </a:prstGeom>
          <a:solidFill>
            <a:srgbClr val="2EA043"/>
          </a:solidFill>
          <a:ln w="12700">
            <a:solidFill>
              <a:srgbClr val="2EA043"/>
            </a:solidFill>
            <a:prstDash val="solid"/>
          </a:ln>
        </p:spPr>
      </p:sp>
      <p:sp>
        <p:nvSpPr>
          <p:cNvPr id="12" name="Text 10"/>
          <p:cNvSpPr/>
          <p:nvPr/>
        </p:nvSpPr>
        <p:spPr>
          <a:xfrm>
            <a:off x="4325112" y="2880360"/>
            <a:ext cx="365760" cy="27432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13" name="Text 11"/>
          <p:cNvSpPr/>
          <p:nvPr/>
        </p:nvSpPr>
        <p:spPr>
          <a:xfrm>
            <a:off x="3776472" y="3429000"/>
            <a:ext cx="1508760" cy="182880"/>
          </a:xfrm>
          <a:prstGeom prst="rect">
            <a:avLst/>
          </a:prstGeom>
          <a:noFill/>
          <a:ln/>
        </p:spPr>
        <p:txBody>
          <a:bodyPr wrap="square" lIns="0" tIns="0" rIns="0" bIns="0" rtlCol="0" anchor="ctr"/>
          <a:lstStyle/>
          <a:p>
            <a:pPr algn="ctr" indent="0" marL="0">
              <a:buNone/>
            </a:pPr>
            <a:r>
              <a:rPr lang="en-US" sz="1200" b="1" dirty="0">
                <a:solidFill>
                  <a:srgbClr val="FFFFFF"/>
                </a:solidFill>
              </a:rPr>
              <a:t>Python Script</a:t>
            </a:r>
            <a:endParaRPr lang="en-US" sz="1200" dirty="0"/>
          </a:p>
        </p:txBody>
      </p:sp>
      <p:sp>
        <p:nvSpPr>
          <p:cNvPr id="14" name="Text 12"/>
          <p:cNvSpPr/>
          <p:nvPr/>
        </p:nvSpPr>
        <p:spPr>
          <a:xfrm>
            <a:off x="5669280" y="3044952"/>
            <a:ext cx="365760" cy="228600"/>
          </a:xfrm>
          <a:prstGeom prst="rect">
            <a:avLst/>
          </a:prstGeom>
          <a:noFill/>
          <a:ln/>
        </p:spPr>
        <p:txBody>
          <a:bodyPr wrap="square" lIns="0" tIns="0" rIns="0" bIns="0" rtlCol="0" anchor="ctr"/>
          <a:lstStyle/>
          <a:p>
            <a:pPr indent="0" marL="0">
              <a:buNone/>
            </a:pPr>
            <a:r>
              <a:rPr lang="en-US" sz="2400" dirty="0">
                <a:solidFill>
                  <a:srgbClr val="8B949E"/>
                </a:solidFill>
              </a:rPr>
              <a:t>→</a:t>
            </a:r>
            <a:endParaRPr lang="en-US" sz="2400" dirty="0"/>
          </a:p>
        </p:txBody>
      </p:sp>
      <p:sp>
        <p:nvSpPr>
          <p:cNvPr id="15" name="Shape 13"/>
          <p:cNvSpPr/>
          <p:nvPr/>
        </p:nvSpPr>
        <p:spPr>
          <a:xfrm>
            <a:off x="6355080" y="2743200"/>
            <a:ext cx="1874520" cy="1005840"/>
          </a:xfrm>
          <a:prstGeom prst="roundRect">
            <a:avLst>
              <a:gd name="adj" fmla="val 7273"/>
            </a:avLst>
          </a:prstGeom>
          <a:solidFill>
            <a:srgbClr val="8B5E34"/>
          </a:solidFill>
          <a:ln w="12700">
            <a:solidFill>
              <a:srgbClr val="8B5E34"/>
            </a:solidFill>
            <a:prstDash val="solid"/>
          </a:ln>
        </p:spPr>
      </p:sp>
      <p:sp>
        <p:nvSpPr>
          <p:cNvPr id="16" name="Text 14"/>
          <p:cNvSpPr/>
          <p:nvPr/>
        </p:nvSpPr>
        <p:spPr>
          <a:xfrm>
            <a:off x="7068312" y="2880360"/>
            <a:ext cx="365760" cy="27432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17" name="Text 15"/>
          <p:cNvSpPr/>
          <p:nvPr/>
        </p:nvSpPr>
        <p:spPr>
          <a:xfrm>
            <a:off x="6519672" y="3429000"/>
            <a:ext cx="1508760" cy="182880"/>
          </a:xfrm>
          <a:prstGeom prst="rect">
            <a:avLst/>
          </a:prstGeom>
          <a:noFill/>
          <a:ln/>
        </p:spPr>
        <p:txBody>
          <a:bodyPr wrap="square" lIns="0" tIns="0" rIns="0" bIns="0" rtlCol="0" anchor="ctr"/>
          <a:lstStyle/>
          <a:p>
            <a:pPr algn="ctr" indent="0" marL="0">
              <a:buNone/>
            </a:pPr>
            <a:r>
              <a:rPr lang="en-US" sz="1200" b="1" dirty="0">
                <a:solidFill>
                  <a:srgbClr val="FFFFFF"/>
                </a:solidFill>
              </a:rPr>
              <a:t>Graph</a:t>
            </a:r>
            <a:endParaRPr lang="en-US" sz="1200" dirty="0"/>
          </a:p>
        </p:txBody>
      </p:sp>
      <p:sp>
        <p:nvSpPr>
          <p:cNvPr id="18" name="Text 16"/>
          <p:cNvSpPr/>
          <p:nvPr/>
        </p:nvSpPr>
        <p:spPr>
          <a:xfrm>
            <a:off x="8412480" y="3044952"/>
            <a:ext cx="365760" cy="228600"/>
          </a:xfrm>
          <a:prstGeom prst="rect">
            <a:avLst/>
          </a:prstGeom>
          <a:noFill/>
          <a:ln/>
        </p:spPr>
        <p:txBody>
          <a:bodyPr wrap="square" lIns="0" tIns="0" rIns="0" bIns="0" rtlCol="0" anchor="ctr"/>
          <a:lstStyle/>
          <a:p>
            <a:pPr indent="0" marL="0">
              <a:buNone/>
            </a:pPr>
            <a:r>
              <a:rPr lang="en-US" sz="2400" dirty="0">
                <a:solidFill>
                  <a:srgbClr val="8B949E"/>
                </a:solidFill>
              </a:rPr>
              <a:t>→</a:t>
            </a:r>
            <a:endParaRPr lang="en-US" sz="2400" dirty="0"/>
          </a:p>
        </p:txBody>
      </p:sp>
      <p:sp>
        <p:nvSpPr>
          <p:cNvPr id="19" name="Shape 17"/>
          <p:cNvSpPr/>
          <p:nvPr/>
        </p:nvSpPr>
        <p:spPr>
          <a:xfrm>
            <a:off x="9098280" y="2743200"/>
            <a:ext cx="1874520" cy="1005840"/>
          </a:xfrm>
          <a:prstGeom prst="roundRect">
            <a:avLst>
              <a:gd name="adj" fmla="val 7273"/>
            </a:avLst>
          </a:prstGeom>
          <a:solidFill>
            <a:srgbClr val="A15C38"/>
          </a:solidFill>
          <a:ln w="12700">
            <a:solidFill>
              <a:srgbClr val="A15C38"/>
            </a:solidFill>
            <a:prstDash val="solid"/>
          </a:ln>
        </p:spPr>
      </p:sp>
      <p:sp>
        <p:nvSpPr>
          <p:cNvPr id="20" name="Text 18"/>
          <p:cNvSpPr/>
          <p:nvPr/>
        </p:nvSpPr>
        <p:spPr>
          <a:xfrm>
            <a:off x="9811512" y="2880360"/>
            <a:ext cx="365760" cy="27432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21" name="Text 19"/>
          <p:cNvSpPr/>
          <p:nvPr/>
        </p:nvSpPr>
        <p:spPr>
          <a:xfrm>
            <a:off x="9262872" y="3429000"/>
            <a:ext cx="1508760" cy="182880"/>
          </a:xfrm>
          <a:prstGeom prst="rect">
            <a:avLst/>
          </a:prstGeom>
          <a:noFill/>
          <a:ln/>
        </p:spPr>
        <p:txBody>
          <a:bodyPr wrap="square" lIns="0" tIns="0" rIns="0" bIns="0" rtlCol="0" anchor="ctr"/>
          <a:lstStyle/>
          <a:p>
            <a:pPr algn="ctr" indent="0" marL="0">
              <a:buNone/>
            </a:pPr>
            <a:r>
              <a:rPr lang="en-US" sz="1200" b="1" dirty="0">
                <a:solidFill>
                  <a:srgbClr val="FFFFFF"/>
                </a:solidFill>
              </a:rPr>
              <a:t>Research Report</a:t>
            </a:r>
            <a:endParaRPr lang="en-US" sz="1200" dirty="0"/>
          </a:p>
        </p:txBody>
      </p:sp>
      <p:sp>
        <p:nvSpPr>
          <p:cNvPr id="22" name="Text 20"/>
          <p:cNvSpPr/>
          <p:nvPr/>
        </p:nvSpPr>
        <p:spPr>
          <a:xfrm>
            <a:off x="868680" y="4709160"/>
            <a:ext cx="5852160" cy="320040"/>
          </a:xfrm>
          <a:prstGeom prst="rect">
            <a:avLst/>
          </a:prstGeom>
          <a:noFill/>
          <a:ln/>
        </p:spPr>
        <p:txBody>
          <a:bodyPr wrap="square" lIns="0" tIns="0" rIns="0" bIns="0" rtlCol="0" anchor="ctr"/>
          <a:lstStyle/>
          <a:p>
            <a:pPr indent="0" marL="0">
              <a:buNone/>
            </a:pPr>
            <a:r>
              <a:rPr lang="en-US" sz="1800" b="1" dirty="0">
                <a:solidFill>
                  <a:srgbClr val="D8B46A"/>
                </a:solidFill>
              </a:rPr>
              <a:t>Focus: research workflow, not deep Python teaching.</a:t>
            </a:r>
            <a:endParaRPr lang="en-US" sz="1800" dirty="0"/>
          </a:p>
        </p:txBody>
      </p:sp>
      <p:sp>
        <p:nvSpPr>
          <p:cNvPr id="23" name="Text 21"/>
          <p:cNvSpPr/>
          <p:nvPr/>
        </p:nvSpPr>
        <p:spPr>
          <a:xfrm>
            <a:off x="11292840" y="6464808"/>
            <a:ext cx="411480" cy="164592"/>
          </a:xfrm>
          <a:prstGeom prst="rect">
            <a:avLst/>
          </a:prstGeom>
          <a:noFill/>
          <a:ln/>
        </p:spPr>
        <p:txBody>
          <a:bodyPr wrap="square" lIns="0" tIns="0" rIns="0" bIns="0" rtlCol="0" anchor="ctr"/>
          <a:lstStyle/>
          <a:p>
            <a:pPr indent="0" marL="0">
              <a:buNone/>
            </a:pPr>
            <a:r>
              <a:rPr lang="en-US" sz="800" dirty="0">
                <a:solidFill>
                  <a:srgbClr val="8B949E"/>
                </a:solidFill>
              </a:rPr>
              <a:t>9/15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117"/>
          </a:solidFill>
          <a:ln w="12700">
            <a:solidFill>
              <a:srgbClr val="0D1117"/>
            </a:solidFill>
            <a:prstDash val="solid"/>
          </a:ln>
        </p:spPr>
      </p:sp>
      <p:sp>
        <p:nvSpPr>
          <p:cNvPr id="3" name="Shape 1"/>
          <p:cNvSpPr/>
          <p:nvPr/>
        </p:nvSpPr>
        <p:spPr>
          <a:xfrm>
            <a:off x="0" y="0"/>
            <a:ext cx="12191695" cy="109728"/>
          </a:xfrm>
          <a:prstGeom prst="rect">
            <a:avLst/>
          </a:prstGeom>
          <a:solidFill>
            <a:srgbClr val="2EA043"/>
          </a:solidFill>
          <a:ln w="12700">
            <a:solidFill>
              <a:srgbClr val="2EA043"/>
            </a:solidFill>
            <a:prstDash val="solid"/>
          </a:ln>
        </p:spPr>
      </p:sp>
      <p:sp>
        <p:nvSpPr>
          <p:cNvPr id="4" name="Text 2"/>
          <p:cNvSpPr/>
          <p:nvPr/>
        </p:nvSpPr>
        <p:spPr>
          <a:xfrm>
            <a:off x="502920" y="292608"/>
            <a:ext cx="7772400" cy="438912"/>
          </a:xfrm>
          <a:prstGeom prst="rect">
            <a:avLst/>
          </a:prstGeom>
          <a:noFill/>
          <a:ln/>
        </p:spPr>
        <p:txBody>
          <a:bodyPr wrap="square" lIns="0" tIns="0" rIns="0" bIns="0" rtlCol="0" anchor="ctr"/>
          <a:lstStyle/>
          <a:p>
            <a:pPr indent="0" marL="0">
              <a:buNone/>
            </a:pPr>
            <a:r>
              <a:rPr lang="en-US" sz="2600" b="1" dirty="0">
                <a:solidFill>
                  <a:srgbClr val="F0F6FC"/>
                </a:solidFill>
                <a:latin typeface="Aptos Display" pitchFamily="34" charset="0"/>
                <a:ea typeface="Aptos Display" pitchFamily="34" charset="-122"/>
                <a:cs typeface="Aptos Display" pitchFamily="34" charset="-120"/>
              </a:rPr>
              <a:t>Collaboration Workflow</a:t>
            </a:r>
            <a:endParaRPr lang="en-US" sz="2600" dirty="0"/>
          </a:p>
        </p:txBody>
      </p:sp>
      <p:sp>
        <p:nvSpPr>
          <p:cNvPr id="5" name="Text 3"/>
          <p:cNvSpPr/>
          <p:nvPr/>
        </p:nvSpPr>
        <p:spPr>
          <a:xfrm>
            <a:off x="9326880" y="347472"/>
            <a:ext cx="2240280" cy="228600"/>
          </a:xfrm>
          <a:prstGeom prst="rect">
            <a:avLst/>
          </a:prstGeom>
          <a:noFill/>
          <a:ln/>
        </p:spPr>
        <p:txBody>
          <a:bodyPr wrap="square" lIns="0" tIns="0" rIns="0" bIns="0" rtlCol="0" anchor="ctr"/>
          <a:lstStyle/>
          <a:p>
            <a:pPr algn="r" indent="0" marL="0">
              <a:buNone/>
            </a:pPr>
            <a:r>
              <a:rPr lang="en-US" sz="800" dirty="0">
                <a:solidFill>
                  <a:srgbClr val="8B949E"/>
                </a:solidFill>
              </a:rPr>
              <a:t>GitHub for Geological Research</a:t>
            </a:r>
            <a:endParaRPr lang="en-US" sz="800" dirty="0"/>
          </a:p>
        </p:txBody>
      </p:sp>
      <p:sp>
        <p:nvSpPr>
          <p:cNvPr id="6" name="Shape 4"/>
          <p:cNvSpPr/>
          <p:nvPr/>
        </p:nvSpPr>
        <p:spPr>
          <a:xfrm>
            <a:off x="822960" y="1234440"/>
            <a:ext cx="4526280" cy="868680"/>
          </a:xfrm>
          <a:prstGeom prst="roundRect">
            <a:avLst>
              <a:gd name="adj" fmla="val 8421"/>
            </a:avLst>
          </a:prstGeom>
          <a:solidFill>
            <a:srgbClr val="21262D"/>
          </a:solidFill>
          <a:ln w="12700">
            <a:solidFill>
              <a:srgbClr val="30363D"/>
            </a:solidFill>
            <a:prstDash val="solid"/>
          </a:ln>
        </p:spPr>
      </p:sp>
      <p:sp>
        <p:nvSpPr>
          <p:cNvPr id="7" name="Text 5"/>
          <p:cNvSpPr/>
          <p:nvPr/>
        </p:nvSpPr>
        <p:spPr>
          <a:xfrm>
            <a:off x="1051560" y="1380744"/>
            <a:ext cx="1280160" cy="182880"/>
          </a:xfrm>
          <a:prstGeom prst="rect">
            <a:avLst/>
          </a:prstGeom>
          <a:noFill/>
          <a:ln/>
        </p:spPr>
        <p:txBody>
          <a:bodyPr wrap="square" lIns="0" tIns="0" rIns="0" bIns="0" rtlCol="0" anchor="ctr"/>
          <a:lstStyle/>
          <a:p>
            <a:pPr indent="0" marL="0">
              <a:buNone/>
            </a:pPr>
            <a:r>
              <a:rPr lang="en-US" sz="1500" b="1" dirty="0">
                <a:solidFill>
                  <a:srgbClr val="2EA043"/>
                </a:solidFill>
              </a:rPr>
              <a:t>Student A</a:t>
            </a:r>
            <a:endParaRPr lang="en-US" sz="1500" dirty="0"/>
          </a:p>
        </p:txBody>
      </p:sp>
      <p:sp>
        <p:nvSpPr>
          <p:cNvPr id="8" name="Text 6"/>
          <p:cNvSpPr/>
          <p:nvPr/>
        </p:nvSpPr>
        <p:spPr>
          <a:xfrm>
            <a:off x="2331720" y="1399032"/>
            <a:ext cx="2468880" cy="182880"/>
          </a:xfrm>
          <a:prstGeom prst="rect">
            <a:avLst/>
          </a:prstGeom>
          <a:noFill/>
          <a:ln/>
        </p:spPr>
        <p:txBody>
          <a:bodyPr wrap="square" lIns="0" tIns="0" rIns="0" bIns="0" rtlCol="0" anchor="ctr"/>
          <a:lstStyle/>
          <a:p>
            <a:pPr indent="0" marL="0">
              <a:buNone/>
            </a:pPr>
            <a:r>
              <a:rPr lang="en-US" sz="1600" dirty="0">
                <a:solidFill>
                  <a:srgbClr val="F0F6FC"/>
                </a:solidFill>
              </a:rPr>
              <a:t>Field Data Collection</a:t>
            </a:r>
            <a:endParaRPr lang="en-US" sz="1600" dirty="0"/>
          </a:p>
        </p:txBody>
      </p:sp>
      <p:sp>
        <p:nvSpPr>
          <p:cNvPr id="9" name="Shape 7"/>
          <p:cNvSpPr/>
          <p:nvPr/>
        </p:nvSpPr>
        <p:spPr>
          <a:xfrm>
            <a:off x="6309360" y="1234440"/>
            <a:ext cx="4526280" cy="868680"/>
          </a:xfrm>
          <a:prstGeom prst="roundRect">
            <a:avLst>
              <a:gd name="adj" fmla="val 8421"/>
            </a:avLst>
          </a:prstGeom>
          <a:solidFill>
            <a:srgbClr val="21262D"/>
          </a:solidFill>
          <a:ln w="12700">
            <a:solidFill>
              <a:srgbClr val="30363D"/>
            </a:solidFill>
            <a:prstDash val="solid"/>
          </a:ln>
        </p:spPr>
      </p:sp>
      <p:sp>
        <p:nvSpPr>
          <p:cNvPr id="10" name="Text 8"/>
          <p:cNvSpPr/>
          <p:nvPr/>
        </p:nvSpPr>
        <p:spPr>
          <a:xfrm>
            <a:off x="6537960" y="1380744"/>
            <a:ext cx="1280160" cy="182880"/>
          </a:xfrm>
          <a:prstGeom prst="rect">
            <a:avLst/>
          </a:prstGeom>
          <a:noFill/>
          <a:ln/>
        </p:spPr>
        <p:txBody>
          <a:bodyPr wrap="square" lIns="0" tIns="0" rIns="0" bIns="0" rtlCol="0" anchor="ctr"/>
          <a:lstStyle/>
          <a:p>
            <a:pPr indent="0" marL="0">
              <a:buNone/>
            </a:pPr>
            <a:r>
              <a:rPr lang="en-US" sz="1500" b="1" dirty="0">
                <a:solidFill>
                  <a:srgbClr val="2EA043"/>
                </a:solidFill>
              </a:rPr>
              <a:t>Student B</a:t>
            </a:r>
            <a:endParaRPr lang="en-US" sz="1500" dirty="0"/>
          </a:p>
        </p:txBody>
      </p:sp>
      <p:sp>
        <p:nvSpPr>
          <p:cNvPr id="11" name="Text 9"/>
          <p:cNvSpPr/>
          <p:nvPr/>
        </p:nvSpPr>
        <p:spPr>
          <a:xfrm>
            <a:off x="7818120" y="1399032"/>
            <a:ext cx="2468880" cy="182880"/>
          </a:xfrm>
          <a:prstGeom prst="rect">
            <a:avLst/>
          </a:prstGeom>
          <a:noFill/>
          <a:ln/>
        </p:spPr>
        <p:txBody>
          <a:bodyPr wrap="square" lIns="0" tIns="0" rIns="0" bIns="0" rtlCol="0" anchor="ctr"/>
          <a:lstStyle/>
          <a:p>
            <a:pPr indent="0" marL="0">
              <a:buNone/>
            </a:pPr>
            <a:r>
              <a:rPr lang="en-US" sz="1600" dirty="0">
                <a:solidFill>
                  <a:srgbClr val="F0F6FC"/>
                </a:solidFill>
              </a:rPr>
              <a:t>Data Cleaning</a:t>
            </a:r>
            <a:endParaRPr lang="en-US" sz="1600" dirty="0"/>
          </a:p>
        </p:txBody>
      </p:sp>
      <p:sp>
        <p:nvSpPr>
          <p:cNvPr id="12" name="Shape 10"/>
          <p:cNvSpPr/>
          <p:nvPr/>
        </p:nvSpPr>
        <p:spPr>
          <a:xfrm>
            <a:off x="822960" y="2651760"/>
            <a:ext cx="4526280" cy="868680"/>
          </a:xfrm>
          <a:prstGeom prst="roundRect">
            <a:avLst>
              <a:gd name="adj" fmla="val 8421"/>
            </a:avLst>
          </a:prstGeom>
          <a:solidFill>
            <a:srgbClr val="21262D"/>
          </a:solidFill>
          <a:ln w="12700">
            <a:solidFill>
              <a:srgbClr val="30363D"/>
            </a:solidFill>
            <a:prstDash val="solid"/>
          </a:ln>
        </p:spPr>
      </p:sp>
      <p:sp>
        <p:nvSpPr>
          <p:cNvPr id="13" name="Text 11"/>
          <p:cNvSpPr/>
          <p:nvPr/>
        </p:nvSpPr>
        <p:spPr>
          <a:xfrm>
            <a:off x="1051560" y="2798064"/>
            <a:ext cx="1280160" cy="182880"/>
          </a:xfrm>
          <a:prstGeom prst="rect">
            <a:avLst/>
          </a:prstGeom>
          <a:noFill/>
          <a:ln/>
        </p:spPr>
        <p:txBody>
          <a:bodyPr wrap="square" lIns="0" tIns="0" rIns="0" bIns="0" rtlCol="0" anchor="ctr"/>
          <a:lstStyle/>
          <a:p>
            <a:pPr indent="0" marL="0">
              <a:buNone/>
            </a:pPr>
            <a:r>
              <a:rPr lang="en-US" sz="1500" b="1" dirty="0">
                <a:solidFill>
                  <a:srgbClr val="2EA043"/>
                </a:solidFill>
              </a:rPr>
              <a:t>Student C</a:t>
            </a:r>
            <a:endParaRPr lang="en-US" sz="1500" dirty="0"/>
          </a:p>
        </p:txBody>
      </p:sp>
      <p:sp>
        <p:nvSpPr>
          <p:cNvPr id="14" name="Text 12"/>
          <p:cNvSpPr/>
          <p:nvPr/>
        </p:nvSpPr>
        <p:spPr>
          <a:xfrm>
            <a:off x="2331720" y="2816352"/>
            <a:ext cx="2468880" cy="182880"/>
          </a:xfrm>
          <a:prstGeom prst="rect">
            <a:avLst/>
          </a:prstGeom>
          <a:noFill/>
          <a:ln/>
        </p:spPr>
        <p:txBody>
          <a:bodyPr wrap="square" lIns="0" tIns="0" rIns="0" bIns="0" rtlCol="0" anchor="ctr"/>
          <a:lstStyle/>
          <a:p>
            <a:pPr indent="0" marL="0">
              <a:buNone/>
            </a:pPr>
            <a:r>
              <a:rPr lang="en-US" sz="1600" dirty="0">
                <a:solidFill>
                  <a:srgbClr val="F0F6FC"/>
                </a:solidFill>
              </a:rPr>
              <a:t>Analysis</a:t>
            </a:r>
            <a:endParaRPr lang="en-US" sz="1600" dirty="0"/>
          </a:p>
        </p:txBody>
      </p:sp>
      <p:sp>
        <p:nvSpPr>
          <p:cNvPr id="15" name="Shape 13"/>
          <p:cNvSpPr/>
          <p:nvPr/>
        </p:nvSpPr>
        <p:spPr>
          <a:xfrm>
            <a:off x="6309360" y="2651760"/>
            <a:ext cx="4526280" cy="868680"/>
          </a:xfrm>
          <a:prstGeom prst="roundRect">
            <a:avLst>
              <a:gd name="adj" fmla="val 8421"/>
            </a:avLst>
          </a:prstGeom>
          <a:solidFill>
            <a:srgbClr val="21262D"/>
          </a:solidFill>
          <a:ln w="12700">
            <a:solidFill>
              <a:srgbClr val="30363D"/>
            </a:solidFill>
            <a:prstDash val="solid"/>
          </a:ln>
        </p:spPr>
      </p:sp>
      <p:sp>
        <p:nvSpPr>
          <p:cNvPr id="16" name="Text 14"/>
          <p:cNvSpPr/>
          <p:nvPr/>
        </p:nvSpPr>
        <p:spPr>
          <a:xfrm>
            <a:off x="6537960" y="2798064"/>
            <a:ext cx="1280160" cy="182880"/>
          </a:xfrm>
          <a:prstGeom prst="rect">
            <a:avLst/>
          </a:prstGeom>
          <a:noFill/>
          <a:ln/>
        </p:spPr>
        <p:txBody>
          <a:bodyPr wrap="square" lIns="0" tIns="0" rIns="0" bIns="0" rtlCol="0" anchor="ctr"/>
          <a:lstStyle/>
          <a:p>
            <a:pPr indent="0" marL="0">
              <a:buNone/>
            </a:pPr>
            <a:r>
              <a:rPr lang="en-US" sz="1500" b="1" dirty="0">
                <a:solidFill>
                  <a:srgbClr val="2EA043"/>
                </a:solidFill>
              </a:rPr>
              <a:t>Student D</a:t>
            </a:r>
            <a:endParaRPr lang="en-US" sz="1500" dirty="0"/>
          </a:p>
        </p:txBody>
      </p:sp>
      <p:sp>
        <p:nvSpPr>
          <p:cNvPr id="17" name="Text 15"/>
          <p:cNvSpPr/>
          <p:nvPr/>
        </p:nvSpPr>
        <p:spPr>
          <a:xfrm>
            <a:off x="7818120" y="2816352"/>
            <a:ext cx="2468880" cy="182880"/>
          </a:xfrm>
          <a:prstGeom prst="rect">
            <a:avLst/>
          </a:prstGeom>
          <a:noFill/>
          <a:ln/>
        </p:spPr>
        <p:txBody>
          <a:bodyPr wrap="square" lIns="0" tIns="0" rIns="0" bIns="0" rtlCol="0" anchor="ctr"/>
          <a:lstStyle/>
          <a:p>
            <a:pPr indent="0" marL="0">
              <a:buNone/>
            </a:pPr>
            <a:r>
              <a:rPr lang="en-US" sz="1600" dirty="0">
                <a:solidFill>
                  <a:srgbClr val="F0F6FC"/>
                </a:solidFill>
              </a:rPr>
              <a:t>Report Writing</a:t>
            </a:r>
            <a:endParaRPr lang="en-US" sz="1600" dirty="0"/>
          </a:p>
        </p:txBody>
      </p:sp>
      <p:sp>
        <p:nvSpPr>
          <p:cNvPr id="18" name="Text 16"/>
          <p:cNvSpPr/>
          <p:nvPr/>
        </p:nvSpPr>
        <p:spPr>
          <a:xfrm>
            <a:off x="1508760" y="4846320"/>
            <a:ext cx="7955280" cy="457200"/>
          </a:xfrm>
          <a:prstGeom prst="rect">
            <a:avLst/>
          </a:prstGeom>
          <a:noFill/>
          <a:ln/>
        </p:spPr>
        <p:txBody>
          <a:bodyPr wrap="square" lIns="0" tIns="0" rIns="0" bIns="0" rtlCol="0" anchor="ctr"/>
          <a:lstStyle/>
          <a:p>
            <a:pPr algn="ctr" indent="0" marL="0">
              <a:buNone/>
            </a:pPr>
            <a:r>
              <a:rPr lang="en-US" sz="2500" b="1" dirty="0">
                <a:solidFill>
                  <a:srgbClr val="D8B46A"/>
                </a:solidFill>
              </a:rPr>
              <a:t>Branches → Commits → Pull Requests → Merge</a:t>
            </a:r>
            <a:endParaRPr lang="en-US" sz="2500" dirty="0"/>
          </a:p>
        </p:txBody>
      </p:sp>
      <p:sp>
        <p:nvSpPr>
          <p:cNvPr id="19" name="Text 17"/>
          <p:cNvSpPr/>
          <p:nvPr/>
        </p:nvSpPr>
        <p:spPr>
          <a:xfrm>
            <a:off x="11292840" y="6464808"/>
            <a:ext cx="411480" cy="164592"/>
          </a:xfrm>
          <a:prstGeom prst="rect">
            <a:avLst/>
          </a:prstGeom>
          <a:noFill/>
          <a:ln/>
        </p:spPr>
        <p:txBody>
          <a:bodyPr wrap="square" lIns="0" tIns="0" rIns="0" bIns="0" rtlCol="0" anchor="ctr"/>
          <a:lstStyle/>
          <a:p>
            <a:pPr indent="0" marL="0">
              <a:buNone/>
            </a:pPr>
            <a:r>
              <a:rPr lang="en-US" sz="800" dirty="0">
                <a:solidFill>
                  <a:srgbClr val="8B949E"/>
                </a:solidFill>
              </a:rPr>
              <a:t>10/15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117"/>
          </a:solidFill>
          <a:ln w="12700">
            <a:solidFill>
              <a:srgbClr val="0D1117"/>
            </a:solidFill>
            <a:prstDash val="solid"/>
          </a:ln>
        </p:spPr>
      </p:sp>
      <p:sp>
        <p:nvSpPr>
          <p:cNvPr id="3" name="Shape 1"/>
          <p:cNvSpPr/>
          <p:nvPr/>
        </p:nvSpPr>
        <p:spPr>
          <a:xfrm>
            <a:off x="0" y="0"/>
            <a:ext cx="12191695" cy="109728"/>
          </a:xfrm>
          <a:prstGeom prst="rect">
            <a:avLst/>
          </a:prstGeom>
          <a:solidFill>
            <a:srgbClr val="2EA043"/>
          </a:solidFill>
          <a:ln w="12700">
            <a:solidFill>
              <a:srgbClr val="2EA043"/>
            </a:solidFill>
            <a:prstDash val="solid"/>
          </a:ln>
        </p:spPr>
      </p:sp>
      <p:sp>
        <p:nvSpPr>
          <p:cNvPr id="4" name="Text 2"/>
          <p:cNvSpPr/>
          <p:nvPr/>
        </p:nvSpPr>
        <p:spPr>
          <a:xfrm>
            <a:off x="502920" y="292608"/>
            <a:ext cx="7772400" cy="438912"/>
          </a:xfrm>
          <a:prstGeom prst="rect">
            <a:avLst/>
          </a:prstGeom>
          <a:noFill/>
          <a:ln/>
        </p:spPr>
        <p:txBody>
          <a:bodyPr wrap="square" lIns="0" tIns="0" rIns="0" bIns="0" rtlCol="0" anchor="ctr"/>
          <a:lstStyle/>
          <a:p>
            <a:pPr indent="0" marL="0">
              <a:buNone/>
            </a:pPr>
            <a:r>
              <a:rPr lang="en-US" sz="2600" b="1" dirty="0">
                <a:solidFill>
                  <a:srgbClr val="F0F6FC"/>
                </a:solidFill>
                <a:latin typeface="Aptos Display" pitchFamily="34" charset="0"/>
                <a:ea typeface="Aptos Display" pitchFamily="34" charset="-122"/>
                <a:cs typeface="Aptos Display" pitchFamily="34" charset="-120"/>
              </a:rPr>
              <a:t>Connecting Git Concepts With Geology Projects</a:t>
            </a:r>
            <a:endParaRPr lang="en-US" sz="2600" dirty="0"/>
          </a:p>
        </p:txBody>
      </p:sp>
      <p:sp>
        <p:nvSpPr>
          <p:cNvPr id="5" name="Text 3"/>
          <p:cNvSpPr/>
          <p:nvPr/>
        </p:nvSpPr>
        <p:spPr>
          <a:xfrm>
            <a:off x="9326880" y="347472"/>
            <a:ext cx="2240280" cy="228600"/>
          </a:xfrm>
          <a:prstGeom prst="rect">
            <a:avLst/>
          </a:prstGeom>
          <a:noFill/>
          <a:ln/>
        </p:spPr>
        <p:txBody>
          <a:bodyPr wrap="square" lIns="0" tIns="0" rIns="0" bIns="0" rtlCol="0" anchor="ctr"/>
          <a:lstStyle/>
          <a:p>
            <a:pPr algn="r" indent="0" marL="0">
              <a:buNone/>
            </a:pPr>
            <a:r>
              <a:rPr lang="en-US" sz="800" dirty="0">
                <a:solidFill>
                  <a:srgbClr val="8B949E"/>
                </a:solidFill>
              </a:rPr>
              <a:t>GitHub for Geological Research</a:t>
            </a:r>
            <a:endParaRPr lang="en-US" sz="800" dirty="0"/>
          </a:p>
        </p:txBody>
      </p:sp>
      <p:sp>
        <p:nvSpPr>
          <p:cNvPr id="6" name="Shape 4"/>
          <p:cNvSpPr/>
          <p:nvPr/>
        </p:nvSpPr>
        <p:spPr>
          <a:xfrm>
            <a:off x="960120" y="1143000"/>
            <a:ext cx="2926080" cy="530352"/>
          </a:xfrm>
          <a:prstGeom prst="rect">
            <a:avLst/>
          </a:prstGeom>
          <a:solidFill>
            <a:srgbClr val="2F81F7"/>
          </a:solidFill>
          <a:ln w="12700">
            <a:solidFill>
              <a:srgbClr val="30363D"/>
            </a:solidFill>
            <a:prstDash val="solid"/>
          </a:ln>
        </p:spPr>
      </p:sp>
      <p:sp>
        <p:nvSpPr>
          <p:cNvPr id="7" name="Shape 5"/>
          <p:cNvSpPr/>
          <p:nvPr/>
        </p:nvSpPr>
        <p:spPr>
          <a:xfrm>
            <a:off x="3886200" y="1143000"/>
            <a:ext cx="7223760" cy="530352"/>
          </a:xfrm>
          <a:prstGeom prst="rect">
            <a:avLst/>
          </a:prstGeom>
          <a:solidFill>
            <a:srgbClr val="2F81F7"/>
          </a:solidFill>
          <a:ln w="12700">
            <a:solidFill>
              <a:srgbClr val="30363D"/>
            </a:solidFill>
            <a:prstDash val="solid"/>
          </a:ln>
        </p:spPr>
      </p:sp>
      <p:sp>
        <p:nvSpPr>
          <p:cNvPr id="8" name="Text 6"/>
          <p:cNvSpPr/>
          <p:nvPr/>
        </p:nvSpPr>
        <p:spPr>
          <a:xfrm>
            <a:off x="1097280" y="1298448"/>
            <a:ext cx="2651760" cy="137160"/>
          </a:xfrm>
          <a:prstGeom prst="rect">
            <a:avLst/>
          </a:prstGeom>
          <a:noFill/>
          <a:ln/>
        </p:spPr>
        <p:txBody>
          <a:bodyPr wrap="square" lIns="0" tIns="0" rIns="0" bIns="0" rtlCol="0" anchor="ctr"/>
          <a:lstStyle/>
          <a:p>
            <a:pPr indent="0" marL="0">
              <a:buNone/>
            </a:pPr>
            <a:r>
              <a:rPr lang="en-US" sz="1600" b="1" dirty="0">
                <a:solidFill>
                  <a:srgbClr val="F0F6FC"/>
                </a:solidFill>
              </a:rPr>
              <a:t>Git Concept</a:t>
            </a:r>
            <a:endParaRPr lang="en-US" sz="1600" dirty="0"/>
          </a:p>
        </p:txBody>
      </p:sp>
      <p:sp>
        <p:nvSpPr>
          <p:cNvPr id="9" name="Text 7"/>
          <p:cNvSpPr/>
          <p:nvPr/>
        </p:nvSpPr>
        <p:spPr>
          <a:xfrm>
            <a:off x="4023360" y="1298448"/>
            <a:ext cx="6949440" cy="137160"/>
          </a:xfrm>
          <a:prstGeom prst="rect">
            <a:avLst/>
          </a:prstGeom>
          <a:noFill/>
          <a:ln/>
        </p:spPr>
        <p:txBody>
          <a:bodyPr wrap="square" lIns="0" tIns="0" rIns="0" bIns="0" rtlCol="0" anchor="ctr"/>
          <a:lstStyle/>
          <a:p>
            <a:pPr indent="0" marL="0">
              <a:buNone/>
            </a:pPr>
            <a:r>
              <a:rPr lang="en-US" sz="1600" b="1" dirty="0">
                <a:solidFill>
                  <a:srgbClr val="F0F6FC"/>
                </a:solidFill>
              </a:rPr>
              <a:t>Meaning in a Geology Project</a:t>
            </a:r>
            <a:endParaRPr lang="en-US" sz="1600" dirty="0"/>
          </a:p>
        </p:txBody>
      </p:sp>
      <p:sp>
        <p:nvSpPr>
          <p:cNvPr id="10" name="Shape 8"/>
          <p:cNvSpPr/>
          <p:nvPr/>
        </p:nvSpPr>
        <p:spPr>
          <a:xfrm>
            <a:off x="960120" y="1673352"/>
            <a:ext cx="2926080" cy="530352"/>
          </a:xfrm>
          <a:prstGeom prst="rect">
            <a:avLst/>
          </a:prstGeom>
          <a:solidFill>
            <a:srgbClr val="161B22"/>
          </a:solidFill>
          <a:ln w="12700">
            <a:solidFill>
              <a:srgbClr val="30363D"/>
            </a:solidFill>
            <a:prstDash val="solid"/>
          </a:ln>
        </p:spPr>
      </p:sp>
      <p:sp>
        <p:nvSpPr>
          <p:cNvPr id="11" name="Shape 9"/>
          <p:cNvSpPr/>
          <p:nvPr/>
        </p:nvSpPr>
        <p:spPr>
          <a:xfrm>
            <a:off x="3886200" y="1673352"/>
            <a:ext cx="7223760" cy="530352"/>
          </a:xfrm>
          <a:prstGeom prst="rect">
            <a:avLst/>
          </a:prstGeom>
          <a:solidFill>
            <a:srgbClr val="161B22"/>
          </a:solidFill>
          <a:ln w="12700">
            <a:solidFill>
              <a:srgbClr val="30363D"/>
            </a:solidFill>
            <a:prstDash val="solid"/>
          </a:ln>
        </p:spPr>
      </p:sp>
      <p:sp>
        <p:nvSpPr>
          <p:cNvPr id="12" name="Text 10"/>
          <p:cNvSpPr/>
          <p:nvPr/>
        </p:nvSpPr>
        <p:spPr>
          <a:xfrm>
            <a:off x="1097280" y="1828800"/>
            <a:ext cx="2651760" cy="137160"/>
          </a:xfrm>
          <a:prstGeom prst="rect">
            <a:avLst/>
          </a:prstGeom>
          <a:noFill/>
          <a:ln/>
        </p:spPr>
        <p:txBody>
          <a:bodyPr wrap="square" lIns="0" tIns="0" rIns="0" bIns="0" rtlCol="0" anchor="ctr"/>
          <a:lstStyle/>
          <a:p>
            <a:pPr indent="0" marL="0">
              <a:buNone/>
            </a:pPr>
            <a:r>
              <a:rPr lang="en-US" sz="1600" dirty="0">
                <a:solidFill>
                  <a:srgbClr val="F0F6FC"/>
                </a:solidFill>
              </a:rPr>
              <a:t>Repository</a:t>
            </a:r>
            <a:endParaRPr lang="en-US" sz="1600" dirty="0"/>
          </a:p>
        </p:txBody>
      </p:sp>
      <p:sp>
        <p:nvSpPr>
          <p:cNvPr id="13" name="Text 11"/>
          <p:cNvSpPr/>
          <p:nvPr/>
        </p:nvSpPr>
        <p:spPr>
          <a:xfrm>
            <a:off x="4023360" y="1828800"/>
            <a:ext cx="6949440" cy="137160"/>
          </a:xfrm>
          <a:prstGeom prst="rect">
            <a:avLst/>
          </a:prstGeom>
          <a:noFill/>
          <a:ln/>
        </p:spPr>
        <p:txBody>
          <a:bodyPr wrap="square" lIns="0" tIns="0" rIns="0" bIns="0" rtlCol="0" anchor="ctr"/>
          <a:lstStyle/>
          <a:p>
            <a:pPr indent="0" marL="0">
              <a:buNone/>
            </a:pPr>
            <a:r>
              <a:rPr lang="en-US" sz="1600" dirty="0">
                <a:solidFill>
                  <a:srgbClr val="F0F6FC"/>
                </a:solidFill>
              </a:rPr>
              <a:t>Project storage</a:t>
            </a:r>
            <a:endParaRPr lang="en-US" sz="1600" dirty="0"/>
          </a:p>
        </p:txBody>
      </p:sp>
      <p:sp>
        <p:nvSpPr>
          <p:cNvPr id="14" name="Shape 12"/>
          <p:cNvSpPr/>
          <p:nvPr/>
        </p:nvSpPr>
        <p:spPr>
          <a:xfrm>
            <a:off x="960120" y="2203704"/>
            <a:ext cx="2926080" cy="530352"/>
          </a:xfrm>
          <a:prstGeom prst="rect">
            <a:avLst/>
          </a:prstGeom>
          <a:solidFill>
            <a:srgbClr val="161B22"/>
          </a:solidFill>
          <a:ln w="12700">
            <a:solidFill>
              <a:srgbClr val="30363D"/>
            </a:solidFill>
            <a:prstDash val="solid"/>
          </a:ln>
        </p:spPr>
      </p:sp>
      <p:sp>
        <p:nvSpPr>
          <p:cNvPr id="15" name="Shape 13"/>
          <p:cNvSpPr/>
          <p:nvPr/>
        </p:nvSpPr>
        <p:spPr>
          <a:xfrm>
            <a:off x="3886200" y="2203704"/>
            <a:ext cx="7223760" cy="530352"/>
          </a:xfrm>
          <a:prstGeom prst="rect">
            <a:avLst/>
          </a:prstGeom>
          <a:solidFill>
            <a:srgbClr val="161B22"/>
          </a:solidFill>
          <a:ln w="12700">
            <a:solidFill>
              <a:srgbClr val="30363D"/>
            </a:solidFill>
            <a:prstDash val="solid"/>
          </a:ln>
        </p:spPr>
      </p:sp>
      <p:sp>
        <p:nvSpPr>
          <p:cNvPr id="16" name="Text 14"/>
          <p:cNvSpPr/>
          <p:nvPr/>
        </p:nvSpPr>
        <p:spPr>
          <a:xfrm>
            <a:off x="1097280" y="2359152"/>
            <a:ext cx="2651760" cy="137160"/>
          </a:xfrm>
          <a:prstGeom prst="rect">
            <a:avLst/>
          </a:prstGeom>
          <a:noFill/>
          <a:ln/>
        </p:spPr>
        <p:txBody>
          <a:bodyPr wrap="square" lIns="0" tIns="0" rIns="0" bIns="0" rtlCol="0" anchor="ctr"/>
          <a:lstStyle/>
          <a:p>
            <a:pPr indent="0" marL="0">
              <a:buNone/>
            </a:pPr>
            <a:r>
              <a:rPr lang="en-US" sz="1600" dirty="0">
                <a:solidFill>
                  <a:srgbClr val="F0F6FC"/>
                </a:solidFill>
              </a:rPr>
              <a:t>Commit</a:t>
            </a:r>
            <a:endParaRPr lang="en-US" sz="1600" dirty="0"/>
          </a:p>
        </p:txBody>
      </p:sp>
      <p:sp>
        <p:nvSpPr>
          <p:cNvPr id="17" name="Text 15"/>
          <p:cNvSpPr/>
          <p:nvPr/>
        </p:nvSpPr>
        <p:spPr>
          <a:xfrm>
            <a:off x="4023360" y="2359152"/>
            <a:ext cx="6949440" cy="137160"/>
          </a:xfrm>
          <a:prstGeom prst="rect">
            <a:avLst/>
          </a:prstGeom>
          <a:noFill/>
          <a:ln/>
        </p:spPr>
        <p:txBody>
          <a:bodyPr wrap="square" lIns="0" tIns="0" rIns="0" bIns="0" rtlCol="0" anchor="ctr"/>
          <a:lstStyle/>
          <a:p>
            <a:pPr indent="0" marL="0">
              <a:buNone/>
            </a:pPr>
            <a:r>
              <a:rPr lang="en-US" sz="1600" dirty="0">
                <a:solidFill>
                  <a:srgbClr val="F0F6FC"/>
                </a:solidFill>
              </a:rPr>
              <a:t>Record changes</a:t>
            </a:r>
            <a:endParaRPr lang="en-US" sz="1600" dirty="0"/>
          </a:p>
        </p:txBody>
      </p:sp>
      <p:sp>
        <p:nvSpPr>
          <p:cNvPr id="18" name="Shape 16"/>
          <p:cNvSpPr/>
          <p:nvPr/>
        </p:nvSpPr>
        <p:spPr>
          <a:xfrm>
            <a:off x="960120" y="2734056"/>
            <a:ext cx="2926080" cy="530352"/>
          </a:xfrm>
          <a:prstGeom prst="rect">
            <a:avLst/>
          </a:prstGeom>
          <a:solidFill>
            <a:srgbClr val="161B22"/>
          </a:solidFill>
          <a:ln w="12700">
            <a:solidFill>
              <a:srgbClr val="30363D"/>
            </a:solidFill>
            <a:prstDash val="solid"/>
          </a:ln>
        </p:spPr>
      </p:sp>
      <p:sp>
        <p:nvSpPr>
          <p:cNvPr id="19" name="Shape 17"/>
          <p:cNvSpPr/>
          <p:nvPr/>
        </p:nvSpPr>
        <p:spPr>
          <a:xfrm>
            <a:off x="3886200" y="2734056"/>
            <a:ext cx="7223760" cy="530352"/>
          </a:xfrm>
          <a:prstGeom prst="rect">
            <a:avLst/>
          </a:prstGeom>
          <a:solidFill>
            <a:srgbClr val="161B22"/>
          </a:solidFill>
          <a:ln w="12700">
            <a:solidFill>
              <a:srgbClr val="30363D"/>
            </a:solidFill>
            <a:prstDash val="solid"/>
          </a:ln>
        </p:spPr>
      </p:sp>
      <p:sp>
        <p:nvSpPr>
          <p:cNvPr id="20" name="Text 18"/>
          <p:cNvSpPr/>
          <p:nvPr/>
        </p:nvSpPr>
        <p:spPr>
          <a:xfrm>
            <a:off x="1097280" y="2889504"/>
            <a:ext cx="2651760" cy="137160"/>
          </a:xfrm>
          <a:prstGeom prst="rect">
            <a:avLst/>
          </a:prstGeom>
          <a:noFill/>
          <a:ln/>
        </p:spPr>
        <p:txBody>
          <a:bodyPr wrap="square" lIns="0" tIns="0" rIns="0" bIns="0" rtlCol="0" anchor="ctr"/>
          <a:lstStyle/>
          <a:p>
            <a:pPr indent="0" marL="0">
              <a:buNone/>
            </a:pPr>
            <a:r>
              <a:rPr lang="en-US" sz="1600" dirty="0">
                <a:solidFill>
                  <a:srgbClr val="F0F6FC"/>
                </a:solidFill>
              </a:rPr>
              <a:t>Branch</a:t>
            </a:r>
            <a:endParaRPr lang="en-US" sz="1600" dirty="0"/>
          </a:p>
        </p:txBody>
      </p:sp>
      <p:sp>
        <p:nvSpPr>
          <p:cNvPr id="21" name="Text 19"/>
          <p:cNvSpPr/>
          <p:nvPr/>
        </p:nvSpPr>
        <p:spPr>
          <a:xfrm>
            <a:off x="4023360" y="2889504"/>
            <a:ext cx="6949440" cy="137160"/>
          </a:xfrm>
          <a:prstGeom prst="rect">
            <a:avLst/>
          </a:prstGeom>
          <a:noFill/>
          <a:ln/>
        </p:spPr>
        <p:txBody>
          <a:bodyPr wrap="square" lIns="0" tIns="0" rIns="0" bIns="0" rtlCol="0" anchor="ctr"/>
          <a:lstStyle/>
          <a:p>
            <a:pPr indent="0" marL="0">
              <a:buNone/>
            </a:pPr>
            <a:r>
              <a:rPr lang="en-US" sz="1600" dirty="0">
                <a:solidFill>
                  <a:srgbClr val="F0F6FC"/>
                </a:solidFill>
              </a:rPr>
              <a:t>Work separately</a:t>
            </a:r>
            <a:endParaRPr lang="en-US" sz="1600" dirty="0"/>
          </a:p>
        </p:txBody>
      </p:sp>
      <p:sp>
        <p:nvSpPr>
          <p:cNvPr id="22" name="Shape 20"/>
          <p:cNvSpPr/>
          <p:nvPr/>
        </p:nvSpPr>
        <p:spPr>
          <a:xfrm>
            <a:off x="960120" y="3264408"/>
            <a:ext cx="2926080" cy="530352"/>
          </a:xfrm>
          <a:prstGeom prst="rect">
            <a:avLst/>
          </a:prstGeom>
          <a:solidFill>
            <a:srgbClr val="161B22"/>
          </a:solidFill>
          <a:ln w="12700">
            <a:solidFill>
              <a:srgbClr val="30363D"/>
            </a:solidFill>
            <a:prstDash val="solid"/>
          </a:ln>
        </p:spPr>
      </p:sp>
      <p:sp>
        <p:nvSpPr>
          <p:cNvPr id="23" name="Shape 21"/>
          <p:cNvSpPr/>
          <p:nvPr/>
        </p:nvSpPr>
        <p:spPr>
          <a:xfrm>
            <a:off x="3886200" y="3264408"/>
            <a:ext cx="7223760" cy="530352"/>
          </a:xfrm>
          <a:prstGeom prst="rect">
            <a:avLst/>
          </a:prstGeom>
          <a:solidFill>
            <a:srgbClr val="161B22"/>
          </a:solidFill>
          <a:ln w="12700">
            <a:solidFill>
              <a:srgbClr val="30363D"/>
            </a:solidFill>
            <a:prstDash val="solid"/>
          </a:ln>
        </p:spPr>
      </p:sp>
      <p:sp>
        <p:nvSpPr>
          <p:cNvPr id="24" name="Text 22"/>
          <p:cNvSpPr/>
          <p:nvPr/>
        </p:nvSpPr>
        <p:spPr>
          <a:xfrm>
            <a:off x="1097280" y="3419856"/>
            <a:ext cx="2651760" cy="137160"/>
          </a:xfrm>
          <a:prstGeom prst="rect">
            <a:avLst/>
          </a:prstGeom>
          <a:noFill/>
          <a:ln/>
        </p:spPr>
        <p:txBody>
          <a:bodyPr wrap="square" lIns="0" tIns="0" rIns="0" bIns="0" rtlCol="0" anchor="ctr"/>
          <a:lstStyle/>
          <a:p>
            <a:pPr indent="0" marL="0">
              <a:buNone/>
            </a:pPr>
            <a:r>
              <a:rPr lang="en-US" sz="1600" dirty="0">
                <a:solidFill>
                  <a:srgbClr val="F0F6FC"/>
                </a:solidFill>
              </a:rPr>
              <a:t>Merge</a:t>
            </a:r>
            <a:endParaRPr lang="en-US" sz="1600" dirty="0"/>
          </a:p>
        </p:txBody>
      </p:sp>
      <p:sp>
        <p:nvSpPr>
          <p:cNvPr id="25" name="Text 23"/>
          <p:cNvSpPr/>
          <p:nvPr/>
        </p:nvSpPr>
        <p:spPr>
          <a:xfrm>
            <a:off x="4023360" y="3419856"/>
            <a:ext cx="6949440" cy="137160"/>
          </a:xfrm>
          <a:prstGeom prst="rect">
            <a:avLst/>
          </a:prstGeom>
          <a:noFill/>
          <a:ln/>
        </p:spPr>
        <p:txBody>
          <a:bodyPr wrap="square" lIns="0" tIns="0" rIns="0" bIns="0" rtlCol="0" anchor="ctr"/>
          <a:lstStyle/>
          <a:p>
            <a:pPr indent="0" marL="0">
              <a:buNone/>
            </a:pPr>
            <a:r>
              <a:rPr lang="en-US" sz="1600" dirty="0">
                <a:solidFill>
                  <a:srgbClr val="F0F6FC"/>
                </a:solidFill>
              </a:rPr>
              <a:t>Combine contributions</a:t>
            </a:r>
            <a:endParaRPr lang="en-US" sz="1600" dirty="0"/>
          </a:p>
        </p:txBody>
      </p:sp>
      <p:sp>
        <p:nvSpPr>
          <p:cNvPr id="26" name="Shape 24"/>
          <p:cNvSpPr/>
          <p:nvPr/>
        </p:nvSpPr>
        <p:spPr>
          <a:xfrm>
            <a:off x="960120" y="3794760"/>
            <a:ext cx="2926080" cy="530352"/>
          </a:xfrm>
          <a:prstGeom prst="rect">
            <a:avLst/>
          </a:prstGeom>
          <a:solidFill>
            <a:srgbClr val="161B22"/>
          </a:solidFill>
          <a:ln w="12700">
            <a:solidFill>
              <a:srgbClr val="30363D"/>
            </a:solidFill>
            <a:prstDash val="solid"/>
          </a:ln>
        </p:spPr>
      </p:sp>
      <p:sp>
        <p:nvSpPr>
          <p:cNvPr id="27" name="Shape 25"/>
          <p:cNvSpPr/>
          <p:nvPr/>
        </p:nvSpPr>
        <p:spPr>
          <a:xfrm>
            <a:off x="3886200" y="3794760"/>
            <a:ext cx="7223760" cy="530352"/>
          </a:xfrm>
          <a:prstGeom prst="rect">
            <a:avLst/>
          </a:prstGeom>
          <a:solidFill>
            <a:srgbClr val="161B22"/>
          </a:solidFill>
          <a:ln w="12700">
            <a:solidFill>
              <a:srgbClr val="30363D"/>
            </a:solidFill>
            <a:prstDash val="solid"/>
          </a:ln>
        </p:spPr>
      </p:sp>
      <p:sp>
        <p:nvSpPr>
          <p:cNvPr id="28" name="Text 26"/>
          <p:cNvSpPr/>
          <p:nvPr/>
        </p:nvSpPr>
        <p:spPr>
          <a:xfrm>
            <a:off x="1097280" y="3950208"/>
            <a:ext cx="2651760" cy="137160"/>
          </a:xfrm>
          <a:prstGeom prst="rect">
            <a:avLst/>
          </a:prstGeom>
          <a:noFill/>
          <a:ln/>
        </p:spPr>
        <p:txBody>
          <a:bodyPr wrap="square" lIns="0" tIns="0" rIns="0" bIns="0" rtlCol="0" anchor="ctr"/>
          <a:lstStyle/>
          <a:p>
            <a:pPr indent="0" marL="0">
              <a:buNone/>
            </a:pPr>
            <a:r>
              <a:rPr lang="en-US" sz="1600" dirty="0">
                <a:solidFill>
                  <a:srgbClr val="F0F6FC"/>
                </a:solidFill>
              </a:rPr>
              <a:t>Pull Request</a:t>
            </a:r>
            <a:endParaRPr lang="en-US" sz="1600" dirty="0"/>
          </a:p>
        </p:txBody>
      </p:sp>
      <p:sp>
        <p:nvSpPr>
          <p:cNvPr id="29" name="Text 27"/>
          <p:cNvSpPr/>
          <p:nvPr/>
        </p:nvSpPr>
        <p:spPr>
          <a:xfrm>
            <a:off x="4023360" y="3950208"/>
            <a:ext cx="6949440" cy="137160"/>
          </a:xfrm>
          <a:prstGeom prst="rect">
            <a:avLst/>
          </a:prstGeom>
          <a:noFill/>
          <a:ln/>
        </p:spPr>
        <p:txBody>
          <a:bodyPr wrap="square" lIns="0" tIns="0" rIns="0" bIns="0" rtlCol="0" anchor="ctr"/>
          <a:lstStyle/>
          <a:p>
            <a:pPr indent="0" marL="0">
              <a:buNone/>
            </a:pPr>
            <a:r>
              <a:rPr lang="en-US" sz="1600" dirty="0">
                <a:solidFill>
                  <a:srgbClr val="F0F6FC"/>
                </a:solidFill>
              </a:rPr>
              <a:t>Review work</a:t>
            </a:r>
            <a:endParaRPr lang="en-US" sz="1600" dirty="0"/>
          </a:p>
        </p:txBody>
      </p:sp>
      <p:sp>
        <p:nvSpPr>
          <p:cNvPr id="30" name="Shape 28"/>
          <p:cNvSpPr/>
          <p:nvPr/>
        </p:nvSpPr>
        <p:spPr>
          <a:xfrm>
            <a:off x="960120" y="4325112"/>
            <a:ext cx="2926080" cy="530352"/>
          </a:xfrm>
          <a:prstGeom prst="rect">
            <a:avLst/>
          </a:prstGeom>
          <a:solidFill>
            <a:srgbClr val="161B22"/>
          </a:solidFill>
          <a:ln w="12700">
            <a:solidFill>
              <a:srgbClr val="30363D"/>
            </a:solidFill>
            <a:prstDash val="solid"/>
          </a:ln>
        </p:spPr>
      </p:sp>
      <p:sp>
        <p:nvSpPr>
          <p:cNvPr id="31" name="Shape 29"/>
          <p:cNvSpPr/>
          <p:nvPr/>
        </p:nvSpPr>
        <p:spPr>
          <a:xfrm>
            <a:off x="3886200" y="4325112"/>
            <a:ext cx="7223760" cy="530352"/>
          </a:xfrm>
          <a:prstGeom prst="rect">
            <a:avLst/>
          </a:prstGeom>
          <a:solidFill>
            <a:srgbClr val="161B22"/>
          </a:solidFill>
          <a:ln w="12700">
            <a:solidFill>
              <a:srgbClr val="30363D"/>
            </a:solidFill>
            <a:prstDash val="solid"/>
          </a:ln>
        </p:spPr>
      </p:sp>
      <p:sp>
        <p:nvSpPr>
          <p:cNvPr id="32" name="Text 30"/>
          <p:cNvSpPr/>
          <p:nvPr/>
        </p:nvSpPr>
        <p:spPr>
          <a:xfrm>
            <a:off x="1097280" y="4480560"/>
            <a:ext cx="2651760" cy="137160"/>
          </a:xfrm>
          <a:prstGeom prst="rect">
            <a:avLst/>
          </a:prstGeom>
          <a:noFill/>
          <a:ln/>
        </p:spPr>
        <p:txBody>
          <a:bodyPr wrap="square" lIns="0" tIns="0" rIns="0" bIns="0" rtlCol="0" anchor="ctr"/>
          <a:lstStyle/>
          <a:p>
            <a:pPr indent="0" marL="0">
              <a:buNone/>
            </a:pPr>
            <a:r>
              <a:rPr lang="en-US" sz="1600" dirty="0">
                <a:solidFill>
                  <a:srgbClr val="F0F6FC"/>
                </a:solidFill>
              </a:rPr>
              <a:t>Push</a:t>
            </a:r>
            <a:endParaRPr lang="en-US" sz="1600" dirty="0"/>
          </a:p>
        </p:txBody>
      </p:sp>
      <p:sp>
        <p:nvSpPr>
          <p:cNvPr id="33" name="Text 31"/>
          <p:cNvSpPr/>
          <p:nvPr/>
        </p:nvSpPr>
        <p:spPr>
          <a:xfrm>
            <a:off x="4023360" y="4480560"/>
            <a:ext cx="6949440" cy="137160"/>
          </a:xfrm>
          <a:prstGeom prst="rect">
            <a:avLst/>
          </a:prstGeom>
          <a:noFill/>
          <a:ln/>
        </p:spPr>
        <p:txBody>
          <a:bodyPr wrap="square" lIns="0" tIns="0" rIns="0" bIns="0" rtlCol="0" anchor="ctr"/>
          <a:lstStyle/>
          <a:p>
            <a:pPr indent="0" marL="0">
              <a:buNone/>
            </a:pPr>
            <a:r>
              <a:rPr lang="en-US" sz="1600" dirty="0">
                <a:solidFill>
                  <a:srgbClr val="F0F6FC"/>
                </a:solidFill>
              </a:rPr>
              <a:t>Upload changes</a:t>
            </a:r>
            <a:endParaRPr lang="en-US" sz="1600" dirty="0"/>
          </a:p>
        </p:txBody>
      </p:sp>
      <p:sp>
        <p:nvSpPr>
          <p:cNvPr id="34" name="Text 32"/>
          <p:cNvSpPr/>
          <p:nvPr/>
        </p:nvSpPr>
        <p:spPr>
          <a:xfrm>
            <a:off x="11292840" y="6464808"/>
            <a:ext cx="411480" cy="164592"/>
          </a:xfrm>
          <a:prstGeom prst="rect">
            <a:avLst/>
          </a:prstGeom>
          <a:noFill/>
          <a:ln/>
        </p:spPr>
        <p:txBody>
          <a:bodyPr wrap="square" lIns="0" tIns="0" rIns="0" bIns="0" rtlCol="0" anchor="ctr"/>
          <a:lstStyle/>
          <a:p>
            <a:pPr indent="0" marL="0">
              <a:buNone/>
            </a:pPr>
            <a:r>
              <a:rPr lang="en-US" sz="800" dirty="0">
                <a:solidFill>
                  <a:srgbClr val="8B949E"/>
                </a:solidFill>
              </a:rPr>
              <a:t>11/15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117"/>
          </a:solidFill>
          <a:ln w="12700">
            <a:solidFill>
              <a:srgbClr val="0D1117"/>
            </a:solidFill>
            <a:prstDash val="solid"/>
          </a:ln>
        </p:spPr>
      </p:sp>
      <p:sp>
        <p:nvSpPr>
          <p:cNvPr id="3" name="Shape 1"/>
          <p:cNvSpPr/>
          <p:nvPr/>
        </p:nvSpPr>
        <p:spPr>
          <a:xfrm>
            <a:off x="0" y="0"/>
            <a:ext cx="12191695" cy="109728"/>
          </a:xfrm>
          <a:prstGeom prst="rect">
            <a:avLst/>
          </a:prstGeom>
          <a:solidFill>
            <a:srgbClr val="2EA043"/>
          </a:solidFill>
          <a:ln w="12700">
            <a:solidFill>
              <a:srgbClr val="2EA043"/>
            </a:solidFill>
            <a:prstDash val="solid"/>
          </a:ln>
        </p:spPr>
      </p:sp>
      <p:sp>
        <p:nvSpPr>
          <p:cNvPr id="4" name="Text 2"/>
          <p:cNvSpPr/>
          <p:nvPr/>
        </p:nvSpPr>
        <p:spPr>
          <a:xfrm>
            <a:off x="502920" y="292608"/>
            <a:ext cx="7772400" cy="438912"/>
          </a:xfrm>
          <a:prstGeom prst="rect">
            <a:avLst/>
          </a:prstGeom>
          <a:noFill/>
          <a:ln/>
        </p:spPr>
        <p:txBody>
          <a:bodyPr wrap="square" lIns="0" tIns="0" rIns="0" bIns="0" rtlCol="0" anchor="ctr"/>
          <a:lstStyle/>
          <a:p>
            <a:pPr indent="0" marL="0">
              <a:buNone/>
            </a:pPr>
            <a:r>
              <a:rPr lang="en-US" sz="2600" b="1" dirty="0">
                <a:solidFill>
                  <a:srgbClr val="F0F6FC"/>
                </a:solidFill>
                <a:latin typeface="Aptos Display" pitchFamily="34" charset="0"/>
                <a:ea typeface="Aptos Display" pitchFamily="34" charset="-122"/>
                <a:cs typeface="Aptos Display" pitchFamily="34" charset="-120"/>
              </a:rPr>
              <a:t>Live Demonstration</a:t>
            </a:r>
            <a:endParaRPr lang="en-US" sz="2600" dirty="0"/>
          </a:p>
        </p:txBody>
      </p:sp>
      <p:sp>
        <p:nvSpPr>
          <p:cNvPr id="5" name="Text 3"/>
          <p:cNvSpPr/>
          <p:nvPr/>
        </p:nvSpPr>
        <p:spPr>
          <a:xfrm>
            <a:off x="9326880" y="347472"/>
            <a:ext cx="2240280" cy="228600"/>
          </a:xfrm>
          <a:prstGeom prst="rect">
            <a:avLst/>
          </a:prstGeom>
          <a:noFill/>
          <a:ln/>
        </p:spPr>
        <p:txBody>
          <a:bodyPr wrap="square" lIns="0" tIns="0" rIns="0" bIns="0" rtlCol="0" anchor="ctr"/>
          <a:lstStyle/>
          <a:p>
            <a:pPr algn="r" indent="0" marL="0">
              <a:buNone/>
            </a:pPr>
            <a:r>
              <a:rPr lang="en-US" sz="800" dirty="0">
                <a:solidFill>
                  <a:srgbClr val="8B949E"/>
                </a:solidFill>
              </a:rPr>
              <a:t>GitHub for Geological Research</a:t>
            </a:r>
            <a:endParaRPr lang="en-US" sz="800" dirty="0"/>
          </a:p>
        </p:txBody>
      </p:sp>
      <p:sp>
        <p:nvSpPr>
          <p:cNvPr id="6" name="Shape 4"/>
          <p:cNvSpPr/>
          <p:nvPr/>
        </p:nvSpPr>
        <p:spPr>
          <a:xfrm>
            <a:off x="914400" y="1060704"/>
            <a:ext cx="411480" cy="411480"/>
          </a:xfrm>
          <a:prstGeom prst="ellipse">
            <a:avLst/>
          </a:prstGeom>
          <a:solidFill>
            <a:srgbClr val="2EA043"/>
          </a:solidFill>
          <a:ln w="12700">
            <a:solidFill>
              <a:srgbClr val="2EA043"/>
            </a:solidFill>
            <a:prstDash val="solid"/>
          </a:ln>
        </p:spPr>
      </p:sp>
      <p:sp>
        <p:nvSpPr>
          <p:cNvPr id="7" name="Text 5"/>
          <p:cNvSpPr/>
          <p:nvPr/>
        </p:nvSpPr>
        <p:spPr>
          <a:xfrm>
            <a:off x="1069848" y="1170432"/>
            <a:ext cx="91440" cy="91440"/>
          </a:xfrm>
          <a:prstGeom prst="rect">
            <a:avLst/>
          </a:prstGeom>
          <a:noFill/>
          <a:ln/>
        </p:spPr>
        <p:txBody>
          <a:bodyPr wrap="square" lIns="0" tIns="0" rIns="0" bIns="0" rtlCol="0" anchor="ctr"/>
          <a:lstStyle/>
          <a:p>
            <a:pPr indent="0" marL="0">
              <a:buNone/>
            </a:pPr>
            <a:r>
              <a:rPr lang="en-US" sz="1000" b="1" dirty="0">
                <a:solidFill>
                  <a:srgbClr val="FFFFFF"/>
                </a:solidFill>
              </a:rPr>
              <a:t>1</a:t>
            </a:r>
            <a:endParaRPr lang="en-US" sz="1000" dirty="0"/>
          </a:p>
        </p:txBody>
      </p:sp>
      <p:sp>
        <p:nvSpPr>
          <p:cNvPr id="8" name="Text 6"/>
          <p:cNvSpPr/>
          <p:nvPr/>
        </p:nvSpPr>
        <p:spPr>
          <a:xfrm>
            <a:off x="1554480" y="1133856"/>
            <a:ext cx="3749040" cy="228600"/>
          </a:xfrm>
          <a:prstGeom prst="rect">
            <a:avLst/>
          </a:prstGeom>
          <a:noFill/>
          <a:ln/>
        </p:spPr>
        <p:txBody>
          <a:bodyPr wrap="square" lIns="0" tIns="0" rIns="0" bIns="0" rtlCol="0" anchor="ctr"/>
          <a:lstStyle/>
          <a:p>
            <a:pPr indent="0" marL="0">
              <a:buNone/>
            </a:pPr>
            <a:r>
              <a:rPr lang="en-US" sz="1800" dirty="0">
                <a:solidFill>
                  <a:srgbClr val="F0F6FC"/>
                </a:solidFill>
              </a:rPr>
              <a:t>Create repository</a:t>
            </a:r>
            <a:endParaRPr lang="en-US" sz="1800" dirty="0"/>
          </a:p>
        </p:txBody>
      </p:sp>
      <p:sp>
        <p:nvSpPr>
          <p:cNvPr id="9" name="Shape 7"/>
          <p:cNvSpPr/>
          <p:nvPr/>
        </p:nvSpPr>
        <p:spPr>
          <a:xfrm>
            <a:off x="914400" y="1810512"/>
            <a:ext cx="411480" cy="411480"/>
          </a:xfrm>
          <a:prstGeom prst="ellipse">
            <a:avLst/>
          </a:prstGeom>
          <a:solidFill>
            <a:srgbClr val="2EA043"/>
          </a:solidFill>
          <a:ln w="12700">
            <a:solidFill>
              <a:srgbClr val="2EA043"/>
            </a:solidFill>
            <a:prstDash val="solid"/>
          </a:ln>
        </p:spPr>
      </p:sp>
      <p:sp>
        <p:nvSpPr>
          <p:cNvPr id="10" name="Text 8"/>
          <p:cNvSpPr/>
          <p:nvPr/>
        </p:nvSpPr>
        <p:spPr>
          <a:xfrm>
            <a:off x="1069848" y="1920240"/>
            <a:ext cx="91440" cy="91440"/>
          </a:xfrm>
          <a:prstGeom prst="rect">
            <a:avLst/>
          </a:prstGeom>
          <a:noFill/>
          <a:ln/>
        </p:spPr>
        <p:txBody>
          <a:bodyPr wrap="square" lIns="0" tIns="0" rIns="0" bIns="0" rtlCol="0" anchor="ctr"/>
          <a:lstStyle/>
          <a:p>
            <a:pPr indent="0" marL="0">
              <a:buNone/>
            </a:pPr>
            <a:r>
              <a:rPr lang="en-US" sz="1000" b="1" dirty="0">
                <a:solidFill>
                  <a:srgbClr val="FFFFFF"/>
                </a:solidFill>
              </a:rPr>
              <a:t>2</a:t>
            </a:r>
            <a:endParaRPr lang="en-US" sz="1000" dirty="0"/>
          </a:p>
        </p:txBody>
      </p:sp>
      <p:sp>
        <p:nvSpPr>
          <p:cNvPr id="11" name="Text 9"/>
          <p:cNvSpPr/>
          <p:nvPr/>
        </p:nvSpPr>
        <p:spPr>
          <a:xfrm>
            <a:off x="1554480" y="1883664"/>
            <a:ext cx="3749040" cy="228600"/>
          </a:xfrm>
          <a:prstGeom prst="rect">
            <a:avLst/>
          </a:prstGeom>
          <a:noFill/>
          <a:ln/>
        </p:spPr>
        <p:txBody>
          <a:bodyPr wrap="square" lIns="0" tIns="0" rIns="0" bIns="0" rtlCol="0" anchor="ctr"/>
          <a:lstStyle/>
          <a:p>
            <a:pPr indent="0" marL="0">
              <a:buNone/>
            </a:pPr>
            <a:r>
              <a:rPr lang="en-US" sz="1800" dirty="0">
                <a:solidFill>
                  <a:srgbClr val="F0F6FC"/>
                </a:solidFill>
              </a:rPr>
              <a:t>Add geological dataset</a:t>
            </a:r>
            <a:endParaRPr lang="en-US" sz="1800" dirty="0"/>
          </a:p>
        </p:txBody>
      </p:sp>
      <p:sp>
        <p:nvSpPr>
          <p:cNvPr id="12" name="Shape 10"/>
          <p:cNvSpPr/>
          <p:nvPr/>
        </p:nvSpPr>
        <p:spPr>
          <a:xfrm>
            <a:off x="914400" y="2560320"/>
            <a:ext cx="411480" cy="411480"/>
          </a:xfrm>
          <a:prstGeom prst="ellipse">
            <a:avLst/>
          </a:prstGeom>
          <a:solidFill>
            <a:srgbClr val="2EA043"/>
          </a:solidFill>
          <a:ln w="12700">
            <a:solidFill>
              <a:srgbClr val="2EA043"/>
            </a:solidFill>
            <a:prstDash val="solid"/>
          </a:ln>
        </p:spPr>
      </p:sp>
      <p:sp>
        <p:nvSpPr>
          <p:cNvPr id="13" name="Text 11"/>
          <p:cNvSpPr/>
          <p:nvPr/>
        </p:nvSpPr>
        <p:spPr>
          <a:xfrm>
            <a:off x="1069848" y="2670048"/>
            <a:ext cx="91440" cy="91440"/>
          </a:xfrm>
          <a:prstGeom prst="rect">
            <a:avLst/>
          </a:prstGeom>
          <a:noFill/>
          <a:ln/>
        </p:spPr>
        <p:txBody>
          <a:bodyPr wrap="square" lIns="0" tIns="0" rIns="0" bIns="0" rtlCol="0" anchor="ctr"/>
          <a:lstStyle/>
          <a:p>
            <a:pPr indent="0" marL="0">
              <a:buNone/>
            </a:pPr>
            <a:r>
              <a:rPr lang="en-US" sz="1000" b="1" dirty="0">
                <a:solidFill>
                  <a:srgbClr val="FFFFFF"/>
                </a:solidFill>
              </a:rPr>
              <a:t>3</a:t>
            </a:r>
            <a:endParaRPr lang="en-US" sz="1000" dirty="0"/>
          </a:p>
        </p:txBody>
      </p:sp>
      <p:sp>
        <p:nvSpPr>
          <p:cNvPr id="14" name="Text 12"/>
          <p:cNvSpPr/>
          <p:nvPr/>
        </p:nvSpPr>
        <p:spPr>
          <a:xfrm>
            <a:off x="1554480" y="2633472"/>
            <a:ext cx="3749040" cy="228600"/>
          </a:xfrm>
          <a:prstGeom prst="rect">
            <a:avLst/>
          </a:prstGeom>
          <a:noFill/>
          <a:ln/>
        </p:spPr>
        <p:txBody>
          <a:bodyPr wrap="square" lIns="0" tIns="0" rIns="0" bIns="0" rtlCol="0" anchor="ctr"/>
          <a:lstStyle/>
          <a:p>
            <a:pPr indent="0" marL="0">
              <a:buNone/>
            </a:pPr>
            <a:r>
              <a:rPr lang="en-US" sz="1800" dirty="0">
                <a:solidFill>
                  <a:srgbClr val="F0F6FC"/>
                </a:solidFill>
              </a:rPr>
              <a:t>Commit changes</a:t>
            </a:r>
            <a:endParaRPr lang="en-US" sz="1800" dirty="0"/>
          </a:p>
        </p:txBody>
      </p:sp>
      <p:sp>
        <p:nvSpPr>
          <p:cNvPr id="15" name="Shape 13"/>
          <p:cNvSpPr/>
          <p:nvPr/>
        </p:nvSpPr>
        <p:spPr>
          <a:xfrm>
            <a:off x="914400" y="3310128"/>
            <a:ext cx="411480" cy="411480"/>
          </a:xfrm>
          <a:prstGeom prst="ellipse">
            <a:avLst/>
          </a:prstGeom>
          <a:solidFill>
            <a:srgbClr val="2EA043"/>
          </a:solidFill>
          <a:ln w="12700">
            <a:solidFill>
              <a:srgbClr val="2EA043"/>
            </a:solidFill>
            <a:prstDash val="solid"/>
          </a:ln>
        </p:spPr>
      </p:sp>
      <p:sp>
        <p:nvSpPr>
          <p:cNvPr id="16" name="Text 14"/>
          <p:cNvSpPr/>
          <p:nvPr/>
        </p:nvSpPr>
        <p:spPr>
          <a:xfrm>
            <a:off x="1069848" y="3419856"/>
            <a:ext cx="91440" cy="91440"/>
          </a:xfrm>
          <a:prstGeom prst="rect">
            <a:avLst/>
          </a:prstGeom>
          <a:noFill/>
          <a:ln/>
        </p:spPr>
        <p:txBody>
          <a:bodyPr wrap="square" lIns="0" tIns="0" rIns="0" bIns="0" rtlCol="0" anchor="ctr"/>
          <a:lstStyle/>
          <a:p>
            <a:pPr indent="0" marL="0">
              <a:buNone/>
            </a:pPr>
            <a:r>
              <a:rPr lang="en-US" sz="1000" b="1" dirty="0">
                <a:solidFill>
                  <a:srgbClr val="FFFFFF"/>
                </a:solidFill>
              </a:rPr>
              <a:t>4</a:t>
            </a:r>
            <a:endParaRPr lang="en-US" sz="1000" dirty="0"/>
          </a:p>
        </p:txBody>
      </p:sp>
      <p:sp>
        <p:nvSpPr>
          <p:cNvPr id="17" name="Text 15"/>
          <p:cNvSpPr/>
          <p:nvPr/>
        </p:nvSpPr>
        <p:spPr>
          <a:xfrm>
            <a:off x="1554480" y="3383280"/>
            <a:ext cx="3749040" cy="228600"/>
          </a:xfrm>
          <a:prstGeom prst="rect">
            <a:avLst/>
          </a:prstGeom>
          <a:noFill/>
          <a:ln/>
        </p:spPr>
        <p:txBody>
          <a:bodyPr wrap="square" lIns="0" tIns="0" rIns="0" bIns="0" rtlCol="0" anchor="ctr"/>
          <a:lstStyle/>
          <a:p>
            <a:pPr indent="0" marL="0">
              <a:buNone/>
            </a:pPr>
            <a:r>
              <a:rPr lang="en-US" sz="1800" dirty="0">
                <a:solidFill>
                  <a:srgbClr val="F0F6FC"/>
                </a:solidFill>
              </a:rPr>
              <a:t>Push to GitHub</a:t>
            </a:r>
            <a:endParaRPr lang="en-US" sz="1800" dirty="0"/>
          </a:p>
        </p:txBody>
      </p:sp>
      <p:sp>
        <p:nvSpPr>
          <p:cNvPr id="18" name="Shape 16"/>
          <p:cNvSpPr/>
          <p:nvPr/>
        </p:nvSpPr>
        <p:spPr>
          <a:xfrm>
            <a:off x="914400" y="4059936"/>
            <a:ext cx="411480" cy="411480"/>
          </a:xfrm>
          <a:prstGeom prst="ellipse">
            <a:avLst/>
          </a:prstGeom>
          <a:solidFill>
            <a:srgbClr val="2EA043"/>
          </a:solidFill>
          <a:ln w="12700">
            <a:solidFill>
              <a:srgbClr val="2EA043"/>
            </a:solidFill>
            <a:prstDash val="solid"/>
          </a:ln>
        </p:spPr>
      </p:sp>
      <p:sp>
        <p:nvSpPr>
          <p:cNvPr id="19" name="Text 17"/>
          <p:cNvSpPr/>
          <p:nvPr/>
        </p:nvSpPr>
        <p:spPr>
          <a:xfrm>
            <a:off x="1069848" y="4169664"/>
            <a:ext cx="91440" cy="91440"/>
          </a:xfrm>
          <a:prstGeom prst="rect">
            <a:avLst/>
          </a:prstGeom>
          <a:noFill/>
          <a:ln/>
        </p:spPr>
        <p:txBody>
          <a:bodyPr wrap="square" lIns="0" tIns="0" rIns="0" bIns="0" rtlCol="0" anchor="ctr"/>
          <a:lstStyle/>
          <a:p>
            <a:pPr indent="0" marL="0">
              <a:buNone/>
            </a:pPr>
            <a:r>
              <a:rPr lang="en-US" sz="1000" b="1" dirty="0">
                <a:solidFill>
                  <a:srgbClr val="FFFFFF"/>
                </a:solidFill>
              </a:rPr>
              <a:t>5</a:t>
            </a:r>
            <a:endParaRPr lang="en-US" sz="1000" dirty="0"/>
          </a:p>
        </p:txBody>
      </p:sp>
      <p:sp>
        <p:nvSpPr>
          <p:cNvPr id="20" name="Text 18"/>
          <p:cNvSpPr/>
          <p:nvPr/>
        </p:nvSpPr>
        <p:spPr>
          <a:xfrm>
            <a:off x="1554480" y="4133088"/>
            <a:ext cx="3749040" cy="228600"/>
          </a:xfrm>
          <a:prstGeom prst="rect">
            <a:avLst/>
          </a:prstGeom>
          <a:noFill/>
          <a:ln/>
        </p:spPr>
        <p:txBody>
          <a:bodyPr wrap="square" lIns="0" tIns="0" rIns="0" bIns="0" rtlCol="0" anchor="ctr"/>
          <a:lstStyle/>
          <a:p>
            <a:pPr indent="0" marL="0">
              <a:buNone/>
            </a:pPr>
            <a:r>
              <a:rPr lang="en-US" sz="1800" dirty="0">
                <a:solidFill>
                  <a:srgbClr val="F0F6FC"/>
                </a:solidFill>
              </a:rPr>
              <a:t>Update report</a:t>
            </a:r>
            <a:endParaRPr lang="en-US" sz="1800" dirty="0"/>
          </a:p>
        </p:txBody>
      </p:sp>
      <p:sp>
        <p:nvSpPr>
          <p:cNvPr id="21" name="Shape 19"/>
          <p:cNvSpPr/>
          <p:nvPr/>
        </p:nvSpPr>
        <p:spPr>
          <a:xfrm>
            <a:off x="914400" y="4809744"/>
            <a:ext cx="411480" cy="411480"/>
          </a:xfrm>
          <a:prstGeom prst="ellipse">
            <a:avLst/>
          </a:prstGeom>
          <a:solidFill>
            <a:srgbClr val="2EA043"/>
          </a:solidFill>
          <a:ln w="12700">
            <a:solidFill>
              <a:srgbClr val="2EA043"/>
            </a:solidFill>
            <a:prstDash val="solid"/>
          </a:ln>
        </p:spPr>
      </p:sp>
      <p:sp>
        <p:nvSpPr>
          <p:cNvPr id="22" name="Text 20"/>
          <p:cNvSpPr/>
          <p:nvPr/>
        </p:nvSpPr>
        <p:spPr>
          <a:xfrm>
            <a:off x="1069848" y="4919472"/>
            <a:ext cx="91440" cy="91440"/>
          </a:xfrm>
          <a:prstGeom prst="rect">
            <a:avLst/>
          </a:prstGeom>
          <a:noFill/>
          <a:ln/>
        </p:spPr>
        <p:txBody>
          <a:bodyPr wrap="square" lIns="0" tIns="0" rIns="0" bIns="0" rtlCol="0" anchor="ctr"/>
          <a:lstStyle/>
          <a:p>
            <a:pPr indent="0" marL="0">
              <a:buNone/>
            </a:pPr>
            <a:r>
              <a:rPr lang="en-US" sz="1000" b="1" dirty="0">
                <a:solidFill>
                  <a:srgbClr val="FFFFFF"/>
                </a:solidFill>
              </a:rPr>
              <a:t>6</a:t>
            </a:r>
            <a:endParaRPr lang="en-US" sz="1000" dirty="0"/>
          </a:p>
        </p:txBody>
      </p:sp>
      <p:sp>
        <p:nvSpPr>
          <p:cNvPr id="23" name="Text 21"/>
          <p:cNvSpPr/>
          <p:nvPr/>
        </p:nvSpPr>
        <p:spPr>
          <a:xfrm>
            <a:off x="1554480" y="4882896"/>
            <a:ext cx="3749040" cy="228600"/>
          </a:xfrm>
          <a:prstGeom prst="rect">
            <a:avLst/>
          </a:prstGeom>
          <a:noFill/>
          <a:ln/>
        </p:spPr>
        <p:txBody>
          <a:bodyPr wrap="square" lIns="0" tIns="0" rIns="0" bIns="0" rtlCol="0" anchor="ctr"/>
          <a:lstStyle/>
          <a:p>
            <a:pPr indent="0" marL="0">
              <a:buNone/>
            </a:pPr>
            <a:r>
              <a:rPr lang="en-US" sz="1800" dirty="0">
                <a:solidFill>
                  <a:srgbClr val="F0F6FC"/>
                </a:solidFill>
              </a:rPr>
              <a:t>View history</a:t>
            </a:r>
            <a:endParaRPr lang="en-US" sz="1800" dirty="0"/>
          </a:p>
        </p:txBody>
      </p:sp>
      <p:sp>
        <p:nvSpPr>
          <p:cNvPr id="24" name="Shape 22"/>
          <p:cNvSpPr/>
          <p:nvPr/>
        </p:nvSpPr>
        <p:spPr>
          <a:xfrm>
            <a:off x="6492240" y="1508760"/>
            <a:ext cx="3566160" cy="2926080"/>
          </a:xfrm>
          <a:prstGeom prst="roundRect">
            <a:avLst>
              <a:gd name="adj" fmla="val 2500"/>
            </a:avLst>
          </a:prstGeom>
          <a:solidFill>
            <a:srgbClr val="21262D"/>
          </a:solidFill>
          <a:ln w="12700">
            <a:solidFill>
              <a:srgbClr val="30363D"/>
            </a:solidFill>
            <a:prstDash val="solid"/>
          </a:ln>
        </p:spPr>
      </p:sp>
      <p:pic>
        <p:nvPicPr>
          <p:cNvPr id="25" name="Image 0" descr="/mnt/data/github_mark.png">    </p:cNvPr>
          <p:cNvPicPr>
            <a:picLocks noChangeAspect="1"/>
          </p:cNvPicPr>
          <p:nvPr/>
        </p:nvPicPr>
        <p:blipFill>
          <a:blip r:embed="rId1"/>
          <a:stretch>
            <a:fillRect/>
          </a:stretch>
        </p:blipFill>
        <p:spPr>
          <a:xfrm>
            <a:off x="7543800" y="1920240"/>
            <a:ext cx="1280160" cy="1280160"/>
          </a:xfrm>
          <a:prstGeom prst="rect">
            <a:avLst/>
          </a:prstGeom>
        </p:spPr>
      </p:pic>
      <p:sp>
        <p:nvSpPr>
          <p:cNvPr id="26" name="Text 23"/>
          <p:cNvSpPr/>
          <p:nvPr/>
        </p:nvSpPr>
        <p:spPr>
          <a:xfrm>
            <a:off x="7178040" y="3246120"/>
            <a:ext cx="2286000" cy="777240"/>
          </a:xfrm>
          <a:prstGeom prst="rect">
            <a:avLst/>
          </a:prstGeom>
          <a:noFill/>
          <a:ln/>
        </p:spPr>
        <p:txBody>
          <a:bodyPr wrap="square" lIns="0" tIns="0" rIns="0" bIns="0" rtlCol="0" anchor="ctr"/>
          <a:lstStyle/>
          <a:p>
            <a:pPr algn="ctr" indent="0" marL="0">
              <a:buNone/>
            </a:pPr>
            <a:r>
              <a:rPr lang="en-US" sz="1600" dirty="0">
                <a:solidFill>
                  <a:srgbClr val="E6EDF3"/>
                </a:solidFill>
              </a:rPr>
              <a:t>Local Project</a:t>
            </a:r>
            <a:endParaRPr lang="en-US" sz="1600" dirty="0"/>
          </a:p>
          <a:p>
            <a:pPr algn="ctr" indent="0" marL="0">
              <a:buNone/>
            </a:pPr>
            <a:r>
              <a:rPr lang="en-US" sz="1600" dirty="0">
                <a:solidFill>
                  <a:srgbClr val="E6EDF3"/>
                </a:solidFill>
              </a:rPr>
              <a:t>↓</a:t>
            </a:r>
            <a:endParaRPr lang="en-US" sz="1600" dirty="0"/>
          </a:p>
          <a:p>
            <a:pPr algn="ctr" indent="0" marL="0">
              <a:buNone/>
            </a:pPr>
            <a:r>
              <a:rPr lang="en-US" sz="1600" dirty="0">
                <a:solidFill>
                  <a:srgbClr val="E6EDF3"/>
                </a:solidFill>
              </a:rPr>
              <a:t>Git Commit</a:t>
            </a:r>
            <a:endParaRPr lang="en-US" sz="1600" dirty="0"/>
          </a:p>
          <a:p>
            <a:pPr algn="ctr" indent="0" marL="0">
              <a:buNone/>
            </a:pPr>
            <a:r>
              <a:rPr lang="en-US" sz="1600" dirty="0">
                <a:solidFill>
                  <a:srgbClr val="E6EDF3"/>
                </a:solidFill>
              </a:rPr>
              <a:t>↓</a:t>
            </a:r>
            <a:endParaRPr lang="en-US" sz="1600" dirty="0"/>
          </a:p>
          <a:p>
            <a:pPr algn="ctr" indent="0" marL="0">
              <a:buNone/>
            </a:pPr>
            <a:r>
              <a:rPr lang="en-US" sz="1600" dirty="0">
                <a:solidFill>
                  <a:srgbClr val="E6EDF3"/>
                </a:solidFill>
              </a:rPr>
              <a:t>GitHub Repository</a:t>
            </a:r>
            <a:endParaRPr lang="en-US" sz="1600" dirty="0"/>
          </a:p>
        </p:txBody>
      </p:sp>
      <p:sp>
        <p:nvSpPr>
          <p:cNvPr id="27" name="Text 24"/>
          <p:cNvSpPr/>
          <p:nvPr/>
        </p:nvSpPr>
        <p:spPr>
          <a:xfrm>
            <a:off x="11292840" y="6464808"/>
            <a:ext cx="411480" cy="164592"/>
          </a:xfrm>
          <a:prstGeom prst="rect">
            <a:avLst/>
          </a:prstGeom>
          <a:noFill/>
          <a:ln/>
        </p:spPr>
        <p:txBody>
          <a:bodyPr wrap="square" lIns="0" tIns="0" rIns="0" bIns="0" rtlCol="0" anchor="ctr"/>
          <a:lstStyle/>
          <a:p>
            <a:pPr indent="0" marL="0">
              <a:buNone/>
            </a:pPr>
            <a:r>
              <a:rPr lang="en-US" sz="800" dirty="0">
                <a:solidFill>
                  <a:srgbClr val="8B949E"/>
                </a:solidFill>
              </a:rPr>
              <a:t>12/15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117"/>
          </a:solidFill>
          <a:ln w="12700">
            <a:solidFill>
              <a:srgbClr val="0D1117"/>
            </a:solidFill>
            <a:prstDash val="solid"/>
          </a:ln>
        </p:spPr>
      </p:sp>
      <p:sp>
        <p:nvSpPr>
          <p:cNvPr id="3" name="Shape 1"/>
          <p:cNvSpPr/>
          <p:nvPr/>
        </p:nvSpPr>
        <p:spPr>
          <a:xfrm>
            <a:off x="0" y="0"/>
            <a:ext cx="12191695" cy="109728"/>
          </a:xfrm>
          <a:prstGeom prst="rect">
            <a:avLst/>
          </a:prstGeom>
          <a:solidFill>
            <a:srgbClr val="2EA043"/>
          </a:solidFill>
          <a:ln w="12700">
            <a:solidFill>
              <a:srgbClr val="2EA043"/>
            </a:solidFill>
            <a:prstDash val="solid"/>
          </a:ln>
        </p:spPr>
      </p:sp>
      <p:sp>
        <p:nvSpPr>
          <p:cNvPr id="4" name="Text 2"/>
          <p:cNvSpPr/>
          <p:nvPr/>
        </p:nvSpPr>
        <p:spPr>
          <a:xfrm>
            <a:off x="502920" y="292608"/>
            <a:ext cx="7772400" cy="438912"/>
          </a:xfrm>
          <a:prstGeom prst="rect">
            <a:avLst/>
          </a:prstGeom>
          <a:noFill/>
          <a:ln/>
        </p:spPr>
        <p:txBody>
          <a:bodyPr wrap="square" lIns="0" tIns="0" rIns="0" bIns="0" rtlCol="0" anchor="ctr"/>
          <a:lstStyle/>
          <a:p>
            <a:pPr indent="0" marL="0">
              <a:buNone/>
            </a:pPr>
            <a:r>
              <a:rPr lang="en-US" sz="2600" b="1" dirty="0">
                <a:solidFill>
                  <a:srgbClr val="F0F6FC"/>
                </a:solidFill>
                <a:latin typeface="Aptos Display" pitchFamily="34" charset="0"/>
                <a:ea typeface="Aptos Display" pitchFamily="34" charset="-122"/>
                <a:cs typeface="Aptos Display" pitchFamily="34" charset="-120"/>
              </a:rPr>
              <a:t>Why GitHub Skills Matter</a:t>
            </a:r>
            <a:endParaRPr lang="en-US" sz="2600" dirty="0"/>
          </a:p>
        </p:txBody>
      </p:sp>
      <p:sp>
        <p:nvSpPr>
          <p:cNvPr id="5" name="Text 3"/>
          <p:cNvSpPr/>
          <p:nvPr/>
        </p:nvSpPr>
        <p:spPr>
          <a:xfrm>
            <a:off x="9326880" y="347472"/>
            <a:ext cx="2240280" cy="228600"/>
          </a:xfrm>
          <a:prstGeom prst="rect">
            <a:avLst/>
          </a:prstGeom>
          <a:noFill/>
          <a:ln/>
        </p:spPr>
        <p:txBody>
          <a:bodyPr wrap="square" lIns="0" tIns="0" rIns="0" bIns="0" rtlCol="0" anchor="ctr"/>
          <a:lstStyle/>
          <a:p>
            <a:pPr algn="r" indent="0" marL="0">
              <a:buNone/>
            </a:pPr>
            <a:r>
              <a:rPr lang="en-US" sz="800" dirty="0">
                <a:solidFill>
                  <a:srgbClr val="8B949E"/>
                </a:solidFill>
              </a:rPr>
              <a:t>GitHub for Geological Research</a:t>
            </a:r>
            <a:endParaRPr lang="en-US" sz="800" dirty="0"/>
          </a:p>
        </p:txBody>
      </p:sp>
      <p:sp>
        <p:nvSpPr>
          <p:cNvPr id="6" name="Shape 4"/>
          <p:cNvSpPr/>
          <p:nvPr/>
        </p:nvSpPr>
        <p:spPr>
          <a:xfrm>
            <a:off x="822960" y="1234440"/>
            <a:ext cx="3154680" cy="777240"/>
          </a:xfrm>
          <a:prstGeom prst="roundRect">
            <a:avLst>
              <a:gd name="adj" fmla="val 9412"/>
            </a:avLst>
          </a:prstGeom>
          <a:solidFill>
            <a:srgbClr val="21262D"/>
          </a:solidFill>
          <a:ln w="12700">
            <a:solidFill>
              <a:srgbClr val="30363D">
                <a:alpha val="80000"/>
              </a:srgbClr>
            </a:solidFill>
            <a:prstDash val="solid"/>
          </a:ln>
        </p:spPr>
      </p:sp>
      <p:sp>
        <p:nvSpPr>
          <p:cNvPr id="7" name="Text 5"/>
          <p:cNvSpPr/>
          <p:nvPr/>
        </p:nvSpPr>
        <p:spPr>
          <a:xfrm>
            <a:off x="987552" y="1371600"/>
            <a:ext cx="411480" cy="320040"/>
          </a:xfrm>
          <a:prstGeom prst="rect">
            <a:avLst/>
          </a:prstGeom>
          <a:noFill/>
          <a:ln/>
        </p:spPr>
        <p:txBody>
          <a:bodyPr wrap="square" lIns="0" tIns="0" rIns="0" bIns="0" rtlCol="0" anchor="ctr"/>
          <a:lstStyle/>
          <a:p>
            <a:pPr indent="0" marL="0">
              <a:buNone/>
            </a:pPr>
            <a:r>
              <a:rPr lang="en-US" sz="2300" dirty="0">
                <a:solidFill>
                  <a:srgbClr val="000000"/>
                </a:solidFill>
              </a:rPr>
              <a:t>🗂️</a:t>
            </a:r>
            <a:endParaRPr lang="en-US" sz="2300" dirty="0"/>
          </a:p>
        </p:txBody>
      </p:sp>
      <p:sp>
        <p:nvSpPr>
          <p:cNvPr id="8" name="Text 6"/>
          <p:cNvSpPr/>
          <p:nvPr/>
        </p:nvSpPr>
        <p:spPr>
          <a:xfrm>
            <a:off x="1508760" y="1444752"/>
            <a:ext cx="2331720" cy="237744"/>
          </a:xfrm>
          <a:prstGeom prst="rect">
            <a:avLst/>
          </a:prstGeom>
          <a:noFill/>
          <a:ln/>
        </p:spPr>
        <p:txBody>
          <a:bodyPr wrap="square" lIns="0" tIns="0" rIns="0" bIns="0" rtlCol="0" anchor="ctr"/>
          <a:lstStyle/>
          <a:p>
            <a:pPr indent="0" marL="0">
              <a:buNone/>
            </a:pPr>
            <a:r>
              <a:rPr lang="en-US" sz="1500" b="1" dirty="0">
                <a:solidFill>
                  <a:srgbClr val="F0F6FC"/>
                </a:solidFill>
              </a:rPr>
              <a:t>Organized projects</a:t>
            </a:r>
            <a:endParaRPr lang="en-US" sz="1500" dirty="0"/>
          </a:p>
        </p:txBody>
      </p:sp>
      <p:sp>
        <p:nvSpPr>
          <p:cNvPr id="9" name="Shape 7"/>
          <p:cNvSpPr/>
          <p:nvPr/>
        </p:nvSpPr>
        <p:spPr>
          <a:xfrm>
            <a:off x="4526280" y="1234440"/>
            <a:ext cx="3154680" cy="777240"/>
          </a:xfrm>
          <a:prstGeom prst="roundRect">
            <a:avLst>
              <a:gd name="adj" fmla="val 9412"/>
            </a:avLst>
          </a:prstGeom>
          <a:solidFill>
            <a:srgbClr val="21262D"/>
          </a:solidFill>
          <a:ln w="12700">
            <a:solidFill>
              <a:srgbClr val="30363D">
                <a:alpha val="80000"/>
              </a:srgbClr>
            </a:solidFill>
            <a:prstDash val="solid"/>
          </a:ln>
        </p:spPr>
      </p:sp>
      <p:sp>
        <p:nvSpPr>
          <p:cNvPr id="10" name="Text 8"/>
          <p:cNvSpPr/>
          <p:nvPr/>
        </p:nvSpPr>
        <p:spPr>
          <a:xfrm>
            <a:off x="4690872" y="1371600"/>
            <a:ext cx="411480" cy="320040"/>
          </a:xfrm>
          <a:prstGeom prst="rect">
            <a:avLst/>
          </a:prstGeom>
          <a:noFill/>
          <a:ln/>
        </p:spPr>
        <p:txBody>
          <a:bodyPr wrap="square" lIns="0" tIns="0" rIns="0" bIns="0" rtlCol="0" anchor="ctr"/>
          <a:lstStyle/>
          <a:p>
            <a:pPr indent="0" marL="0">
              <a:buNone/>
            </a:pPr>
            <a:r>
              <a:rPr lang="en-US" sz="2300" dirty="0">
                <a:solidFill>
                  <a:srgbClr val="000000"/>
                </a:solidFill>
              </a:rPr>
              <a:t>🕒</a:t>
            </a:r>
            <a:endParaRPr lang="en-US" sz="2300" dirty="0"/>
          </a:p>
        </p:txBody>
      </p:sp>
      <p:sp>
        <p:nvSpPr>
          <p:cNvPr id="11" name="Text 9"/>
          <p:cNvSpPr/>
          <p:nvPr/>
        </p:nvSpPr>
        <p:spPr>
          <a:xfrm>
            <a:off x="5212080" y="1444752"/>
            <a:ext cx="2331720" cy="237744"/>
          </a:xfrm>
          <a:prstGeom prst="rect">
            <a:avLst/>
          </a:prstGeom>
          <a:noFill/>
          <a:ln/>
        </p:spPr>
        <p:txBody>
          <a:bodyPr wrap="square" lIns="0" tIns="0" rIns="0" bIns="0" rtlCol="0" anchor="ctr"/>
          <a:lstStyle/>
          <a:p>
            <a:pPr indent="0" marL="0">
              <a:buNone/>
            </a:pPr>
            <a:r>
              <a:rPr lang="en-US" sz="1500" b="1" dirty="0">
                <a:solidFill>
                  <a:srgbClr val="F0F6FC"/>
                </a:solidFill>
              </a:rPr>
              <a:t>Version history</a:t>
            </a:r>
            <a:endParaRPr lang="en-US" sz="1500" dirty="0"/>
          </a:p>
        </p:txBody>
      </p:sp>
      <p:sp>
        <p:nvSpPr>
          <p:cNvPr id="12" name="Shape 10"/>
          <p:cNvSpPr/>
          <p:nvPr/>
        </p:nvSpPr>
        <p:spPr>
          <a:xfrm>
            <a:off x="8229600" y="1234440"/>
            <a:ext cx="3154680" cy="777240"/>
          </a:xfrm>
          <a:prstGeom prst="roundRect">
            <a:avLst>
              <a:gd name="adj" fmla="val 9412"/>
            </a:avLst>
          </a:prstGeom>
          <a:solidFill>
            <a:srgbClr val="21262D"/>
          </a:solidFill>
          <a:ln w="12700">
            <a:solidFill>
              <a:srgbClr val="30363D">
                <a:alpha val="80000"/>
              </a:srgbClr>
            </a:solidFill>
            <a:prstDash val="solid"/>
          </a:ln>
        </p:spPr>
      </p:sp>
      <p:sp>
        <p:nvSpPr>
          <p:cNvPr id="13" name="Text 11"/>
          <p:cNvSpPr/>
          <p:nvPr/>
        </p:nvSpPr>
        <p:spPr>
          <a:xfrm>
            <a:off x="8394192" y="1371600"/>
            <a:ext cx="411480" cy="320040"/>
          </a:xfrm>
          <a:prstGeom prst="rect">
            <a:avLst/>
          </a:prstGeom>
          <a:noFill/>
          <a:ln/>
        </p:spPr>
        <p:txBody>
          <a:bodyPr wrap="square" lIns="0" tIns="0" rIns="0" bIns="0" rtlCol="0" anchor="ctr"/>
          <a:lstStyle/>
          <a:p>
            <a:pPr indent="0" marL="0">
              <a:buNone/>
            </a:pPr>
            <a:r>
              <a:rPr lang="en-US" sz="2300" dirty="0">
                <a:solidFill>
                  <a:srgbClr val="000000"/>
                </a:solidFill>
              </a:rPr>
              <a:t>👥</a:t>
            </a:r>
            <a:endParaRPr lang="en-US" sz="2300" dirty="0"/>
          </a:p>
        </p:txBody>
      </p:sp>
      <p:sp>
        <p:nvSpPr>
          <p:cNvPr id="14" name="Text 12"/>
          <p:cNvSpPr/>
          <p:nvPr/>
        </p:nvSpPr>
        <p:spPr>
          <a:xfrm>
            <a:off x="8915400" y="1444752"/>
            <a:ext cx="2331720" cy="237744"/>
          </a:xfrm>
          <a:prstGeom prst="rect">
            <a:avLst/>
          </a:prstGeom>
          <a:noFill/>
          <a:ln/>
        </p:spPr>
        <p:txBody>
          <a:bodyPr wrap="square" lIns="0" tIns="0" rIns="0" bIns="0" rtlCol="0" anchor="ctr"/>
          <a:lstStyle/>
          <a:p>
            <a:pPr indent="0" marL="0">
              <a:buNone/>
            </a:pPr>
            <a:r>
              <a:rPr lang="en-US" sz="1500" b="1" dirty="0">
                <a:solidFill>
                  <a:srgbClr val="F0F6FC"/>
                </a:solidFill>
              </a:rPr>
              <a:t>Team collaboration</a:t>
            </a:r>
            <a:endParaRPr lang="en-US" sz="1500" dirty="0"/>
          </a:p>
        </p:txBody>
      </p:sp>
      <p:sp>
        <p:nvSpPr>
          <p:cNvPr id="15" name="Shape 13"/>
          <p:cNvSpPr/>
          <p:nvPr/>
        </p:nvSpPr>
        <p:spPr>
          <a:xfrm>
            <a:off x="822960" y="2743200"/>
            <a:ext cx="3154680" cy="777240"/>
          </a:xfrm>
          <a:prstGeom prst="roundRect">
            <a:avLst>
              <a:gd name="adj" fmla="val 9412"/>
            </a:avLst>
          </a:prstGeom>
          <a:solidFill>
            <a:srgbClr val="161B22"/>
          </a:solidFill>
          <a:ln w="12700">
            <a:solidFill>
              <a:srgbClr val="30363D">
                <a:alpha val="80000"/>
              </a:srgbClr>
            </a:solidFill>
            <a:prstDash val="solid"/>
          </a:ln>
        </p:spPr>
      </p:sp>
      <p:sp>
        <p:nvSpPr>
          <p:cNvPr id="16" name="Text 14"/>
          <p:cNvSpPr/>
          <p:nvPr/>
        </p:nvSpPr>
        <p:spPr>
          <a:xfrm>
            <a:off x="987552" y="2880360"/>
            <a:ext cx="411480" cy="320040"/>
          </a:xfrm>
          <a:prstGeom prst="rect">
            <a:avLst/>
          </a:prstGeom>
          <a:noFill/>
          <a:ln/>
        </p:spPr>
        <p:txBody>
          <a:bodyPr wrap="square" lIns="0" tIns="0" rIns="0" bIns="0" rtlCol="0" anchor="ctr"/>
          <a:lstStyle/>
          <a:p>
            <a:pPr indent="0" marL="0">
              <a:buNone/>
            </a:pPr>
            <a:r>
              <a:rPr lang="en-US" sz="2300" dirty="0">
                <a:solidFill>
                  <a:srgbClr val="000000"/>
                </a:solidFill>
              </a:rPr>
              <a:t>🔁</a:t>
            </a:r>
            <a:endParaRPr lang="en-US" sz="2300" dirty="0"/>
          </a:p>
        </p:txBody>
      </p:sp>
      <p:sp>
        <p:nvSpPr>
          <p:cNvPr id="17" name="Text 15"/>
          <p:cNvSpPr/>
          <p:nvPr/>
        </p:nvSpPr>
        <p:spPr>
          <a:xfrm>
            <a:off x="1508760" y="2953512"/>
            <a:ext cx="2331720" cy="237744"/>
          </a:xfrm>
          <a:prstGeom prst="rect">
            <a:avLst/>
          </a:prstGeom>
          <a:noFill/>
          <a:ln/>
        </p:spPr>
        <p:txBody>
          <a:bodyPr wrap="square" lIns="0" tIns="0" rIns="0" bIns="0" rtlCol="0" anchor="ctr"/>
          <a:lstStyle/>
          <a:p>
            <a:pPr indent="0" marL="0">
              <a:buNone/>
            </a:pPr>
            <a:r>
              <a:rPr lang="en-US" sz="1500" b="1" dirty="0">
                <a:solidFill>
                  <a:srgbClr val="F0F6FC"/>
                </a:solidFill>
              </a:rPr>
              <a:t>Research reproducibility</a:t>
            </a:r>
            <a:endParaRPr lang="en-US" sz="1500" dirty="0"/>
          </a:p>
        </p:txBody>
      </p:sp>
      <p:sp>
        <p:nvSpPr>
          <p:cNvPr id="18" name="Shape 16"/>
          <p:cNvSpPr/>
          <p:nvPr/>
        </p:nvSpPr>
        <p:spPr>
          <a:xfrm>
            <a:off x="4526280" y="2743200"/>
            <a:ext cx="3154680" cy="777240"/>
          </a:xfrm>
          <a:prstGeom prst="roundRect">
            <a:avLst>
              <a:gd name="adj" fmla="val 9412"/>
            </a:avLst>
          </a:prstGeom>
          <a:solidFill>
            <a:srgbClr val="161B22"/>
          </a:solidFill>
          <a:ln w="12700">
            <a:solidFill>
              <a:srgbClr val="30363D">
                <a:alpha val="80000"/>
              </a:srgbClr>
            </a:solidFill>
            <a:prstDash val="solid"/>
          </a:ln>
        </p:spPr>
      </p:sp>
      <p:sp>
        <p:nvSpPr>
          <p:cNvPr id="19" name="Text 17"/>
          <p:cNvSpPr/>
          <p:nvPr/>
        </p:nvSpPr>
        <p:spPr>
          <a:xfrm>
            <a:off x="4690872" y="2880360"/>
            <a:ext cx="411480" cy="320040"/>
          </a:xfrm>
          <a:prstGeom prst="rect">
            <a:avLst/>
          </a:prstGeom>
          <a:noFill/>
          <a:ln/>
        </p:spPr>
        <p:txBody>
          <a:bodyPr wrap="square" lIns="0" tIns="0" rIns="0" bIns="0" rtlCol="0" anchor="ctr"/>
          <a:lstStyle/>
          <a:p>
            <a:pPr indent="0" marL="0">
              <a:buNone/>
            </a:pPr>
            <a:r>
              <a:rPr lang="en-US" sz="2300" dirty="0">
                <a:solidFill>
                  <a:srgbClr val="000000"/>
                </a:solidFill>
              </a:rPr>
              <a:t>💼</a:t>
            </a:r>
            <a:endParaRPr lang="en-US" sz="2300" dirty="0"/>
          </a:p>
        </p:txBody>
      </p:sp>
      <p:sp>
        <p:nvSpPr>
          <p:cNvPr id="20" name="Text 18"/>
          <p:cNvSpPr/>
          <p:nvPr/>
        </p:nvSpPr>
        <p:spPr>
          <a:xfrm>
            <a:off x="5212080" y="2953512"/>
            <a:ext cx="2331720" cy="237744"/>
          </a:xfrm>
          <a:prstGeom prst="rect">
            <a:avLst/>
          </a:prstGeom>
          <a:noFill/>
          <a:ln/>
        </p:spPr>
        <p:txBody>
          <a:bodyPr wrap="square" lIns="0" tIns="0" rIns="0" bIns="0" rtlCol="0" anchor="ctr"/>
          <a:lstStyle/>
          <a:p>
            <a:pPr indent="0" marL="0">
              <a:buNone/>
            </a:pPr>
            <a:r>
              <a:rPr lang="en-US" sz="1500" b="1" dirty="0">
                <a:solidFill>
                  <a:srgbClr val="F0F6FC"/>
                </a:solidFill>
              </a:rPr>
              <a:t>Professional portfolio</a:t>
            </a:r>
            <a:endParaRPr lang="en-US" sz="1500" dirty="0"/>
          </a:p>
        </p:txBody>
      </p:sp>
      <p:sp>
        <p:nvSpPr>
          <p:cNvPr id="21" name="Shape 19"/>
          <p:cNvSpPr/>
          <p:nvPr/>
        </p:nvSpPr>
        <p:spPr>
          <a:xfrm>
            <a:off x="8229600" y="2743200"/>
            <a:ext cx="3154680" cy="777240"/>
          </a:xfrm>
          <a:prstGeom prst="roundRect">
            <a:avLst>
              <a:gd name="adj" fmla="val 9412"/>
            </a:avLst>
          </a:prstGeom>
          <a:solidFill>
            <a:srgbClr val="161B22"/>
          </a:solidFill>
          <a:ln w="12700">
            <a:solidFill>
              <a:srgbClr val="30363D">
                <a:alpha val="80000"/>
              </a:srgbClr>
            </a:solidFill>
            <a:prstDash val="solid"/>
          </a:ln>
        </p:spPr>
      </p:sp>
      <p:sp>
        <p:nvSpPr>
          <p:cNvPr id="22" name="Text 20"/>
          <p:cNvSpPr/>
          <p:nvPr/>
        </p:nvSpPr>
        <p:spPr>
          <a:xfrm>
            <a:off x="8394192" y="2880360"/>
            <a:ext cx="411480" cy="320040"/>
          </a:xfrm>
          <a:prstGeom prst="rect">
            <a:avLst/>
          </a:prstGeom>
          <a:noFill/>
          <a:ln/>
        </p:spPr>
        <p:txBody>
          <a:bodyPr wrap="square" lIns="0" tIns="0" rIns="0" bIns="0" rtlCol="0" anchor="ctr"/>
          <a:lstStyle/>
          <a:p>
            <a:pPr indent="0" marL="0">
              <a:buNone/>
            </a:pPr>
            <a:r>
              <a:rPr lang="en-US" sz="2300" dirty="0">
                <a:solidFill>
                  <a:srgbClr val="000000"/>
                </a:solidFill>
              </a:rPr>
              <a:t>📚</a:t>
            </a:r>
            <a:endParaRPr lang="en-US" sz="2300" dirty="0"/>
          </a:p>
        </p:txBody>
      </p:sp>
      <p:sp>
        <p:nvSpPr>
          <p:cNvPr id="23" name="Text 21"/>
          <p:cNvSpPr/>
          <p:nvPr/>
        </p:nvSpPr>
        <p:spPr>
          <a:xfrm>
            <a:off x="8915400" y="2953512"/>
            <a:ext cx="2331720" cy="237744"/>
          </a:xfrm>
          <a:prstGeom prst="rect">
            <a:avLst/>
          </a:prstGeom>
          <a:noFill/>
          <a:ln/>
        </p:spPr>
        <p:txBody>
          <a:bodyPr wrap="square" lIns="0" tIns="0" rIns="0" bIns="0" rtlCol="0" anchor="ctr"/>
          <a:lstStyle/>
          <a:p>
            <a:pPr indent="0" marL="0">
              <a:buNone/>
            </a:pPr>
            <a:r>
              <a:rPr lang="en-US" sz="1500" b="1" dirty="0">
                <a:solidFill>
                  <a:srgbClr val="F0F6FC"/>
                </a:solidFill>
              </a:rPr>
              <a:t>Better documentation</a:t>
            </a:r>
            <a:endParaRPr lang="en-US" sz="1500" dirty="0"/>
          </a:p>
        </p:txBody>
      </p:sp>
      <p:sp>
        <p:nvSpPr>
          <p:cNvPr id="24" name="Text 22"/>
          <p:cNvSpPr/>
          <p:nvPr/>
        </p:nvSpPr>
        <p:spPr>
          <a:xfrm>
            <a:off x="2514600" y="5303520"/>
            <a:ext cx="7040880" cy="320040"/>
          </a:xfrm>
          <a:prstGeom prst="rect">
            <a:avLst/>
          </a:prstGeom>
          <a:noFill/>
          <a:ln/>
        </p:spPr>
        <p:txBody>
          <a:bodyPr wrap="square" lIns="0" tIns="0" rIns="0" bIns="0" rtlCol="0" anchor="ctr"/>
          <a:lstStyle/>
          <a:p>
            <a:pPr algn="ctr" indent="0" marL="0">
              <a:buNone/>
            </a:pPr>
            <a:r>
              <a:rPr lang="en-US" sz="2200" b="1" dirty="0">
                <a:solidFill>
                  <a:srgbClr val="D8B46A"/>
                </a:solidFill>
              </a:rPr>
              <a:t>These are professional research habits.</a:t>
            </a:r>
            <a:endParaRPr lang="en-US" sz="2200" dirty="0"/>
          </a:p>
        </p:txBody>
      </p:sp>
      <p:sp>
        <p:nvSpPr>
          <p:cNvPr id="25" name="Text 23"/>
          <p:cNvSpPr/>
          <p:nvPr/>
        </p:nvSpPr>
        <p:spPr>
          <a:xfrm>
            <a:off x="11292840" y="6464808"/>
            <a:ext cx="411480" cy="164592"/>
          </a:xfrm>
          <a:prstGeom prst="rect">
            <a:avLst/>
          </a:prstGeom>
          <a:noFill/>
          <a:ln/>
        </p:spPr>
        <p:txBody>
          <a:bodyPr wrap="square" lIns="0" tIns="0" rIns="0" bIns="0" rtlCol="0" anchor="ctr"/>
          <a:lstStyle/>
          <a:p>
            <a:pPr indent="0" marL="0">
              <a:buNone/>
            </a:pPr>
            <a:r>
              <a:rPr lang="en-US" sz="800" dirty="0">
                <a:solidFill>
                  <a:srgbClr val="8B949E"/>
                </a:solidFill>
              </a:rPr>
              <a:t>13/15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117"/>
          </a:solidFill>
          <a:ln w="12700">
            <a:solidFill>
              <a:srgbClr val="0D1117"/>
            </a:solidFill>
            <a:prstDash val="solid"/>
          </a:ln>
        </p:spPr>
      </p:sp>
      <p:sp>
        <p:nvSpPr>
          <p:cNvPr id="3" name="Shape 1"/>
          <p:cNvSpPr/>
          <p:nvPr/>
        </p:nvSpPr>
        <p:spPr>
          <a:xfrm>
            <a:off x="0" y="0"/>
            <a:ext cx="12191695" cy="109728"/>
          </a:xfrm>
          <a:prstGeom prst="rect">
            <a:avLst/>
          </a:prstGeom>
          <a:solidFill>
            <a:srgbClr val="2EA043"/>
          </a:solidFill>
          <a:ln w="12700">
            <a:solidFill>
              <a:srgbClr val="2EA043"/>
            </a:solidFill>
            <a:prstDash val="solid"/>
          </a:ln>
        </p:spPr>
      </p:sp>
      <p:sp>
        <p:nvSpPr>
          <p:cNvPr id="4" name="Text 2"/>
          <p:cNvSpPr/>
          <p:nvPr/>
        </p:nvSpPr>
        <p:spPr>
          <a:xfrm>
            <a:off x="502920" y="292608"/>
            <a:ext cx="7772400" cy="438912"/>
          </a:xfrm>
          <a:prstGeom prst="rect">
            <a:avLst/>
          </a:prstGeom>
          <a:noFill/>
          <a:ln/>
        </p:spPr>
        <p:txBody>
          <a:bodyPr wrap="square" lIns="0" tIns="0" rIns="0" bIns="0" rtlCol="0" anchor="ctr"/>
          <a:lstStyle/>
          <a:p>
            <a:pPr indent="0" marL="0">
              <a:buNone/>
            </a:pPr>
            <a:r>
              <a:rPr lang="en-US" sz="2600" b="1" dirty="0">
                <a:solidFill>
                  <a:srgbClr val="F0F6FC"/>
                </a:solidFill>
                <a:latin typeface="Aptos Display" pitchFamily="34" charset="0"/>
                <a:ea typeface="Aptos Display" pitchFamily="34" charset="-122"/>
                <a:cs typeface="Aptos Display" pitchFamily="34" charset="-120"/>
              </a:rPr>
              <a:t>Final Assignment</a:t>
            </a:r>
            <a:endParaRPr lang="en-US" sz="2600" dirty="0"/>
          </a:p>
        </p:txBody>
      </p:sp>
      <p:sp>
        <p:nvSpPr>
          <p:cNvPr id="5" name="Text 3"/>
          <p:cNvSpPr/>
          <p:nvPr/>
        </p:nvSpPr>
        <p:spPr>
          <a:xfrm>
            <a:off x="9326880" y="347472"/>
            <a:ext cx="2240280" cy="228600"/>
          </a:xfrm>
          <a:prstGeom prst="rect">
            <a:avLst/>
          </a:prstGeom>
          <a:noFill/>
          <a:ln/>
        </p:spPr>
        <p:txBody>
          <a:bodyPr wrap="square" lIns="0" tIns="0" rIns="0" bIns="0" rtlCol="0" anchor="ctr"/>
          <a:lstStyle/>
          <a:p>
            <a:pPr algn="r" indent="0" marL="0">
              <a:buNone/>
            </a:pPr>
            <a:r>
              <a:rPr lang="en-US" sz="800" dirty="0">
                <a:solidFill>
                  <a:srgbClr val="8B949E"/>
                </a:solidFill>
              </a:rPr>
              <a:t>GitHub for Geological Research</a:t>
            </a:r>
            <a:endParaRPr lang="en-US" sz="800" dirty="0"/>
          </a:p>
        </p:txBody>
      </p:sp>
      <p:sp>
        <p:nvSpPr>
          <p:cNvPr id="6" name="Text 4"/>
          <p:cNvSpPr/>
          <p:nvPr/>
        </p:nvSpPr>
        <p:spPr>
          <a:xfrm>
            <a:off x="868680" y="1051560"/>
            <a:ext cx="5120640" cy="384048"/>
          </a:xfrm>
          <a:prstGeom prst="rect">
            <a:avLst/>
          </a:prstGeom>
          <a:noFill/>
          <a:ln/>
        </p:spPr>
        <p:txBody>
          <a:bodyPr wrap="square" lIns="0" tIns="0" rIns="0" bIns="0" rtlCol="0" anchor="ctr"/>
          <a:lstStyle/>
          <a:p>
            <a:pPr indent="0" marL="0">
              <a:buNone/>
            </a:pPr>
            <a:r>
              <a:rPr lang="en-US" sz="2400" b="1" dirty="0">
                <a:solidFill>
                  <a:srgbClr val="D8B46A"/>
                </a:solidFill>
              </a:rPr>
              <a:t>Repository: Geological-Survey-2026</a:t>
            </a:r>
            <a:endParaRPr lang="en-US" sz="2400" dirty="0"/>
          </a:p>
        </p:txBody>
      </p:sp>
      <p:sp>
        <p:nvSpPr>
          <p:cNvPr id="7" name="Text 5"/>
          <p:cNvSpPr/>
          <p:nvPr/>
        </p:nvSpPr>
        <p:spPr>
          <a:xfrm>
            <a:off x="1005840" y="1828800"/>
            <a:ext cx="274320" cy="228600"/>
          </a:xfrm>
          <a:prstGeom prst="rect">
            <a:avLst/>
          </a:prstGeom>
          <a:noFill/>
          <a:ln/>
        </p:spPr>
        <p:txBody>
          <a:bodyPr wrap="square" lIns="0" tIns="0" rIns="0" bIns="0" rtlCol="0" anchor="ctr"/>
          <a:lstStyle/>
          <a:p>
            <a:pPr indent="0" marL="0">
              <a:buNone/>
            </a:pPr>
            <a:r>
              <a:rPr lang="en-US" sz="2200" b="1" dirty="0">
                <a:solidFill>
                  <a:srgbClr val="2EA043"/>
                </a:solidFill>
              </a:rPr>
              <a:t>✓</a:t>
            </a:r>
            <a:endParaRPr lang="en-US" sz="2200" dirty="0"/>
          </a:p>
        </p:txBody>
      </p:sp>
      <p:sp>
        <p:nvSpPr>
          <p:cNvPr id="8" name="Text 6"/>
          <p:cNvSpPr/>
          <p:nvPr/>
        </p:nvSpPr>
        <p:spPr>
          <a:xfrm>
            <a:off x="1417320" y="1856232"/>
            <a:ext cx="4114800" cy="210312"/>
          </a:xfrm>
          <a:prstGeom prst="rect">
            <a:avLst/>
          </a:prstGeom>
          <a:noFill/>
          <a:ln/>
        </p:spPr>
        <p:txBody>
          <a:bodyPr wrap="square" lIns="0" tIns="0" rIns="0" bIns="0" rtlCol="0" anchor="ctr"/>
          <a:lstStyle/>
          <a:p>
            <a:pPr indent="0" marL="0">
              <a:buNone/>
            </a:pPr>
            <a:r>
              <a:rPr lang="en-US" sz="2000" dirty="0">
                <a:solidFill>
                  <a:srgbClr val="F0F6FC"/>
                </a:solidFill>
              </a:rPr>
              <a:t>README.md</a:t>
            </a:r>
            <a:endParaRPr lang="en-US" sz="2000" dirty="0"/>
          </a:p>
        </p:txBody>
      </p:sp>
      <p:sp>
        <p:nvSpPr>
          <p:cNvPr id="9" name="Text 7"/>
          <p:cNvSpPr/>
          <p:nvPr/>
        </p:nvSpPr>
        <p:spPr>
          <a:xfrm>
            <a:off x="1005840" y="2423160"/>
            <a:ext cx="274320" cy="228600"/>
          </a:xfrm>
          <a:prstGeom prst="rect">
            <a:avLst/>
          </a:prstGeom>
          <a:noFill/>
          <a:ln/>
        </p:spPr>
        <p:txBody>
          <a:bodyPr wrap="square" lIns="0" tIns="0" rIns="0" bIns="0" rtlCol="0" anchor="ctr"/>
          <a:lstStyle/>
          <a:p>
            <a:pPr indent="0" marL="0">
              <a:buNone/>
            </a:pPr>
            <a:r>
              <a:rPr lang="en-US" sz="2200" b="1" dirty="0">
                <a:solidFill>
                  <a:srgbClr val="2EA043"/>
                </a:solidFill>
              </a:rPr>
              <a:t>✓</a:t>
            </a:r>
            <a:endParaRPr lang="en-US" sz="2200" dirty="0"/>
          </a:p>
        </p:txBody>
      </p:sp>
      <p:sp>
        <p:nvSpPr>
          <p:cNvPr id="10" name="Text 8"/>
          <p:cNvSpPr/>
          <p:nvPr/>
        </p:nvSpPr>
        <p:spPr>
          <a:xfrm>
            <a:off x="1417320" y="2450592"/>
            <a:ext cx="4114800" cy="210312"/>
          </a:xfrm>
          <a:prstGeom prst="rect">
            <a:avLst/>
          </a:prstGeom>
          <a:noFill/>
          <a:ln/>
        </p:spPr>
        <p:txBody>
          <a:bodyPr wrap="square" lIns="0" tIns="0" rIns="0" bIns="0" rtlCol="0" anchor="ctr"/>
          <a:lstStyle/>
          <a:p>
            <a:pPr indent="0" marL="0">
              <a:buNone/>
            </a:pPr>
            <a:r>
              <a:rPr lang="en-US" sz="2000" dirty="0">
                <a:solidFill>
                  <a:srgbClr val="F0F6FC"/>
                </a:solidFill>
              </a:rPr>
              <a:t>Geological CSV data</a:t>
            </a:r>
            <a:endParaRPr lang="en-US" sz="2000" dirty="0"/>
          </a:p>
        </p:txBody>
      </p:sp>
      <p:sp>
        <p:nvSpPr>
          <p:cNvPr id="11" name="Text 9"/>
          <p:cNvSpPr/>
          <p:nvPr/>
        </p:nvSpPr>
        <p:spPr>
          <a:xfrm>
            <a:off x="1005840" y="3017520"/>
            <a:ext cx="274320" cy="228600"/>
          </a:xfrm>
          <a:prstGeom prst="rect">
            <a:avLst/>
          </a:prstGeom>
          <a:noFill/>
          <a:ln/>
        </p:spPr>
        <p:txBody>
          <a:bodyPr wrap="square" lIns="0" tIns="0" rIns="0" bIns="0" rtlCol="0" anchor="ctr"/>
          <a:lstStyle/>
          <a:p>
            <a:pPr indent="0" marL="0">
              <a:buNone/>
            </a:pPr>
            <a:r>
              <a:rPr lang="en-US" sz="2200" b="1" dirty="0">
                <a:solidFill>
                  <a:srgbClr val="2EA043"/>
                </a:solidFill>
              </a:rPr>
              <a:t>✓</a:t>
            </a:r>
            <a:endParaRPr lang="en-US" sz="2200" dirty="0"/>
          </a:p>
        </p:txBody>
      </p:sp>
      <p:sp>
        <p:nvSpPr>
          <p:cNvPr id="12" name="Text 10"/>
          <p:cNvSpPr/>
          <p:nvPr/>
        </p:nvSpPr>
        <p:spPr>
          <a:xfrm>
            <a:off x="1417320" y="3044952"/>
            <a:ext cx="4114800" cy="210312"/>
          </a:xfrm>
          <a:prstGeom prst="rect">
            <a:avLst/>
          </a:prstGeom>
          <a:noFill/>
          <a:ln/>
        </p:spPr>
        <p:txBody>
          <a:bodyPr wrap="square" lIns="0" tIns="0" rIns="0" bIns="0" rtlCol="0" anchor="ctr"/>
          <a:lstStyle/>
          <a:p>
            <a:pPr indent="0" marL="0">
              <a:buNone/>
            </a:pPr>
            <a:r>
              <a:rPr lang="en-US" sz="2000" dirty="0">
                <a:solidFill>
                  <a:srgbClr val="F0F6FC"/>
                </a:solidFill>
              </a:rPr>
              <a:t>Report</a:t>
            </a:r>
            <a:endParaRPr lang="en-US" sz="2000" dirty="0"/>
          </a:p>
        </p:txBody>
      </p:sp>
      <p:sp>
        <p:nvSpPr>
          <p:cNvPr id="13" name="Text 11"/>
          <p:cNvSpPr/>
          <p:nvPr/>
        </p:nvSpPr>
        <p:spPr>
          <a:xfrm>
            <a:off x="1005840" y="3611880"/>
            <a:ext cx="274320" cy="228600"/>
          </a:xfrm>
          <a:prstGeom prst="rect">
            <a:avLst/>
          </a:prstGeom>
          <a:noFill/>
          <a:ln/>
        </p:spPr>
        <p:txBody>
          <a:bodyPr wrap="square" lIns="0" tIns="0" rIns="0" bIns="0" rtlCol="0" anchor="ctr"/>
          <a:lstStyle/>
          <a:p>
            <a:pPr indent="0" marL="0">
              <a:buNone/>
            </a:pPr>
            <a:r>
              <a:rPr lang="en-US" sz="2200" b="1" dirty="0">
                <a:solidFill>
                  <a:srgbClr val="2EA043"/>
                </a:solidFill>
              </a:rPr>
              <a:t>✓</a:t>
            </a:r>
            <a:endParaRPr lang="en-US" sz="2200" dirty="0"/>
          </a:p>
        </p:txBody>
      </p:sp>
      <p:sp>
        <p:nvSpPr>
          <p:cNvPr id="14" name="Text 12"/>
          <p:cNvSpPr/>
          <p:nvPr/>
        </p:nvSpPr>
        <p:spPr>
          <a:xfrm>
            <a:off x="1417320" y="3639312"/>
            <a:ext cx="4114800" cy="210312"/>
          </a:xfrm>
          <a:prstGeom prst="rect">
            <a:avLst/>
          </a:prstGeom>
          <a:noFill/>
          <a:ln/>
        </p:spPr>
        <p:txBody>
          <a:bodyPr wrap="square" lIns="0" tIns="0" rIns="0" bIns="0" rtlCol="0" anchor="ctr"/>
          <a:lstStyle/>
          <a:p>
            <a:pPr indent="0" marL="0">
              <a:buNone/>
            </a:pPr>
            <a:r>
              <a:rPr lang="en-US" sz="2000" dirty="0">
                <a:solidFill>
                  <a:srgbClr val="F0F6FC"/>
                </a:solidFill>
              </a:rPr>
              <a:t>Images</a:t>
            </a:r>
            <a:endParaRPr lang="en-US" sz="2000" dirty="0"/>
          </a:p>
        </p:txBody>
      </p:sp>
      <p:sp>
        <p:nvSpPr>
          <p:cNvPr id="15" name="Text 13"/>
          <p:cNvSpPr/>
          <p:nvPr/>
        </p:nvSpPr>
        <p:spPr>
          <a:xfrm>
            <a:off x="1005840" y="4206240"/>
            <a:ext cx="274320" cy="228600"/>
          </a:xfrm>
          <a:prstGeom prst="rect">
            <a:avLst/>
          </a:prstGeom>
          <a:noFill/>
          <a:ln/>
        </p:spPr>
        <p:txBody>
          <a:bodyPr wrap="square" lIns="0" tIns="0" rIns="0" bIns="0" rtlCol="0" anchor="ctr"/>
          <a:lstStyle/>
          <a:p>
            <a:pPr indent="0" marL="0">
              <a:buNone/>
            </a:pPr>
            <a:r>
              <a:rPr lang="en-US" sz="2200" b="1" dirty="0">
                <a:solidFill>
                  <a:srgbClr val="2EA043"/>
                </a:solidFill>
              </a:rPr>
              <a:t>✓</a:t>
            </a:r>
            <a:endParaRPr lang="en-US" sz="2200" dirty="0"/>
          </a:p>
        </p:txBody>
      </p:sp>
      <p:sp>
        <p:nvSpPr>
          <p:cNvPr id="16" name="Text 14"/>
          <p:cNvSpPr/>
          <p:nvPr/>
        </p:nvSpPr>
        <p:spPr>
          <a:xfrm>
            <a:off x="1417320" y="4233672"/>
            <a:ext cx="4114800" cy="210312"/>
          </a:xfrm>
          <a:prstGeom prst="rect">
            <a:avLst/>
          </a:prstGeom>
          <a:noFill/>
          <a:ln/>
        </p:spPr>
        <p:txBody>
          <a:bodyPr wrap="square" lIns="0" tIns="0" rIns="0" bIns="0" rtlCol="0" anchor="ctr"/>
          <a:lstStyle/>
          <a:p>
            <a:pPr indent="0" marL="0">
              <a:buNone/>
            </a:pPr>
            <a:r>
              <a:rPr lang="en-US" sz="2000" dirty="0">
                <a:solidFill>
                  <a:srgbClr val="F0F6FC"/>
                </a:solidFill>
              </a:rPr>
              <a:t>Meaningful commits</a:t>
            </a:r>
            <a:endParaRPr lang="en-US" sz="2000" dirty="0"/>
          </a:p>
        </p:txBody>
      </p:sp>
      <p:sp>
        <p:nvSpPr>
          <p:cNvPr id="17" name="Shape 15"/>
          <p:cNvSpPr/>
          <p:nvPr/>
        </p:nvSpPr>
        <p:spPr>
          <a:xfrm>
            <a:off x="6766560" y="1417320"/>
            <a:ext cx="4114800" cy="3337560"/>
          </a:xfrm>
          <a:prstGeom prst="roundRect">
            <a:avLst>
              <a:gd name="adj" fmla="val 2192"/>
            </a:avLst>
          </a:prstGeom>
          <a:solidFill>
            <a:srgbClr val="21262D"/>
          </a:solidFill>
          <a:ln w="12700">
            <a:solidFill>
              <a:srgbClr val="30363D"/>
            </a:solidFill>
            <a:prstDash val="solid"/>
          </a:ln>
        </p:spPr>
      </p:sp>
      <p:sp>
        <p:nvSpPr>
          <p:cNvPr id="18" name="Text 16"/>
          <p:cNvSpPr/>
          <p:nvPr/>
        </p:nvSpPr>
        <p:spPr>
          <a:xfrm>
            <a:off x="7059168" y="1856232"/>
            <a:ext cx="3566160" cy="182880"/>
          </a:xfrm>
          <a:prstGeom prst="rect">
            <a:avLst/>
          </a:prstGeom>
          <a:noFill/>
          <a:ln/>
        </p:spPr>
        <p:txBody>
          <a:bodyPr wrap="square" lIns="0" tIns="0" rIns="0" bIns="0" rtlCol="0" anchor="ctr"/>
          <a:lstStyle/>
          <a:p>
            <a:pPr indent="0" marL="0">
              <a:buNone/>
            </a:pPr>
            <a:r>
              <a:rPr lang="en-US" sz="1200" dirty="0">
                <a:solidFill>
                  <a:srgbClr val="D8B46A"/>
                </a:solidFill>
                <a:latin typeface="Consolas" pitchFamily="34" charset="0"/>
                <a:ea typeface="Consolas" pitchFamily="34" charset="-122"/>
                <a:cs typeface="Consolas" pitchFamily="34" charset="-120"/>
              </a:rPr>
              <a:t>Geological-Survey-2026</a:t>
            </a:r>
            <a:endParaRPr lang="en-US" sz="1200" dirty="0"/>
          </a:p>
        </p:txBody>
      </p:sp>
      <p:sp>
        <p:nvSpPr>
          <p:cNvPr id="19" name="Text 17"/>
          <p:cNvSpPr/>
          <p:nvPr/>
        </p:nvSpPr>
        <p:spPr>
          <a:xfrm>
            <a:off x="7059168" y="2249424"/>
            <a:ext cx="3566160" cy="182880"/>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 README.md</a:t>
            </a:r>
            <a:endParaRPr lang="en-US" sz="1100" dirty="0"/>
          </a:p>
        </p:txBody>
      </p:sp>
      <p:sp>
        <p:nvSpPr>
          <p:cNvPr id="20" name="Text 18"/>
          <p:cNvSpPr/>
          <p:nvPr/>
        </p:nvSpPr>
        <p:spPr>
          <a:xfrm>
            <a:off x="7059168" y="2642616"/>
            <a:ext cx="3566160" cy="182880"/>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 data/rock_samples.csv</a:t>
            </a:r>
            <a:endParaRPr lang="en-US" sz="1100" dirty="0"/>
          </a:p>
        </p:txBody>
      </p:sp>
      <p:sp>
        <p:nvSpPr>
          <p:cNvPr id="21" name="Text 19"/>
          <p:cNvSpPr/>
          <p:nvPr/>
        </p:nvSpPr>
        <p:spPr>
          <a:xfrm>
            <a:off x="7059168" y="3035808"/>
            <a:ext cx="3566160" cy="182880"/>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 reports/report.md</a:t>
            </a:r>
            <a:endParaRPr lang="en-US" sz="1100" dirty="0"/>
          </a:p>
        </p:txBody>
      </p:sp>
      <p:sp>
        <p:nvSpPr>
          <p:cNvPr id="22" name="Text 20"/>
          <p:cNvSpPr/>
          <p:nvPr/>
        </p:nvSpPr>
        <p:spPr>
          <a:xfrm>
            <a:off x="7059168" y="3429000"/>
            <a:ext cx="3566160" cy="182880"/>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 images/</a:t>
            </a:r>
            <a:endParaRPr lang="en-US" sz="1100" dirty="0"/>
          </a:p>
        </p:txBody>
      </p:sp>
      <p:sp>
        <p:nvSpPr>
          <p:cNvPr id="23" name="Text 21"/>
          <p:cNvSpPr/>
          <p:nvPr/>
        </p:nvSpPr>
        <p:spPr>
          <a:xfrm>
            <a:off x="7818120" y="5349240"/>
            <a:ext cx="1828800" cy="228600"/>
          </a:xfrm>
          <a:prstGeom prst="rect">
            <a:avLst/>
          </a:prstGeom>
          <a:noFill/>
          <a:ln/>
        </p:spPr>
        <p:txBody>
          <a:bodyPr wrap="square" lIns="0" tIns="0" rIns="0" bIns="0" rtlCol="0" anchor="ctr"/>
          <a:lstStyle/>
          <a:p>
            <a:pPr algn="ctr" indent="0" marL="0">
              <a:buNone/>
            </a:pPr>
            <a:r>
              <a:rPr lang="en-US" sz="1800" b="1" dirty="0">
                <a:solidFill>
                  <a:srgbClr val="2EA043"/>
                </a:solidFill>
              </a:rPr>
              <a:t>Push to GitHub</a:t>
            </a:r>
            <a:endParaRPr lang="en-US" sz="1800" dirty="0"/>
          </a:p>
        </p:txBody>
      </p:sp>
      <p:sp>
        <p:nvSpPr>
          <p:cNvPr id="24" name="Text 22"/>
          <p:cNvSpPr/>
          <p:nvPr/>
        </p:nvSpPr>
        <p:spPr>
          <a:xfrm>
            <a:off x="11292840" y="6464808"/>
            <a:ext cx="411480" cy="164592"/>
          </a:xfrm>
          <a:prstGeom prst="rect">
            <a:avLst/>
          </a:prstGeom>
          <a:noFill/>
          <a:ln/>
        </p:spPr>
        <p:txBody>
          <a:bodyPr wrap="square" lIns="0" tIns="0" rIns="0" bIns="0" rtlCol="0" anchor="ctr"/>
          <a:lstStyle/>
          <a:p>
            <a:pPr indent="0" marL="0">
              <a:buNone/>
            </a:pPr>
            <a:r>
              <a:rPr lang="en-US" sz="800" dirty="0">
                <a:solidFill>
                  <a:srgbClr val="8B949E"/>
                </a:solidFill>
              </a:rPr>
              <a:t>14/15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117"/>
          </a:solidFill>
          <a:ln w="12700">
            <a:solidFill>
              <a:srgbClr val="0D1117"/>
            </a:solidFill>
            <a:prstDash val="solid"/>
          </a:ln>
        </p:spPr>
      </p:sp>
      <p:sp>
        <p:nvSpPr>
          <p:cNvPr id="3" name="Shape 1"/>
          <p:cNvSpPr/>
          <p:nvPr/>
        </p:nvSpPr>
        <p:spPr>
          <a:xfrm>
            <a:off x="0" y="0"/>
            <a:ext cx="12191695" cy="109728"/>
          </a:xfrm>
          <a:prstGeom prst="rect">
            <a:avLst/>
          </a:prstGeom>
          <a:solidFill>
            <a:srgbClr val="2EA043"/>
          </a:solidFill>
          <a:ln w="12700">
            <a:solidFill>
              <a:srgbClr val="2EA043"/>
            </a:solidFill>
            <a:prstDash val="solid"/>
          </a:ln>
        </p:spPr>
      </p:sp>
      <p:sp>
        <p:nvSpPr>
          <p:cNvPr id="4" name="Text 2"/>
          <p:cNvSpPr/>
          <p:nvPr/>
        </p:nvSpPr>
        <p:spPr>
          <a:xfrm>
            <a:off x="502920" y="292608"/>
            <a:ext cx="7772400" cy="438912"/>
          </a:xfrm>
          <a:prstGeom prst="rect">
            <a:avLst/>
          </a:prstGeom>
          <a:noFill/>
          <a:ln/>
        </p:spPr>
        <p:txBody>
          <a:bodyPr wrap="square" lIns="0" tIns="0" rIns="0" bIns="0" rtlCol="0" anchor="ctr"/>
          <a:lstStyle/>
          <a:p>
            <a:pPr indent="0" marL="0">
              <a:buNone/>
            </a:pPr>
            <a:r>
              <a:rPr lang="en-US" sz="2600" b="1" dirty="0">
                <a:solidFill>
                  <a:srgbClr val="F0F6FC"/>
                </a:solidFill>
                <a:latin typeface="Aptos Display" pitchFamily="34" charset="0"/>
                <a:ea typeface="Aptos Display" pitchFamily="34" charset="-122"/>
                <a:cs typeface="Aptos Display" pitchFamily="34" charset="-120"/>
              </a:rPr>
              <a:t>Final Message</a:t>
            </a:r>
            <a:endParaRPr lang="en-US" sz="2600" dirty="0"/>
          </a:p>
        </p:txBody>
      </p:sp>
      <p:sp>
        <p:nvSpPr>
          <p:cNvPr id="5" name="Text 3"/>
          <p:cNvSpPr/>
          <p:nvPr/>
        </p:nvSpPr>
        <p:spPr>
          <a:xfrm>
            <a:off x="9326880" y="347472"/>
            <a:ext cx="2240280" cy="228600"/>
          </a:xfrm>
          <a:prstGeom prst="rect">
            <a:avLst/>
          </a:prstGeom>
          <a:noFill/>
          <a:ln/>
        </p:spPr>
        <p:txBody>
          <a:bodyPr wrap="square" lIns="0" tIns="0" rIns="0" bIns="0" rtlCol="0" anchor="ctr"/>
          <a:lstStyle/>
          <a:p>
            <a:pPr algn="r" indent="0" marL="0">
              <a:buNone/>
            </a:pPr>
            <a:r>
              <a:rPr lang="en-US" sz="800" dirty="0">
                <a:solidFill>
                  <a:srgbClr val="8B949E"/>
                </a:solidFill>
              </a:rPr>
              <a:t>GitHub for Geological Research</a:t>
            </a:r>
            <a:endParaRPr lang="en-US" sz="800" dirty="0"/>
          </a:p>
        </p:txBody>
      </p:sp>
      <p:sp>
        <p:nvSpPr>
          <p:cNvPr id="6" name="Text 4"/>
          <p:cNvSpPr/>
          <p:nvPr/>
        </p:nvSpPr>
        <p:spPr>
          <a:xfrm>
            <a:off x="1051560" y="1417320"/>
            <a:ext cx="9921240" cy="2011680"/>
          </a:xfrm>
          <a:prstGeom prst="rect">
            <a:avLst/>
          </a:prstGeom>
          <a:noFill/>
          <a:ln/>
        </p:spPr>
        <p:txBody>
          <a:bodyPr wrap="square" lIns="0" tIns="0" rIns="0" bIns="0" rtlCol="0" anchor="ctr">
            <a:normAutofit/>
          </a:bodyPr>
          <a:lstStyle/>
          <a:p>
            <a:pPr algn="ctr" indent="0" marL="0">
              <a:buNone/>
            </a:pPr>
            <a:r>
              <a:rPr lang="en-US" sz="3100" b="1" dirty="0">
                <a:solidFill>
                  <a:srgbClr val="F0F6FC"/>
                </a:solidFill>
              </a:rPr>
              <a:t>“GitHub is not about becoming a software developer.</a:t>
            </a:r>
            <a:endParaRPr lang="en-US" sz="3100" dirty="0"/>
          </a:p>
          <a:p>
            <a:pPr algn="ctr" indent="0" marL="0">
              <a:buNone/>
            </a:pPr>
            <a:endParaRPr lang="en-US" sz="3100" dirty="0"/>
          </a:p>
          <a:p>
            <a:pPr algn="ctr" indent="0" marL="0">
              <a:buNone/>
            </a:pPr>
            <a:r>
              <a:rPr lang="en-US" sz="3100" b="1" dirty="0">
                <a:solidFill>
                  <a:srgbClr val="F0F6FC"/>
                </a:solidFill>
              </a:rPr>
              <a:t>It is about learning how professionals organize, collaborate, and share their work.”</a:t>
            </a:r>
            <a:endParaRPr lang="en-US" sz="3100" dirty="0"/>
          </a:p>
        </p:txBody>
      </p:sp>
      <p:pic>
        <p:nvPicPr>
          <p:cNvPr id="7" name="Image 0" descr="/mnt/data/github_mark.png">    </p:cNvPr>
          <p:cNvPicPr>
            <a:picLocks noChangeAspect="1"/>
          </p:cNvPicPr>
          <p:nvPr/>
        </p:nvPicPr>
        <p:blipFill>
          <a:blip r:embed="rId1"/>
          <a:stretch>
            <a:fillRect/>
          </a:stretch>
        </p:blipFill>
        <p:spPr>
          <a:xfrm>
            <a:off x="5166360" y="3794760"/>
            <a:ext cx="868680" cy="868680"/>
          </a:xfrm>
          <a:prstGeom prst="rect">
            <a:avLst/>
          </a:prstGeom>
        </p:spPr>
      </p:pic>
      <p:sp>
        <p:nvSpPr>
          <p:cNvPr id="8" name="Text 5"/>
          <p:cNvSpPr/>
          <p:nvPr/>
        </p:nvSpPr>
        <p:spPr>
          <a:xfrm>
            <a:off x="3840480" y="4846320"/>
            <a:ext cx="4526280" cy="548640"/>
          </a:xfrm>
          <a:prstGeom prst="rect">
            <a:avLst/>
          </a:prstGeom>
          <a:noFill/>
          <a:ln/>
        </p:spPr>
        <p:txBody>
          <a:bodyPr wrap="square" lIns="0" tIns="0" rIns="0" bIns="0" rtlCol="0" anchor="ctr"/>
          <a:lstStyle/>
          <a:p>
            <a:pPr algn="ctr" indent="0" marL="0">
              <a:buNone/>
            </a:pPr>
            <a:r>
              <a:rPr lang="en-US" sz="3600" b="1" dirty="0">
                <a:solidFill>
                  <a:srgbClr val="D8B46A"/>
                </a:solidFill>
              </a:rPr>
              <a:t>Thank You</a:t>
            </a:r>
            <a:endParaRPr lang="en-US" sz="3600" dirty="0"/>
          </a:p>
        </p:txBody>
      </p:sp>
      <p:sp>
        <p:nvSpPr>
          <p:cNvPr id="9" name="Text 6"/>
          <p:cNvSpPr/>
          <p:nvPr/>
        </p:nvSpPr>
        <p:spPr>
          <a:xfrm>
            <a:off x="4251960" y="5532120"/>
            <a:ext cx="3657600" cy="320040"/>
          </a:xfrm>
          <a:prstGeom prst="rect">
            <a:avLst/>
          </a:prstGeom>
          <a:noFill/>
          <a:ln/>
        </p:spPr>
        <p:txBody>
          <a:bodyPr wrap="square" lIns="0" tIns="0" rIns="0" bIns="0" rtlCol="0" anchor="ctr"/>
          <a:lstStyle/>
          <a:p>
            <a:pPr algn="ctr" indent="0" marL="0">
              <a:buNone/>
            </a:pPr>
            <a:r>
              <a:rPr lang="en-US" sz="2300" dirty="0">
                <a:solidFill>
                  <a:srgbClr val="E6EDF3"/>
                </a:solidFill>
              </a:rPr>
              <a:t>Questions?</a:t>
            </a:r>
            <a:endParaRPr lang="en-US" sz="2300" dirty="0"/>
          </a:p>
        </p:txBody>
      </p:sp>
      <p:sp>
        <p:nvSpPr>
          <p:cNvPr id="10" name="Text 7"/>
          <p:cNvSpPr/>
          <p:nvPr/>
        </p:nvSpPr>
        <p:spPr>
          <a:xfrm>
            <a:off x="11292840" y="6464808"/>
            <a:ext cx="411480" cy="164592"/>
          </a:xfrm>
          <a:prstGeom prst="rect">
            <a:avLst/>
          </a:prstGeom>
          <a:noFill/>
          <a:ln/>
        </p:spPr>
        <p:txBody>
          <a:bodyPr wrap="square" lIns="0" tIns="0" rIns="0" bIns="0" rtlCol="0" anchor="ctr"/>
          <a:lstStyle/>
          <a:p>
            <a:pPr indent="0" marL="0">
              <a:buNone/>
            </a:pPr>
            <a:r>
              <a:rPr lang="en-US" sz="800" dirty="0">
                <a:solidFill>
                  <a:srgbClr val="8B949E"/>
                </a:solidFill>
              </a:rPr>
              <a:t>15/15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University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&amp; GitHub Fundamentals – Final Session</dc:title>
  <dc:subject>Git &amp; GitHub Fundamentals – Final Session</dc:subject>
  <dc:creator>OpenAI</dc:creator>
  <cp:lastModifiedBy>OpenAI</cp:lastModifiedBy>
  <cp:revision>1</cp:revision>
  <dcterms:created xsi:type="dcterms:W3CDTF">2026-08-03T12:04:06Z</dcterms:created>
  <dcterms:modified xsi:type="dcterms:W3CDTF">2026-08-03T12:04:06Z</dcterms:modified>
</cp:coreProperties>
</file>