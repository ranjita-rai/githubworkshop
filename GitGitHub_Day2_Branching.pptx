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is a full hands-on branching workshop. We will build a real mini-project on GitHub, from a fresh clone all the way through feature branches, merges, and a GUI-based pull request into 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long, practical session. Every command will be typed live. Encourage students to type along rather than copy-paste — muscle memory matters for Git.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student should clone the same demo repository (or their own empty repo created in Day 1). Confirm everyone lands inside the project folder on the main branch.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step light — the goal is just to have something real to commit. Any 2-3 files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full sync-to-push cycle from Day 1, now applied to real starter files. main on GitHub now matches main locally.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all three live so students see the output differs. This sets up the payoff later — after creating branches, we will re-run git branch -a to see them appear.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first branch students create. Confirm the terminal prompt changes to show (develop) and that GitHub's branch dropdown now shows two branches.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quick visual pause before we branch further. Point out that develop's starting point is exactly where main was when we branched.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feature/frontend is a naming convention, not a Git rule — but it is an industry standard worth teaching from day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demo code trivial — a heading in index.html, one CSS rule, one console.log in app.js. The goal is the Git workflow, not the frontend code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one of the most common beginner branching mistakes. Emphasize it clearly — always confirm your current branch with git branch before creating a new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payoff moment — two independent branches, two independent folders, zero conflicts so far because the branches never touched the same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diagram is the mental model students should keep for the rest of the course. Four lanes, two of them branching off the same commit on develop.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Since no one else touched develop, this merge should be conflict-free. This is intentional for Day 2 — conflict resolution belongs in a later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steps as the frontend merge, repeated for consistency — this repetition is intentional so students build muscle memory for the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main is still untouched — this is by design. develop is fully integrated and tested before anything reaches 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this live on the projector — this is often the most exciting moment for beginners, watching main update through the browser instead of the terminal.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force push here conceptually — the next slide dedicates full attention to why it is risky and when it is genuinely appropriate.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if anyone has heard a horror story about force push — it usually gets the class's attention. This is one of the most important safety lessons in Git.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light refresher — students already saw commit and config basics on Day 1. The -am shortcut is the one new addition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 students screenshot or bookmark this slide — it will save them time for the rest of the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mistakes are extremely common even among professional developers early in their careers — normalize them as part of the learning curve.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entire journey end-to-end: clone, main, develop, two feature branches, two merges, and a GUI merge into 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20-25 minutes for this full end-to-end exercise. Walk around to help with upstream/push errors, which are the most common blockers.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for questions. Preview Day 3: resolving merge conflicts, pull requests with code review, and collaborating with a real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1.png"/><Relationship Id="rId3" Type="http://schemas.openxmlformats.org/officeDocument/2006/relationships/image" Target="../media/image-18-1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1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1.png"/><Relationship Id="rId3" Type="http://schemas.openxmlformats.org/officeDocument/2006/relationships/image" Target="../media/image-20-3.png"/><Relationship Id="rId4" Type="http://schemas.openxmlformats.org/officeDocument/2006/relationships/image" Target="../media/image-20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1F2547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3931920"/>
            <a:ext cx="2743200" cy="2743200"/>
          </a:xfrm>
          <a:prstGeom prst="ellipse">
            <a:avLst/>
          </a:prstGeom>
          <a:solidFill>
            <a:srgbClr val="1F2547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754880"/>
            <a:ext cx="3108960" cy="3108960"/>
          </a:xfrm>
          <a:prstGeom prst="ellipse">
            <a:avLst/>
          </a:prstGeom>
          <a:solidFill>
            <a:srgbClr val="1F254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77240"/>
            <a:ext cx="960120" cy="960120"/>
          </a:xfrm>
          <a:prstGeom prst="ellipse">
            <a:avLst/>
          </a:prstGeom>
          <a:solidFill>
            <a:srgbClr val="1F2547"/>
          </a:solidFill>
          <a:ln/>
        </p:spPr>
      </p:sp>
      <p:pic>
        <p:nvPicPr>
          <p:cNvPr id="6" name="Image 0" descr="/home/claude/gitgithub/icons/g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776" y="902056"/>
            <a:ext cx="710489" cy="710489"/>
          </a:xfrm>
          <a:prstGeom prst="rect">
            <a:avLst/>
          </a:prstGeom>
        </p:spPr>
      </p:pic>
      <p:pic>
        <p:nvPicPr>
          <p:cNvPr id="7" name="Image 1" descr="/home/claude/gitgithub/icons/github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960120"/>
            <a:ext cx="594360" cy="594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•  BRANCHING &amp; TEAM WORKFLOW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77240" y="28346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GitHub Fundamentals</a:t>
            </a:r>
            <a:endParaRPr lang="en-US" sz="4600" dirty="0"/>
          </a:p>
        </p:txBody>
      </p:sp>
      <p:sp>
        <p:nvSpPr>
          <p:cNvPr id="10" name="Text 6"/>
          <p:cNvSpPr/>
          <p:nvPr/>
        </p:nvSpPr>
        <p:spPr>
          <a:xfrm>
            <a:off x="82296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→ main → develop → feature branches → merge → GitHub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822960" y="507492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1F2547"/>
          </a:solidFill>
          <a:ln/>
        </p:spPr>
      </p:sp>
      <p:sp>
        <p:nvSpPr>
          <p:cNvPr id="12" name="Shape 8"/>
          <p:cNvSpPr/>
          <p:nvPr/>
        </p:nvSpPr>
        <p:spPr>
          <a:xfrm>
            <a:off x="1005840" y="5257800"/>
            <a:ext cx="548640" cy="548640"/>
          </a:xfrm>
          <a:prstGeom prst="ellipse">
            <a:avLst/>
          </a:prstGeom>
          <a:solidFill>
            <a:srgbClr val="6E40C9"/>
          </a:solidFill>
          <a:ln/>
        </p:spPr>
      </p:sp>
      <p:pic>
        <p:nvPicPr>
          <p:cNvPr id="13" name="Image 2" descr="/home/claude/gitgithub/icons/us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" y="5329123"/>
            <a:ext cx="405994" cy="40599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5212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1691640" y="5440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Ranjita Rai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7E9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Hands-On Journey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E7E9F2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943100"/>
            <a:ext cx="502920" cy="50292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7" name="Image 0" descr="/home/claude/gitgithub/icons/down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612" y="2008480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6002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repo (main only)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97680" y="160020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E7E9F2"/>
          </a:solidFill>
          <a:ln/>
        </p:spPr>
      </p:sp>
      <p:sp>
        <p:nvSpPr>
          <p:cNvPr id="10" name="Shape 7"/>
          <p:cNvSpPr/>
          <p:nvPr/>
        </p:nvSpPr>
        <p:spPr>
          <a:xfrm>
            <a:off x="4462272" y="1943100"/>
            <a:ext cx="502920" cy="502920"/>
          </a:xfrm>
          <a:prstGeom prst="ellipse">
            <a:avLst/>
          </a:prstGeom>
          <a:solidFill>
            <a:srgbClr val="6E40C9"/>
          </a:solidFill>
          <a:ln/>
        </p:spPr>
      </p:sp>
      <p:pic>
        <p:nvPicPr>
          <p:cNvPr id="11" name="Image 1" descr="/home/claude/gitgithub/icons/file_p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652" y="200848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16002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files &amp; push to main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046720" y="160020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E7E9F2"/>
          </a:solidFill>
          <a:ln/>
        </p:spPr>
      </p:sp>
      <p:sp>
        <p:nvSpPr>
          <p:cNvPr id="14" name="Shape 10"/>
          <p:cNvSpPr/>
          <p:nvPr/>
        </p:nvSpPr>
        <p:spPr>
          <a:xfrm>
            <a:off x="8211312" y="1943100"/>
            <a:ext cx="502920" cy="50292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5" name="Image 2" descr="/home/claude/gitgithub/icons/bra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6692" y="2008480"/>
            <a:ext cx="372161" cy="37216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869680" y="16002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branches: -a / -r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48640" y="297180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E7E9F2"/>
          </a:solidFill>
          <a:ln/>
        </p:spPr>
      </p:sp>
      <p:sp>
        <p:nvSpPr>
          <p:cNvPr id="18" name="Shape 13"/>
          <p:cNvSpPr/>
          <p:nvPr/>
        </p:nvSpPr>
        <p:spPr>
          <a:xfrm>
            <a:off x="713232" y="3314700"/>
            <a:ext cx="502920" cy="502920"/>
          </a:xfrm>
          <a:prstGeom prst="ellipse">
            <a:avLst/>
          </a:prstGeom>
          <a:solidFill>
            <a:srgbClr val="6E40C9"/>
          </a:solidFill>
          <a:ln/>
        </p:spPr>
      </p:sp>
      <p:pic>
        <p:nvPicPr>
          <p:cNvPr id="19" name="Image 3" descr="/home/claude/gitgithub/icons/plu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612" y="3380080"/>
            <a:ext cx="372161" cy="37216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29718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push develop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4297680" y="297180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E7E9F2"/>
          </a:solidFill>
          <a:ln/>
        </p:spPr>
      </p:sp>
      <p:sp>
        <p:nvSpPr>
          <p:cNvPr id="22" name="Shape 16"/>
          <p:cNvSpPr/>
          <p:nvPr/>
        </p:nvSpPr>
        <p:spPr>
          <a:xfrm>
            <a:off x="4462272" y="3314700"/>
            <a:ext cx="502920" cy="50292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23" name="Image 4" descr="/home/claude/gitgithub/icons/deskto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7652" y="3380080"/>
            <a:ext cx="372161" cy="3721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20640" y="29718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feature/frontend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8046720" y="297180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E7E9F2"/>
          </a:solidFill>
          <a:ln/>
        </p:spPr>
      </p:sp>
      <p:sp>
        <p:nvSpPr>
          <p:cNvPr id="26" name="Shape 19"/>
          <p:cNvSpPr/>
          <p:nvPr/>
        </p:nvSpPr>
        <p:spPr>
          <a:xfrm>
            <a:off x="8211312" y="3314700"/>
            <a:ext cx="502920" cy="502920"/>
          </a:xfrm>
          <a:prstGeom prst="ellipse">
            <a:avLst/>
          </a:prstGeom>
          <a:solidFill>
            <a:srgbClr val="6E40C9"/>
          </a:solidFill>
          <a:ln/>
        </p:spPr>
      </p:sp>
      <p:pic>
        <p:nvPicPr>
          <p:cNvPr id="27" name="Image 5" descr="/home/claude/gitgithub/icons/serv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6692" y="3380080"/>
            <a:ext cx="372161" cy="37216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869680" y="29718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feature/backend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548640" y="434340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E7E9F2"/>
          </a:solidFill>
          <a:ln/>
        </p:spPr>
      </p:sp>
      <p:sp>
        <p:nvSpPr>
          <p:cNvPr id="30" name="Shape 22"/>
          <p:cNvSpPr/>
          <p:nvPr/>
        </p:nvSpPr>
        <p:spPr>
          <a:xfrm>
            <a:off x="713232" y="4686300"/>
            <a:ext cx="502920" cy="50292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31" name="Image 6" descr="/home/claude/gitgithub/icons/merg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612" y="4751680"/>
            <a:ext cx="372161" cy="372161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371600" y="43434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features into develop</a:t>
            </a:r>
            <a:endParaRPr lang="en-US" sz="1250" dirty="0"/>
          </a:p>
        </p:txBody>
      </p:sp>
      <p:sp>
        <p:nvSpPr>
          <p:cNvPr id="33" name="Shape 24"/>
          <p:cNvSpPr/>
          <p:nvPr/>
        </p:nvSpPr>
        <p:spPr>
          <a:xfrm>
            <a:off x="4297680" y="434340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E7E9F2"/>
          </a:solidFill>
          <a:ln/>
        </p:spPr>
      </p:sp>
      <p:sp>
        <p:nvSpPr>
          <p:cNvPr id="34" name="Shape 25"/>
          <p:cNvSpPr/>
          <p:nvPr/>
        </p:nvSpPr>
        <p:spPr>
          <a:xfrm>
            <a:off x="4462272" y="4686300"/>
            <a:ext cx="502920" cy="502920"/>
          </a:xfrm>
          <a:prstGeom prst="ellipse">
            <a:avLst/>
          </a:prstGeom>
          <a:solidFill>
            <a:srgbClr val="6E40C9"/>
          </a:solidFill>
          <a:ln/>
        </p:spPr>
      </p:sp>
      <p:pic>
        <p:nvPicPr>
          <p:cNvPr id="35" name="Image 7" descr="/home/claude/gitgithub/icons/pull_reques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7652" y="4751680"/>
            <a:ext cx="372161" cy="372161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120640" y="43434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develop → main (GUI)</a:t>
            </a:r>
            <a:endParaRPr lang="en-US" sz="1250" dirty="0"/>
          </a:p>
        </p:txBody>
      </p:sp>
      <p:sp>
        <p:nvSpPr>
          <p:cNvPr id="37" name="Shape 27"/>
          <p:cNvSpPr/>
          <p:nvPr/>
        </p:nvSpPr>
        <p:spPr>
          <a:xfrm>
            <a:off x="8046720" y="434340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E7E9F2"/>
          </a:solidFill>
          <a:ln/>
        </p:spPr>
      </p:sp>
      <p:sp>
        <p:nvSpPr>
          <p:cNvPr id="38" name="Shape 28"/>
          <p:cNvSpPr/>
          <p:nvPr/>
        </p:nvSpPr>
        <p:spPr>
          <a:xfrm>
            <a:off x="8211312" y="4686300"/>
            <a:ext cx="502920" cy="50292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39" name="Image 8" descr="/home/claude/gitgithub/icons/uploa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6692" y="4751680"/>
            <a:ext cx="372161" cy="372161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8869680" y="43434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push, force-push &amp; config</a:t>
            </a:r>
            <a:endParaRPr lang="en-US" sz="1250" dirty="0"/>
          </a:p>
        </p:txBody>
      </p:sp>
      <p:sp>
        <p:nvSpPr>
          <p:cNvPr id="41" name="Text 30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 •  Day 2 — Branching Workflow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7E9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Clone the Repository (main only)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 GitHub repository starts with a single branch — main. Clone it to begin.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61B3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404872"/>
            <a:ext cx="105156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clone https://github.com/ranjita-rai/team-project.git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802636"/>
            <a:ext cx="105156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team-project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E7E9F2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3840480"/>
            <a:ext cx="502920" cy="50292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2" name="Image 0" descr="/home/claude/gitgithub/icons/folder_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612" y="3905860"/>
            <a:ext cx="372161" cy="37216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71600" y="38221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branch only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44348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brand-new clone only has "main" locally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297680" y="365760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E7E9F2"/>
          </a:solidFill>
          <a:ln/>
        </p:spPr>
      </p:sp>
      <p:sp>
        <p:nvSpPr>
          <p:cNvPr id="16" name="Shape 13"/>
          <p:cNvSpPr/>
          <p:nvPr/>
        </p:nvSpPr>
        <p:spPr>
          <a:xfrm>
            <a:off x="4462272" y="3840480"/>
            <a:ext cx="502920" cy="502920"/>
          </a:xfrm>
          <a:prstGeom prst="ellipse">
            <a:avLst/>
          </a:prstGeom>
          <a:solidFill>
            <a:srgbClr val="6E40C9"/>
          </a:solidFill>
          <a:ln/>
        </p:spPr>
      </p:sp>
      <p:pic>
        <p:nvPicPr>
          <p:cNvPr id="17" name="Image 1" descr="/home/claude/gitgithub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652" y="3905860"/>
            <a:ext cx="372161" cy="37216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20640" y="38221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connected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480560" y="44348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"origin" is already linked to GitHub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046720" y="365760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E7E9F2"/>
          </a:solidFill>
          <a:ln/>
        </p:spPr>
      </p:sp>
      <p:sp>
        <p:nvSpPr>
          <p:cNvPr id="21" name="Shape 17"/>
          <p:cNvSpPr/>
          <p:nvPr/>
        </p:nvSpPr>
        <p:spPr>
          <a:xfrm>
            <a:off x="8211312" y="3840480"/>
            <a:ext cx="502920" cy="50292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22" name="Image 2" descr="/home/claude/gitgithub/icons/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6692" y="3905860"/>
            <a:ext cx="372161" cy="372161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869680" y="38221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inspect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229600" y="44348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git branch to confirm you are on main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 •  Day 2 — Branching Workflow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7E9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2–3 Starter Files on Main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add a few base files that both frontend and backend will build on later: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E7E9F2"/>
          </a:solidFill>
          <a:ln/>
        </p:spPr>
      </p:sp>
      <p:sp>
        <p:nvSpPr>
          <p:cNvPr id="7" name="Shape 5"/>
          <p:cNvSpPr/>
          <p:nvPr/>
        </p:nvSpPr>
        <p:spPr>
          <a:xfrm>
            <a:off x="1988820" y="2212848"/>
            <a:ext cx="640080" cy="64008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8" name="Image 0" descr="/home/claude/gitgithub/icons/do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030" y="2296058"/>
            <a:ext cx="473659" cy="4736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9718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3291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97680" y="201168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E7E9F2"/>
          </a:solidFill>
          <a:ln/>
        </p:spPr>
      </p:sp>
      <p:sp>
        <p:nvSpPr>
          <p:cNvPr id="12" name="Shape 9"/>
          <p:cNvSpPr/>
          <p:nvPr/>
        </p:nvSpPr>
        <p:spPr>
          <a:xfrm>
            <a:off x="5737860" y="2212848"/>
            <a:ext cx="640080" cy="640080"/>
          </a:xfrm>
          <a:prstGeom prst="ellipse">
            <a:avLst/>
          </a:prstGeom>
          <a:solidFill>
            <a:srgbClr val="6E40C9"/>
          </a:solidFill>
          <a:ln/>
        </p:spPr>
      </p:sp>
      <p:pic>
        <p:nvPicPr>
          <p:cNvPr id="13" name="Image 1" descr="/home/claude/gitgithub/icons/file_p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070" y="2296058"/>
            <a:ext cx="473659" cy="47365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0" y="29718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480560" y="3291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node_modules, .env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046720" y="201168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E7E9F2"/>
          </a:solidFill>
          <a:ln/>
        </p:spPr>
      </p:sp>
      <p:sp>
        <p:nvSpPr>
          <p:cNvPr id="17" name="Shape 13"/>
          <p:cNvSpPr/>
          <p:nvPr/>
        </p:nvSpPr>
        <p:spPr>
          <a:xfrm>
            <a:off x="9486900" y="2212848"/>
            <a:ext cx="640080" cy="64008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8" name="Image 2" descr="/home/claude/gitgithub/icons/file_p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0110" y="2296058"/>
            <a:ext cx="473659" cy="47365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38160" y="29718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package.json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229600" y="3291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project metadata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48640" y="3977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61B33"/>
          </a:solidFill>
          <a:ln/>
        </p:spPr>
      </p:sp>
      <p:sp>
        <p:nvSpPr>
          <p:cNvPr id="22" name="Text 17"/>
          <p:cNvSpPr/>
          <p:nvPr/>
        </p:nvSpPr>
        <p:spPr>
          <a:xfrm>
            <a:off x="822960" y="4069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22960" y="441655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touch README.md .gitignore package.json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22960" y="465429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(or create them in your code editor)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548640" y="521208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161B33"/>
          </a:solidFill>
          <a:ln/>
        </p:spPr>
      </p:sp>
      <p:sp>
        <p:nvSpPr>
          <p:cNvPr id="26" name="Text 21"/>
          <p:cNvSpPr/>
          <p:nvPr/>
        </p:nvSpPr>
        <p:spPr>
          <a:xfrm>
            <a:off x="868680" y="52120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files live directly on main — they are the shared foundation for the whole team.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 •  Day 2 — Branching Workflow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7E9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Stage, Commit &amp; Push to Main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2651760"/>
          </a:xfrm>
          <a:prstGeom prst="roundRect">
            <a:avLst>
              <a:gd name="adj" fmla="val 2759"/>
            </a:avLst>
          </a:prstGeom>
          <a:solidFill>
            <a:srgbClr val="161B3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039112"/>
            <a:ext cx="10515600" cy="518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status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558034"/>
            <a:ext cx="10515600" cy="518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076956"/>
            <a:ext cx="10515600" cy="518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"Add initial project files"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595878"/>
            <a:ext cx="10515600" cy="518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origin main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E7E9F2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" y="4608576"/>
            <a:ext cx="411480" cy="41148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3" name="Image 0" descr="/home/claude/gitgithub/icons/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860" y="4662068"/>
            <a:ext cx="304495" cy="30449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43000" y="455371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58368" y="508406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new untracked files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383280" y="448056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E7E9F2"/>
          </a:solidFill>
          <a:ln/>
        </p:spPr>
      </p:sp>
      <p:sp>
        <p:nvSpPr>
          <p:cNvPr id="17" name="Shape 14"/>
          <p:cNvSpPr/>
          <p:nvPr/>
        </p:nvSpPr>
        <p:spPr>
          <a:xfrm>
            <a:off x="3493008" y="4608576"/>
            <a:ext cx="411480" cy="411480"/>
          </a:xfrm>
          <a:prstGeom prst="ellipse">
            <a:avLst/>
          </a:prstGeom>
          <a:solidFill>
            <a:srgbClr val="6E40C9"/>
          </a:solidFill>
          <a:ln/>
        </p:spPr>
      </p:sp>
      <p:pic>
        <p:nvPicPr>
          <p:cNvPr id="18" name="Image 1" descr="/home/claude/gitgithub/icons/c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6500" y="4662068"/>
            <a:ext cx="304495" cy="30449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977640" y="455371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493008" y="508406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everything for this commit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217920" y="448056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E7E9F2"/>
          </a:solidFill>
          <a:ln/>
        </p:spPr>
      </p:sp>
      <p:sp>
        <p:nvSpPr>
          <p:cNvPr id="22" name="Shape 18"/>
          <p:cNvSpPr/>
          <p:nvPr/>
        </p:nvSpPr>
        <p:spPr>
          <a:xfrm>
            <a:off x="6327648" y="4608576"/>
            <a:ext cx="411480" cy="41148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23" name="Image 2" descr="/home/claude/gitgithub/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140" y="4662068"/>
            <a:ext cx="304495" cy="30449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812280" y="455371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327648" y="508406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snapshot with a message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9052560" y="448056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E7E9F2"/>
          </a:solidFill>
          <a:ln/>
        </p:spPr>
      </p:sp>
      <p:sp>
        <p:nvSpPr>
          <p:cNvPr id="27" name="Shape 22"/>
          <p:cNvSpPr/>
          <p:nvPr/>
        </p:nvSpPr>
        <p:spPr>
          <a:xfrm>
            <a:off x="9162288" y="4608576"/>
            <a:ext cx="411480" cy="411480"/>
          </a:xfrm>
          <a:prstGeom prst="ellipse">
            <a:avLst/>
          </a:prstGeom>
          <a:solidFill>
            <a:srgbClr val="6E40C9"/>
          </a:solidFill>
          <a:ln/>
        </p:spPr>
      </p:sp>
      <p:pic>
        <p:nvPicPr>
          <p:cNvPr id="28" name="Image 3" descr="/home/claude/gitgithub/icons/uplo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5780" y="4662068"/>
            <a:ext cx="304495" cy="30449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646920" y="455371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9162288" y="508406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commit history to GitHub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 •  Day 2 — Branching Workflow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7E9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Viewing Branches: -a and -r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E7E9F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819656"/>
            <a:ext cx="502920" cy="50292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7" name="Image 0" descr="/home/claude/gitgithub/icons/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620" y="1885036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297680" y="1691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local branches only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503920" y="1728216"/>
            <a:ext cx="2926080" cy="886968"/>
          </a:xfrm>
          <a:prstGeom prst="roundRect">
            <a:avLst>
              <a:gd name="adj" fmla="val 6186"/>
            </a:avLst>
          </a:prstGeom>
          <a:solidFill>
            <a:srgbClr val="161B33"/>
          </a:solidFill>
          <a:ln/>
        </p:spPr>
      </p:sp>
      <p:sp>
        <p:nvSpPr>
          <p:cNvPr id="11" name="Text 8"/>
          <p:cNvSpPr/>
          <p:nvPr/>
        </p:nvSpPr>
        <p:spPr>
          <a:xfrm>
            <a:off x="8641080" y="1728216"/>
            <a:ext cx="26517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main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898648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3118104"/>
            <a:ext cx="502920" cy="502920"/>
          </a:xfrm>
          <a:prstGeom prst="ellipse">
            <a:avLst/>
          </a:prstGeom>
          <a:solidFill>
            <a:srgbClr val="6E40C9"/>
          </a:solidFill>
          <a:ln/>
        </p:spPr>
      </p:sp>
      <p:pic>
        <p:nvPicPr>
          <p:cNvPr id="14" name="Image 1" descr="/home/claude/gitgithub/icons/bra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620" y="3183484"/>
            <a:ext cx="372161" cy="37216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63040" y="29900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-r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297680" y="29900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remote-tracking branches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503920" y="3026664"/>
            <a:ext cx="2926080" cy="886968"/>
          </a:xfrm>
          <a:prstGeom prst="roundRect">
            <a:avLst>
              <a:gd name="adj" fmla="val 6186"/>
            </a:avLst>
          </a:prstGeom>
          <a:solidFill>
            <a:srgbClr val="161B33"/>
          </a:solidFill>
          <a:ln/>
        </p:spPr>
      </p:sp>
      <p:sp>
        <p:nvSpPr>
          <p:cNvPr id="18" name="Text 14"/>
          <p:cNvSpPr/>
          <p:nvPr/>
        </p:nvSpPr>
        <p:spPr>
          <a:xfrm>
            <a:off x="8641080" y="3026664"/>
            <a:ext cx="26517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origin/main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48640" y="4197096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E7E9F2"/>
          </a:solidFill>
          <a:ln/>
        </p:spPr>
      </p:sp>
      <p:sp>
        <p:nvSpPr>
          <p:cNvPr id="20" name="Shape 16"/>
          <p:cNvSpPr/>
          <p:nvPr/>
        </p:nvSpPr>
        <p:spPr>
          <a:xfrm>
            <a:off x="777240" y="4416552"/>
            <a:ext cx="502920" cy="50292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21" name="Image 2" descr="/home/claude/gitgithub/icons/bra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20" y="4481932"/>
            <a:ext cx="372161" cy="37216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63040" y="42885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-a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4297680" y="428853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local AND remote branches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8503920" y="4325112"/>
            <a:ext cx="2926080" cy="886968"/>
          </a:xfrm>
          <a:prstGeom prst="roundRect">
            <a:avLst>
              <a:gd name="adj" fmla="val 6186"/>
            </a:avLst>
          </a:prstGeom>
          <a:solidFill>
            <a:srgbClr val="161B33"/>
          </a:solidFill>
          <a:ln/>
        </p:spPr>
      </p:sp>
      <p:sp>
        <p:nvSpPr>
          <p:cNvPr id="25" name="Text 20"/>
          <p:cNvSpPr/>
          <p:nvPr/>
        </p:nvSpPr>
        <p:spPr>
          <a:xfrm>
            <a:off x="8641080" y="4325112"/>
            <a:ext cx="26517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main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remotes/origin/main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548640" y="5541264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161B33"/>
          </a:solidFill>
          <a:ln/>
        </p:spPr>
      </p:sp>
      <p:sp>
        <p:nvSpPr>
          <p:cNvPr id="27" name="Text 22"/>
          <p:cNvSpPr/>
          <p:nvPr/>
        </p:nvSpPr>
        <p:spPr>
          <a:xfrm>
            <a:off x="868680" y="5541264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now, this only shows main — because no other branches exist yet.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 •  Day 2 — Branching Workflow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7E9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&amp; Push the develop Branch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is where all feature work comes together before it ever reaches main.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161B3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404872"/>
            <a:ext cx="10515600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checkout -b develop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791968"/>
            <a:ext cx="10515600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Switched to a new branch 'develop'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179064"/>
            <a:ext cx="10515600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-u origin develop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E7E9F2"/>
          </a:solidFill>
          <a:ln/>
        </p:spPr>
      </p:sp>
      <p:sp>
        <p:nvSpPr>
          <p:cNvPr id="12" name="Shape 10"/>
          <p:cNvSpPr/>
          <p:nvPr/>
        </p:nvSpPr>
        <p:spPr>
          <a:xfrm>
            <a:off x="713232" y="4160520"/>
            <a:ext cx="502920" cy="50292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3" name="Image 0" descr="/home/claude/gitgithub/icons/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612" y="4225900"/>
            <a:ext cx="372161" cy="372161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71600" y="412394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 -b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31520" y="469087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AND switches to the new branch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17920" y="39776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E7E9F2"/>
          </a:solidFill>
          <a:ln/>
        </p:spPr>
      </p:sp>
      <p:sp>
        <p:nvSpPr>
          <p:cNvPr id="17" name="Shape 14"/>
          <p:cNvSpPr/>
          <p:nvPr/>
        </p:nvSpPr>
        <p:spPr>
          <a:xfrm>
            <a:off x="6382512" y="4160520"/>
            <a:ext cx="502920" cy="502920"/>
          </a:xfrm>
          <a:prstGeom prst="ellipse">
            <a:avLst/>
          </a:prstGeom>
          <a:solidFill>
            <a:srgbClr val="6E40C9"/>
          </a:solidFill>
          <a:ln/>
        </p:spPr>
      </p:sp>
      <p:pic>
        <p:nvPicPr>
          <p:cNvPr id="18" name="Image 1" descr="/home/claude/gitgithub/icons/upl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892" y="4225900"/>
            <a:ext cx="372161" cy="37216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040880" y="412394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-u origin develop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400800" y="469087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local develop to GitHub develop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48640" y="544068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161B33"/>
          </a:solidFill>
          <a:ln/>
        </p:spPr>
      </p:sp>
      <p:sp>
        <p:nvSpPr>
          <p:cNvPr id="22" name="Text 18"/>
          <p:cNvSpPr/>
          <p:nvPr/>
        </p:nvSpPr>
        <p:spPr>
          <a:xfrm>
            <a:off x="868680" y="544068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git branch -a now — you will see develop listed both locally and on origin.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 •  Day 2 — Branching Workflow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1F25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CHECKPOINT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Map So Far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2130552"/>
            <a:ext cx="1737360" cy="402336"/>
          </a:xfrm>
          <a:prstGeom prst="roundRect">
            <a:avLst>
              <a:gd name="adj" fmla="val 13636"/>
            </a:avLst>
          </a:prstGeom>
          <a:solidFill>
            <a:srgbClr val="F0503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3055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468880" y="2331720"/>
            <a:ext cx="9052560" cy="0"/>
          </a:xfrm>
          <a:prstGeom prst="line">
            <a:avLst/>
          </a:prstGeom>
          <a:noFill/>
          <a:ln w="31750">
            <a:solidFill>
              <a:srgbClr val="F050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9544" y="2249424"/>
            <a:ext cx="164592" cy="164592"/>
          </a:xfrm>
          <a:prstGeom prst="ellipse">
            <a:avLst/>
          </a:prstGeom>
          <a:solidFill>
            <a:srgbClr val="F050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46904" y="2249424"/>
            <a:ext cx="164592" cy="164592"/>
          </a:xfrm>
          <a:prstGeom prst="ellipse">
            <a:avLst/>
          </a:prstGeom>
          <a:solidFill>
            <a:srgbClr val="F050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593592"/>
            <a:ext cx="1737360" cy="402336"/>
          </a:xfrm>
          <a:prstGeom prst="roundRect">
            <a:avLst>
              <a:gd name="adj" fmla="val 13636"/>
            </a:avLst>
          </a:prstGeom>
          <a:solidFill>
            <a:srgbClr val="6E40C9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9359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0" y="3794760"/>
            <a:ext cx="6492240" cy="0"/>
          </a:xfrm>
          <a:prstGeom prst="line">
            <a:avLst/>
          </a:prstGeom>
          <a:noFill/>
          <a:ln w="31750">
            <a:solidFill>
              <a:srgbClr val="6E40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46904" y="3712464"/>
            <a:ext cx="164592" cy="164592"/>
          </a:xfrm>
          <a:prstGeom prst="ellipse">
            <a:avLst/>
          </a:prstGeom>
          <a:solidFill>
            <a:srgbClr val="6E40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2331720"/>
            <a:ext cx="0" cy="1463040"/>
          </a:xfrm>
          <a:prstGeom prst="line">
            <a:avLst/>
          </a:prstGeom>
          <a:noFill/>
          <a:ln w="25400">
            <a:solidFill>
              <a:srgbClr val="A9AEC7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5212080" y="2898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branched from main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F2547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07492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holds the initial files. develop now exists as a safe space to build features before they reach main.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 •  Day 2 — Branching Workflow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7E9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the feature/frontend Branch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feature gets its own branch, created from develop — never from main.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161B3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404872"/>
            <a:ext cx="10515600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checkout develop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791968"/>
            <a:ext cx="10515600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checkout -b feature/frontend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179064"/>
            <a:ext cx="10515600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Switched to a new branch 'feature/frontend'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E7E9F2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4142232"/>
            <a:ext cx="457200" cy="45720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3" name="Image 0" descr="/home/claude/gitgithub/icons/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" y="4201668"/>
            <a:ext cx="338328" cy="33832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61872" y="41056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feature/&lt;name&gt;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13232" y="4617720"/>
            <a:ext cx="3191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naming convention everyone recognizes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297680" y="39776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E7E9F2"/>
          </a:solidFill>
          <a:ln/>
        </p:spPr>
      </p:sp>
      <p:sp>
        <p:nvSpPr>
          <p:cNvPr id="17" name="Shape 14"/>
          <p:cNvSpPr/>
          <p:nvPr/>
        </p:nvSpPr>
        <p:spPr>
          <a:xfrm>
            <a:off x="4434840" y="4142232"/>
            <a:ext cx="457200" cy="457200"/>
          </a:xfrm>
          <a:prstGeom prst="ellipse">
            <a:avLst/>
          </a:prstGeom>
          <a:solidFill>
            <a:srgbClr val="6E40C9"/>
          </a:solidFill>
          <a:ln/>
        </p:spPr>
      </p:sp>
      <p:pic>
        <p:nvPicPr>
          <p:cNvPr id="18" name="Image 1" descr="/home/claude/gitgithub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276" y="4201668"/>
            <a:ext cx="338328" cy="33832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010912" y="41056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develop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462272" y="4617720"/>
            <a:ext cx="3191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from main — keeps main always stable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8046720" y="39776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E7E9F2"/>
          </a:solidFill>
          <a:ln/>
        </p:spPr>
      </p:sp>
      <p:sp>
        <p:nvSpPr>
          <p:cNvPr id="22" name="Shape 18"/>
          <p:cNvSpPr/>
          <p:nvPr/>
        </p:nvSpPr>
        <p:spPr>
          <a:xfrm>
            <a:off x="8183880" y="4142232"/>
            <a:ext cx="457200" cy="45720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23" name="Image 2" descr="/home/claude/gitgithub/icons/puzz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3316" y="4201668"/>
            <a:ext cx="338328" cy="33832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759952" y="41056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work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8211312" y="4617720"/>
            <a:ext cx="3191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changes won't affect anyone else yet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 •  Day 2 — Branching Workflow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7E9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Frontend Code &amp; Push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161B3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039112"/>
            <a:ext cx="1051560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390242"/>
            <a:ext cx="1051560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touch frontend/index.html frontend/style.css frontend/app.js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741371"/>
            <a:ext cx="1051560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frontend/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092501"/>
            <a:ext cx="1051560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"Add frontend structure and homepage"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443630"/>
            <a:ext cx="1051560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-u origin feature/frontend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640080" cy="64008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3" name="Image 0" descr="/home/claude/gitgithub/icons/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4335170"/>
            <a:ext cx="473659" cy="473659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371600" y="4251960"/>
            <a:ext cx="9509760" cy="1097280"/>
          </a:xfrm>
          <a:prstGeom prst="roundRect">
            <a:avLst>
              <a:gd name="adj" fmla="val 6667"/>
            </a:avLst>
          </a:prstGeom>
          <a:solidFill>
            <a:srgbClr val="E7E9F2"/>
          </a:solidFill>
          <a:ln/>
        </p:spPr>
      </p:sp>
      <p:sp>
        <p:nvSpPr>
          <p:cNvPr id="15" name="Text 12"/>
          <p:cNvSpPr/>
          <p:nvPr/>
        </p:nvSpPr>
        <p:spPr>
          <a:xfrm>
            <a:off x="1600200" y="434340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frontend/  →  index.html · style.css · app.js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600200" y="475488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frontend work stays inside its own folder and its own branch until it is ready to merge.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 •  Day 2 — Branching Workflow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7E9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the feature/backend Branch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develop first — feature/backend must also branch from develop, not from feature/frontend.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161B3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404872"/>
            <a:ext cx="10515600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checkout develop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791968"/>
            <a:ext cx="10515600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checkout -b feature/backend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179064"/>
            <a:ext cx="10515600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Switched to a new branch 'feature/backend'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161B33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4206240"/>
            <a:ext cx="822960" cy="822960"/>
          </a:xfrm>
          <a:prstGeom prst="ellipse">
            <a:avLst/>
          </a:prstGeom>
          <a:solidFill>
            <a:srgbClr val="1F2547"/>
          </a:solidFill>
          <a:ln/>
        </p:spPr>
      </p:sp>
      <p:pic>
        <p:nvPicPr>
          <p:cNvPr id="13" name="Image 0" descr="/home/claude/gitgithub/icons/warnin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945" y="4313225"/>
            <a:ext cx="608990" cy="60899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920240" y="418795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 to avoid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920240" y="4553712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create feature/backend while still on feature/frontend, it will branch from the frontend work — not from clean develop. Always checkout develop first.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 •  Day 2 — Branching Workflow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7E9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Backend Code &amp; Push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161B3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039112"/>
            <a:ext cx="1051560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backend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390242"/>
            <a:ext cx="1051560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touch backend/server.js backend/package.json backend/routes.js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741371"/>
            <a:ext cx="1051560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backend/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092501"/>
            <a:ext cx="1051560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"Add backend server and routes"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443630"/>
            <a:ext cx="1051560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-u origin feature/backend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640080" cy="640080"/>
          </a:xfrm>
          <a:prstGeom prst="ellipse">
            <a:avLst/>
          </a:prstGeom>
          <a:solidFill>
            <a:srgbClr val="6E40C9"/>
          </a:solidFill>
          <a:ln/>
        </p:spPr>
      </p:sp>
      <p:pic>
        <p:nvPicPr>
          <p:cNvPr id="13" name="Image 0" descr="/home/claude/gitgithub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4335170"/>
            <a:ext cx="473659" cy="473659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371600" y="4251960"/>
            <a:ext cx="9509760" cy="1097280"/>
          </a:xfrm>
          <a:prstGeom prst="roundRect">
            <a:avLst>
              <a:gd name="adj" fmla="val 6667"/>
            </a:avLst>
          </a:prstGeom>
          <a:solidFill>
            <a:srgbClr val="E7E9F2"/>
          </a:solidFill>
          <a:ln/>
        </p:spPr>
      </p:sp>
      <p:sp>
        <p:nvSpPr>
          <p:cNvPr id="15" name="Text 12"/>
          <p:cNvSpPr/>
          <p:nvPr/>
        </p:nvSpPr>
        <p:spPr>
          <a:xfrm>
            <a:off x="1600200" y="434340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  →  server.js · package.json · routes.js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600200" y="475488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developers could genuinely work on frontend and backend at the same time without ever colliding.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 •  Day 2 — Branching Workflow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1F25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CHECKPOINT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Map: All Branches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1737360" cy="402336"/>
          </a:xfrm>
          <a:prstGeom prst="roundRect">
            <a:avLst>
              <a:gd name="adj" fmla="val 13636"/>
            </a:avLst>
          </a:prstGeom>
          <a:solidFill>
            <a:srgbClr val="F0503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1051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468880" y="2011680"/>
            <a:ext cx="9052560" cy="0"/>
          </a:xfrm>
          <a:prstGeom prst="line">
            <a:avLst/>
          </a:prstGeom>
          <a:noFill/>
          <a:ln w="31750">
            <a:solidFill>
              <a:srgbClr val="F050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58184" y="1929384"/>
            <a:ext cx="164592" cy="164592"/>
          </a:xfrm>
          <a:prstGeom prst="ellipse">
            <a:avLst/>
          </a:prstGeom>
          <a:solidFill>
            <a:srgbClr val="F050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862072"/>
            <a:ext cx="1737360" cy="402336"/>
          </a:xfrm>
          <a:prstGeom prst="roundRect">
            <a:avLst>
              <a:gd name="adj" fmla="val 13636"/>
            </a:avLst>
          </a:prstGeom>
          <a:solidFill>
            <a:srgbClr val="6E40C9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6207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840480" y="3063240"/>
            <a:ext cx="7680960" cy="0"/>
          </a:xfrm>
          <a:prstGeom prst="line">
            <a:avLst/>
          </a:prstGeom>
          <a:noFill/>
          <a:ln w="31750">
            <a:solidFill>
              <a:srgbClr val="6E40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58184" y="2980944"/>
            <a:ext cx="164592" cy="164592"/>
          </a:xfrm>
          <a:prstGeom prst="ellipse">
            <a:avLst/>
          </a:prstGeom>
          <a:solidFill>
            <a:srgbClr val="6E40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913632"/>
            <a:ext cx="1737360" cy="402336"/>
          </a:xfrm>
          <a:prstGeom prst="roundRect">
            <a:avLst>
              <a:gd name="adj" fmla="val 13636"/>
            </a:avLst>
          </a:prstGeom>
          <a:solidFill>
            <a:srgbClr val="4C9A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1363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feature/frontend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0" y="4114800"/>
            <a:ext cx="2743200" cy="0"/>
          </a:xfrm>
          <a:prstGeom prst="line">
            <a:avLst/>
          </a:prstGeom>
          <a:noFill/>
          <a:ln w="31750">
            <a:solidFill>
              <a:srgbClr val="4C9A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04104" y="4032504"/>
            <a:ext cx="164592" cy="164592"/>
          </a:xfrm>
          <a:prstGeom prst="ellipse">
            <a:avLst/>
          </a:prstGeom>
          <a:solidFill>
            <a:srgbClr val="4C9A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32904" y="4032504"/>
            <a:ext cx="164592" cy="164592"/>
          </a:xfrm>
          <a:prstGeom prst="ellipse">
            <a:avLst/>
          </a:prstGeom>
          <a:solidFill>
            <a:srgbClr val="4C9A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965192"/>
            <a:ext cx="1737360" cy="402336"/>
          </a:xfrm>
          <a:prstGeom prst="roundRect">
            <a:avLst>
              <a:gd name="adj" fmla="val 13636"/>
            </a:avLst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96519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feature/backend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0" y="5166360"/>
            <a:ext cx="2743200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61304" y="5084064"/>
            <a:ext cx="164592" cy="164592"/>
          </a:xfrm>
          <a:prstGeom prst="ellipse">
            <a:avLst/>
          </a:prstGeom>
          <a:solidFill>
            <a:srgbClr val="2DD4B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90104" y="5084064"/>
            <a:ext cx="164592" cy="164592"/>
          </a:xfrm>
          <a:prstGeom prst="ellipse">
            <a:avLst/>
          </a:prstGeom>
          <a:solidFill>
            <a:srgbClr val="2DD4B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0" y="2011680"/>
            <a:ext cx="0" cy="1051560"/>
          </a:xfrm>
          <a:prstGeom prst="line">
            <a:avLst/>
          </a:prstGeom>
          <a:noFill/>
          <a:ln w="25400">
            <a:solidFill>
              <a:srgbClr val="A9AEC7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486400" y="3063240"/>
            <a:ext cx="0" cy="1051560"/>
          </a:xfrm>
          <a:prstGeom prst="line">
            <a:avLst/>
          </a:prstGeom>
          <a:noFill/>
          <a:ln w="25400">
            <a:solidFill>
              <a:srgbClr val="A9AEC7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943600" y="3063240"/>
            <a:ext cx="0" cy="2103120"/>
          </a:xfrm>
          <a:prstGeom prst="line">
            <a:avLst/>
          </a:prstGeom>
          <a:noFill/>
          <a:ln w="25400">
            <a:solidFill>
              <a:srgbClr val="A9AEC7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1F2547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71500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feature branches started from the same point on develop and are moving forward independently.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 •  Day 2 — Branching Workflow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7E9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feature/frontend → develop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161B3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039112"/>
            <a:ext cx="1051560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checkout develop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390242"/>
            <a:ext cx="1051560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pull origin develop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741371"/>
            <a:ext cx="1051560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merge feature/frontend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092501"/>
            <a:ext cx="1051560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Fast-forward or merge commit created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443630"/>
            <a:ext cx="1051560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origin develop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E7E9F2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4288536"/>
            <a:ext cx="384048" cy="384048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4" name="Image 0" descr="/home/claude/gitgithub/icons/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294" y="4338462"/>
            <a:ext cx="284196" cy="28419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58368" y="472744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 develop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58368" y="5020056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branch receiving the merge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383280" y="41605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E7E9F2"/>
          </a:solidFill>
          <a:ln/>
        </p:spPr>
      </p:sp>
      <p:sp>
        <p:nvSpPr>
          <p:cNvPr id="18" name="Shape 15"/>
          <p:cNvSpPr/>
          <p:nvPr/>
        </p:nvSpPr>
        <p:spPr>
          <a:xfrm>
            <a:off x="3493008" y="4288536"/>
            <a:ext cx="384048" cy="384048"/>
          </a:xfrm>
          <a:prstGeom prst="ellipse">
            <a:avLst/>
          </a:prstGeom>
          <a:solidFill>
            <a:srgbClr val="6E40C9"/>
          </a:solidFill>
          <a:ln/>
        </p:spPr>
      </p:sp>
      <p:pic>
        <p:nvPicPr>
          <p:cNvPr id="19" name="Image 1" descr="/home/claude/gitgithub/icons/syn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2934" y="4338462"/>
            <a:ext cx="284196" cy="28419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493008" y="472744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 origin develop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3493008" y="5020056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develop is fully up to date first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217920" y="41605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E7E9F2"/>
          </a:solidFill>
          <a:ln/>
        </p:spPr>
      </p:sp>
      <p:sp>
        <p:nvSpPr>
          <p:cNvPr id="23" name="Shape 19"/>
          <p:cNvSpPr/>
          <p:nvPr/>
        </p:nvSpPr>
        <p:spPr>
          <a:xfrm>
            <a:off x="6327648" y="4288536"/>
            <a:ext cx="384048" cy="384048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24" name="Image 2" descr="/home/claude/gitgithub/icons/mer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574" y="4338462"/>
            <a:ext cx="284196" cy="28419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27648" y="472744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feature/frontend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6327648" y="5020056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frontend's commits into develop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9052560" y="41605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E7E9F2"/>
          </a:solidFill>
          <a:ln/>
        </p:spPr>
      </p:sp>
      <p:sp>
        <p:nvSpPr>
          <p:cNvPr id="28" name="Shape 23"/>
          <p:cNvSpPr/>
          <p:nvPr/>
        </p:nvSpPr>
        <p:spPr>
          <a:xfrm>
            <a:off x="9162288" y="4288536"/>
            <a:ext cx="384048" cy="384048"/>
          </a:xfrm>
          <a:prstGeom prst="ellipse">
            <a:avLst/>
          </a:prstGeom>
          <a:solidFill>
            <a:srgbClr val="6E40C9"/>
          </a:solidFill>
          <a:ln/>
        </p:spPr>
      </p:sp>
      <p:pic>
        <p:nvPicPr>
          <p:cNvPr id="29" name="Image 3" descr="/home/claude/gitgithub/icons/uplo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2214" y="4338462"/>
            <a:ext cx="284196" cy="28419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162288" y="472744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 origin develop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9162288" y="5020056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updated develop with the team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 •  Day 2 — Branching Workflow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7E9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feature/backend → develop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161B3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039112"/>
            <a:ext cx="1051560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checkout develop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390242"/>
            <a:ext cx="1051560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pull origin develop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741371"/>
            <a:ext cx="1051560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merge feature/backend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092501"/>
            <a:ext cx="1051560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Fast-forward or merge commit created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443630"/>
            <a:ext cx="1051560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origin develop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161B33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4370832"/>
            <a:ext cx="777240" cy="777240"/>
          </a:xfrm>
          <a:prstGeom prst="ellipse">
            <a:avLst/>
          </a:prstGeom>
          <a:solidFill>
            <a:srgbClr val="4CD97B"/>
          </a:solidFill>
          <a:ln/>
        </p:spPr>
      </p:sp>
      <p:pic>
        <p:nvPicPr>
          <p:cNvPr id="14" name="Image 0" descr="/home/claude/gitgithub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001" y="4471873"/>
            <a:ext cx="575158" cy="57515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874520" y="434340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now has everything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874520" y="470916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frontend/ and backend/ folders now live together on develop — exactly like a real integration branch.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 •  Day 2 — Branching Workflow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1F25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CHECKPOINT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Map After Merges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1737360" cy="402336"/>
          </a:xfrm>
          <a:prstGeom prst="roundRect">
            <a:avLst>
              <a:gd name="adj" fmla="val 13636"/>
            </a:avLst>
          </a:prstGeom>
          <a:solidFill>
            <a:srgbClr val="F0503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1051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468880" y="2011680"/>
            <a:ext cx="9052560" cy="0"/>
          </a:xfrm>
          <a:prstGeom prst="line">
            <a:avLst/>
          </a:prstGeom>
          <a:noFill/>
          <a:ln w="31750">
            <a:solidFill>
              <a:srgbClr val="F050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58184" y="1929384"/>
            <a:ext cx="164592" cy="164592"/>
          </a:xfrm>
          <a:prstGeom prst="ellipse">
            <a:avLst/>
          </a:prstGeom>
          <a:solidFill>
            <a:srgbClr val="F050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862072"/>
            <a:ext cx="1737360" cy="402336"/>
          </a:xfrm>
          <a:prstGeom prst="roundRect">
            <a:avLst>
              <a:gd name="adj" fmla="val 13636"/>
            </a:avLst>
          </a:prstGeom>
          <a:solidFill>
            <a:srgbClr val="6E40C9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6207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840480" y="3063240"/>
            <a:ext cx="7680960" cy="0"/>
          </a:xfrm>
          <a:prstGeom prst="line">
            <a:avLst/>
          </a:prstGeom>
          <a:noFill/>
          <a:ln w="31750">
            <a:solidFill>
              <a:srgbClr val="6E40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58184" y="2980944"/>
            <a:ext cx="164592" cy="164592"/>
          </a:xfrm>
          <a:prstGeom prst="ellipse">
            <a:avLst/>
          </a:prstGeom>
          <a:solidFill>
            <a:srgbClr val="6E40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32904" y="2980944"/>
            <a:ext cx="164592" cy="164592"/>
          </a:xfrm>
          <a:prstGeom prst="ellipse">
            <a:avLst/>
          </a:prstGeom>
          <a:solidFill>
            <a:srgbClr val="6E40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90104" y="2980944"/>
            <a:ext cx="164592" cy="164592"/>
          </a:xfrm>
          <a:prstGeom prst="ellipse">
            <a:avLst/>
          </a:prstGeom>
          <a:solidFill>
            <a:srgbClr val="6E40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913632"/>
            <a:ext cx="1737360" cy="402336"/>
          </a:xfrm>
          <a:prstGeom prst="roundRect">
            <a:avLst>
              <a:gd name="adj" fmla="val 13636"/>
            </a:avLst>
          </a:prstGeom>
          <a:solidFill>
            <a:srgbClr val="4C9A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91363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feature/frontend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0" y="4114800"/>
            <a:ext cx="1828800" cy="0"/>
          </a:xfrm>
          <a:prstGeom prst="line">
            <a:avLst/>
          </a:prstGeom>
          <a:noFill/>
          <a:ln w="31750">
            <a:solidFill>
              <a:srgbClr val="4C9A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04104" y="4032504"/>
            <a:ext cx="164592" cy="164592"/>
          </a:xfrm>
          <a:prstGeom prst="ellipse">
            <a:avLst/>
          </a:prstGeom>
          <a:solidFill>
            <a:srgbClr val="4C9A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01384" y="4032504"/>
            <a:ext cx="164592" cy="164592"/>
          </a:xfrm>
          <a:prstGeom prst="ellipse">
            <a:avLst/>
          </a:prstGeom>
          <a:solidFill>
            <a:srgbClr val="4C9A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965192"/>
            <a:ext cx="1737360" cy="402336"/>
          </a:xfrm>
          <a:prstGeom prst="roundRect">
            <a:avLst>
              <a:gd name="adj" fmla="val 13636"/>
            </a:avLst>
          </a:prstGeom>
          <a:solidFill>
            <a:srgbClr val="2DD4B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96519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feature/backend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0" y="5166360"/>
            <a:ext cx="1828800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61304" y="5084064"/>
            <a:ext cx="164592" cy="164592"/>
          </a:xfrm>
          <a:prstGeom prst="ellipse">
            <a:avLst/>
          </a:prstGeom>
          <a:solidFill>
            <a:srgbClr val="2DD4B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58584" y="5084064"/>
            <a:ext cx="164592" cy="164592"/>
          </a:xfrm>
          <a:prstGeom prst="ellipse">
            <a:avLst/>
          </a:prstGeom>
          <a:solidFill>
            <a:srgbClr val="2DD4B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0" y="2011680"/>
            <a:ext cx="0" cy="1051560"/>
          </a:xfrm>
          <a:prstGeom prst="line">
            <a:avLst/>
          </a:prstGeom>
          <a:noFill/>
          <a:ln w="25400">
            <a:solidFill>
              <a:srgbClr val="A9AEC7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486400" y="3063240"/>
            <a:ext cx="0" cy="1051560"/>
          </a:xfrm>
          <a:prstGeom prst="line">
            <a:avLst/>
          </a:prstGeom>
          <a:noFill/>
          <a:ln w="25400">
            <a:solidFill>
              <a:srgbClr val="A9AEC7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943600" y="3063240"/>
            <a:ext cx="0" cy="2103120"/>
          </a:xfrm>
          <a:prstGeom prst="line">
            <a:avLst/>
          </a:prstGeom>
          <a:noFill/>
          <a:ln w="25400">
            <a:solidFill>
              <a:srgbClr val="A9AEC7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7315200" y="4114800"/>
            <a:ext cx="0" cy="-1051560"/>
          </a:xfrm>
          <a:prstGeom prst="line">
            <a:avLst/>
          </a:prstGeom>
          <a:noFill/>
          <a:ln w="25400">
            <a:solidFill>
              <a:srgbClr val="4CD97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0" y="5166360"/>
            <a:ext cx="0" cy="-2103120"/>
          </a:xfrm>
          <a:prstGeom prst="line">
            <a:avLst/>
          </a:prstGeom>
          <a:noFill/>
          <a:ln w="25400">
            <a:solidFill>
              <a:srgbClr val="4CD97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1F2547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571500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 lines show both feature branches merging their work back into develop.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 •  Day 2 — Branching Workflow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7E9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 — GUI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develop → main on GitHub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merge into main is done through GitHub's interface with a Pull Request — giving the team a chance to review.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E7E9F2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286000"/>
            <a:ext cx="365760" cy="365760"/>
          </a:xfrm>
          <a:prstGeom prst="ellipse">
            <a:avLst/>
          </a:prstGeom>
          <a:solidFill>
            <a:srgbClr val="161B3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9000" y="2267712"/>
            <a:ext cx="402336" cy="402336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0" name="Image 0" descr="/home/claude/gitgithub/icons/pull_requ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1304" y="2320016"/>
            <a:ext cx="297729" cy="29772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27889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"Pull Requests" → "New pull request"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97680" y="214884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E7E9F2"/>
          </a:solidFill>
          <a:ln/>
        </p:spPr>
      </p:sp>
      <p:sp>
        <p:nvSpPr>
          <p:cNvPr id="13" name="Shape 10"/>
          <p:cNvSpPr/>
          <p:nvPr/>
        </p:nvSpPr>
        <p:spPr>
          <a:xfrm>
            <a:off x="4434840" y="2286000"/>
            <a:ext cx="365760" cy="365760"/>
          </a:xfrm>
          <a:prstGeom prst="ellipse">
            <a:avLst/>
          </a:prstGeom>
          <a:solidFill>
            <a:srgbClr val="161B33"/>
          </a:solidFill>
          <a:ln/>
        </p:spPr>
      </p:sp>
      <p:sp>
        <p:nvSpPr>
          <p:cNvPr id="14" name="Text 11"/>
          <p:cNvSpPr/>
          <p:nvPr/>
        </p:nvSpPr>
        <p:spPr>
          <a:xfrm>
            <a:off x="443484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178040" y="2267712"/>
            <a:ext cx="402336" cy="402336"/>
          </a:xfrm>
          <a:prstGeom prst="ellipse">
            <a:avLst/>
          </a:prstGeom>
          <a:solidFill>
            <a:srgbClr val="6E40C9"/>
          </a:solidFill>
          <a:ln/>
        </p:spPr>
      </p:sp>
      <p:pic>
        <p:nvPicPr>
          <p:cNvPr id="16" name="Image 1" descr="/home/claude/gitgithub/icons/bra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0344" y="2320016"/>
            <a:ext cx="297729" cy="29772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434840" y="27889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main  ←  compare: develop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046720" y="214884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E7E9F2"/>
          </a:solidFill>
          <a:ln/>
        </p:spPr>
      </p:sp>
      <p:sp>
        <p:nvSpPr>
          <p:cNvPr id="19" name="Shape 15"/>
          <p:cNvSpPr/>
          <p:nvPr/>
        </p:nvSpPr>
        <p:spPr>
          <a:xfrm>
            <a:off x="8183880" y="2286000"/>
            <a:ext cx="365760" cy="365760"/>
          </a:xfrm>
          <a:prstGeom prst="ellipse">
            <a:avLst/>
          </a:prstGeom>
          <a:solidFill>
            <a:srgbClr val="161B33"/>
          </a:solidFill>
          <a:ln/>
        </p:spPr>
      </p:sp>
      <p:sp>
        <p:nvSpPr>
          <p:cNvPr id="20" name="Text 16"/>
          <p:cNvSpPr/>
          <p:nvPr/>
        </p:nvSpPr>
        <p:spPr>
          <a:xfrm>
            <a:off x="818388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10927080" y="2267712"/>
            <a:ext cx="402336" cy="402336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22" name="Image 2" descr="/home/claude/gitgithub/icons/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9384" y="2320016"/>
            <a:ext cx="297729" cy="29772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183880" y="27889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file changes shown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48640" y="361188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E7E9F2"/>
          </a:solidFill>
          <a:ln/>
        </p:spPr>
      </p:sp>
      <p:sp>
        <p:nvSpPr>
          <p:cNvPr id="25" name="Shape 20"/>
          <p:cNvSpPr/>
          <p:nvPr/>
        </p:nvSpPr>
        <p:spPr>
          <a:xfrm>
            <a:off x="685800" y="3749040"/>
            <a:ext cx="365760" cy="365760"/>
          </a:xfrm>
          <a:prstGeom prst="ellipse">
            <a:avLst/>
          </a:prstGeom>
          <a:solidFill>
            <a:srgbClr val="161B33"/>
          </a:solidFill>
          <a:ln/>
        </p:spPr>
      </p:sp>
      <p:sp>
        <p:nvSpPr>
          <p:cNvPr id="26" name="Text 21"/>
          <p:cNvSpPr/>
          <p:nvPr/>
        </p:nvSpPr>
        <p:spPr>
          <a:xfrm>
            <a:off x="68580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3429000" y="3730752"/>
            <a:ext cx="402336" cy="402336"/>
          </a:xfrm>
          <a:prstGeom prst="ellipse">
            <a:avLst/>
          </a:prstGeom>
          <a:solidFill>
            <a:srgbClr val="6E40C9"/>
          </a:solidFill>
          <a:ln/>
        </p:spPr>
      </p:sp>
      <p:pic>
        <p:nvPicPr>
          <p:cNvPr id="28" name="Image 3" descr="/home/claude/gitgithub/icons/mou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1304" y="3783056"/>
            <a:ext cx="297729" cy="297729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85800" y="42519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"Create pull request"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4297680" y="361188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E7E9F2"/>
          </a:solidFill>
          <a:ln/>
        </p:spPr>
      </p:sp>
      <p:sp>
        <p:nvSpPr>
          <p:cNvPr id="31" name="Shape 25"/>
          <p:cNvSpPr/>
          <p:nvPr/>
        </p:nvSpPr>
        <p:spPr>
          <a:xfrm>
            <a:off x="4434840" y="3749040"/>
            <a:ext cx="365760" cy="365760"/>
          </a:xfrm>
          <a:prstGeom prst="ellipse">
            <a:avLst/>
          </a:prstGeom>
          <a:solidFill>
            <a:srgbClr val="161B33"/>
          </a:solidFill>
          <a:ln/>
        </p:spPr>
      </p:sp>
      <p:sp>
        <p:nvSpPr>
          <p:cNvPr id="32" name="Text 26"/>
          <p:cNvSpPr/>
          <p:nvPr/>
        </p:nvSpPr>
        <p:spPr>
          <a:xfrm>
            <a:off x="443484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7178040" y="3730752"/>
            <a:ext cx="402336" cy="402336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34" name="Image 4" descr="/home/claude/gitgithub/icons/mer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0344" y="3783056"/>
            <a:ext cx="297729" cy="297729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434840" y="42519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"Merge pull request"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8046720" y="361188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E7E9F2"/>
          </a:solidFill>
          <a:ln/>
        </p:spPr>
      </p:sp>
      <p:sp>
        <p:nvSpPr>
          <p:cNvPr id="37" name="Shape 30"/>
          <p:cNvSpPr/>
          <p:nvPr/>
        </p:nvSpPr>
        <p:spPr>
          <a:xfrm>
            <a:off x="8183880" y="3749040"/>
            <a:ext cx="365760" cy="365760"/>
          </a:xfrm>
          <a:prstGeom prst="ellipse">
            <a:avLst/>
          </a:prstGeom>
          <a:solidFill>
            <a:srgbClr val="161B33"/>
          </a:solidFill>
          <a:ln/>
        </p:spPr>
      </p:sp>
      <p:sp>
        <p:nvSpPr>
          <p:cNvPr id="38" name="Text 31"/>
          <p:cNvSpPr/>
          <p:nvPr/>
        </p:nvSpPr>
        <p:spPr>
          <a:xfrm>
            <a:off x="818388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Shape 32"/>
          <p:cNvSpPr/>
          <p:nvPr/>
        </p:nvSpPr>
        <p:spPr>
          <a:xfrm>
            <a:off x="10927080" y="3730752"/>
            <a:ext cx="402336" cy="402336"/>
          </a:xfrm>
          <a:prstGeom prst="ellipse">
            <a:avLst/>
          </a:prstGeom>
          <a:solidFill>
            <a:srgbClr val="6E40C9"/>
          </a:solidFill>
          <a:ln/>
        </p:spPr>
      </p:sp>
      <p:pic>
        <p:nvPicPr>
          <p:cNvPr id="40" name="Image 5" descr="/home/claude/gitgithub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9384" y="3783056"/>
            <a:ext cx="297729" cy="297729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8183880" y="42519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merge — main is now updated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 •  Day 2 — Branching Workflow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7E9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push — Every Way You'll Use It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7E9F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764792"/>
            <a:ext cx="530352" cy="530352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7" name="Image 0" descr="/home/claude/gitgithub/icons/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186" y="1833738"/>
            <a:ext cx="392460" cy="392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6002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126480" y="160020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using the already-configured upstream branch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26060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770632"/>
            <a:ext cx="530352" cy="530352"/>
          </a:xfrm>
          <a:prstGeom prst="ellipse">
            <a:avLst/>
          </a:prstGeom>
          <a:solidFill>
            <a:srgbClr val="6E40C9"/>
          </a:solidFill>
          <a:ln/>
        </p:spPr>
      </p:sp>
      <p:pic>
        <p:nvPicPr>
          <p:cNvPr id="12" name="Image 1" descr="/home/claude/gitgithub/icons/upl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186" y="2839578"/>
            <a:ext cx="392460" cy="392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26060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main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126480" y="260604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explicitly to a named remote and branch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6118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7E9F2"/>
          </a:solidFill>
          <a:ln/>
        </p:spPr>
      </p:sp>
      <p:sp>
        <p:nvSpPr>
          <p:cNvPr id="16" name="Shape 12"/>
          <p:cNvSpPr/>
          <p:nvPr/>
        </p:nvSpPr>
        <p:spPr>
          <a:xfrm>
            <a:off x="777240" y="3776472"/>
            <a:ext cx="530352" cy="530352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7" name="Image 2" descr="/home/claude/gitgithub/icons/uplo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86" y="3845418"/>
            <a:ext cx="392460" cy="392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61188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develop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126480" y="361188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AND remember this branch for next time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6177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CE4E1"/>
          </a:solidFill>
          <a:ln/>
        </p:spPr>
      </p:sp>
      <p:sp>
        <p:nvSpPr>
          <p:cNvPr id="21" name="Shape 16"/>
          <p:cNvSpPr/>
          <p:nvPr/>
        </p:nvSpPr>
        <p:spPr>
          <a:xfrm>
            <a:off x="777240" y="4782312"/>
            <a:ext cx="530352" cy="530352"/>
          </a:xfrm>
          <a:prstGeom prst="ellipse">
            <a:avLst/>
          </a:prstGeom>
          <a:solidFill>
            <a:srgbClr val="E5484D"/>
          </a:solidFill>
          <a:ln/>
        </p:spPr>
      </p:sp>
      <p:pic>
        <p:nvPicPr>
          <p:cNvPr id="22" name="Image 3" descr="/home/claude/gitgithub/icons/warning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186" y="4851258"/>
            <a:ext cx="392460" cy="392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46177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--force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6126480" y="461772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Overwrite remote history — use with real caution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 •  Day 2 — Branching Workflow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7E9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WITH CAUTION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Force Push — Handle With Care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161B33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682496"/>
            <a:ext cx="402336" cy="402336"/>
          </a:xfrm>
          <a:prstGeom prst="ellipse">
            <a:avLst/>
          </a:prstGeom>
          <a:solidFill>
            <a:srgbClr val="1F2547"/>
          </a:solidFill>
          <a:ln/>
        </p:spPr>
      </p:sp>
      <p:pic>
        <p:nvPicPr>
          <p:cNvPr id="7" name="Image 0" descr="/home/claude/gitgithub/icons/warnin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248" y="1734800"/>
            <a:ext cx="297729" cy="2977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55448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--force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080760" y="1554480"/>
            <a:ext cx="5532120" cy="658368"/>
          </a:xfrm>
          <a:prstGeom prst="roundRect">
            <a:avLst>
              <a:gd name="adj" fmla="val 11111"/>
            </a:avLst>
          </a:prstGeom>
          <a:solidFill>
            <a:srgbClr val="161B33"/>
          </a:solidFill>
          <a:ln/>
        </p:spPr>
      </p:sp>
      <p:sp>
        <p:nvSpPr>
          <p:cNvPr id="10" name="Shape 7"/>
          <p:cNvSpPr/>
          <p:nvPr/>
        </p:nvSpPr>
        <p:spPr>
          <a:xfrm>
            <a:off x="6227064" y="1682496"/>
            <a:ext cx="402336" cy="402336"/>
          </a:xfrm>
          <a:prstGeom prst="ellipse">
            <a:avLst/>
          </a:prstGeom>
          <a:solidFill>
            <a:srgbClr val="1F2547"/>
          </a:solidFill>
          <a:ln/>
        </p:spPr>
      </p:sp>
      <p:pic>
        <p:nvPicPr>
          <p:cNvPr id="11" name="Image 1" descr="/home/claude/gitgithub/icons/warnin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368" y="1734800"/>
            <a:ext cx="297729" cy="29772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766560" y="1554480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--force-with-lease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242316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E7E9F2"/>
          </a:solidFill>
          <a:ln/>
        </p:spPr>
      </p:sp>
      <p:sp>
        <p:nvSpPr>
          <p:cNvPr id="14" name="Shape 10"/>
          <p:cNvSpPr/>
          <p:nvPr/>
        </p:nvSpPr>
        <p:spPr>
          <a:xfrm>
            <a:off x="731520" y="2606040"/>
            <a:ext cx="502920" cy="502920"/>
          </a:xfrm>
          <a:prstGeom prst="ellipse">
            <a:avLst/>
          </a:prstGeom>
          <a:solidFill>
            <a:srgbClr val="E5484D"/>
          </a:solidFill>
          <a:ln/>
        </p:spPr>
      </p:sp>
      <p:pic>
        <p:nvPicPr>
          <p:cNvPr id="15" name="Image 2" descr="/home/claude/gitgithub/icons/circle_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00" y="2671420"/>
            <a:ext cx="372161" cy="37216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25877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--force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731520" y="3154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Overwrites the remote branch completely, no matter what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17920" y="242316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E7E9F2"/>
          </a:solidFill>
          <a:ln/>
        </p:spPr>
      </p:sp>
      <p:sp>
        <p:nvSpPr>
          <p:cNvPr id="19" name="Shape 14"/>
          <p:cNvSpPr/>
          <p:nvPr/>
        </p:nvSpPr>
        <p:spPr>
          <a:xfrm>
            <a:off x="6400800" y="2606040"/>
            <a:ext cx="502920" cy="502920"/>
          </a:xfrm>
          <a:prstGeom prst="ellipse">
            <a:avLst/>
          </a:prstGeom>
          <a:solidFill>
            <a:srgbClr val="4CD97B"/>
          </a:solidFill>
          <a:ln/>
        </p:spPr>
      </p:sp>
      <p:pic>
        <p:nvPicPr>
          <p:cNvPr id="20" name="Image 3" descr="/home/claude/gitgithub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6180" y="2671420"/>
            <a:ext cx="372161" cy="37216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086600" y="25877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--force-with-lease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400800" y="3154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Safer: fails if someone else pushed since you last fetched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48640" y="425196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161B33"/>
          </a:solidFill>
          <a:ln/>
        </p:spPr>
      </p:sp>
      <p:sp>
        <p:nvSpPr>
          <p:cNvPr id="24" name="Shape 18"/>
          <p:cNvSpPr/>
          <p:nvPr/>
        </p:nvSpPr>
        <p:spPr>
          <a:xfrm>
            <a:off x="822960" y="4462272"/>
            <a:ext cx="777240" cy="777240"/>
          </a:xfrm>
          <a:prstGeom prst="ellipse">
            <a:avLst/>
          </a:prstGeom>
          <a:solidFill>
            <a:srgbClr val="E5484D"/>
          </a:solidFill>
          <a:ln/>
        </p:spPr>
      </p:sp>
      <p:pic>
        <p:nvPicPr>
          <p:cNvPr id="25" name="Image 4" descr="/home/claude/gitgithub/icons/warning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001" y="4563313"/>
            <a:ext cx="575158" cy="57515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874520" y="443484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force-push to shared branches like main or develop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1874520" y="480060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silently delete a teammate's commits. Force push is only safe on your own personal feature branch.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 •  Day 2 — Branching Workflow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7E9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 REMEMBER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Recap: Commit &amp; Config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shortcuts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7E9F2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965960"/>
            <a:ext cx="502920" cy="50292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8" name="Image 0" descr="/home/claude/gitgithub/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900" y="2031340"/>
            <a:ext cx="372161" cy="37216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8745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"message"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577840" y="187452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staged files with a message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6974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7E9F2"/>
          </a:solidFill>
          <a:ln/>
        </p:spPr>
      </p:sp>
      <p:sp>
        <p:nvSpPr>
          <p:cNvPr id="12" name="Shape 9"/>
          <p:cNvSpPr/>
          <p:nvPr/>
        </p:nvSpPr>
        <p:spPr>
          <a:xfrm>
            <a:off x="731520" y="2788920"/>
            <a:ext cx="502920" cy="502920"/>
          </a:xfrm>
          <a:prstGeom prst="ellipse">
            <a:avLst/>
          </a:prstGeom>
          <a:solidFill>
            <a:srgbClr val="6E40C9"/>
          </a:solidFill>
          <a:ln/>
        </p:spPr>
      </p:sp>
      <p:pic>
        <p:nvPicPr>
          <p:cNvPr id="13" name="Image 1" descr="/home/claude/gitgithub/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00" y="2854300"/>
            <a:ext cx="372161" cy="37216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63040" y="26974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-am "message"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577840" y="269748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tracked, modified files AND commit — in one step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4864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essentials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40233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7E9F2"/>
          </a:solidFill>
          <a:ln/>
        </p:spPr>
      </p:sp>
      <p:sp>
        <p:nvSpPr>
          <p:cNvPr id="18" name="Shape 14"/>
          <p:cNvSpPr/>
          <p:nvPr/>
        </p:nvSpPr>
        <p:spPr>
          <a:xfrm>
            <a:off x="731520" y="4114800"/>
            <a:ext cx="502920" cy="50292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9" name="Image 2" descr="/home/claude/gitgithub/icons/ge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00" y="4180180"/>
            <a:ext cx="372161" cy="3721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40233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"..."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675120" y="40233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identity for every repository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484632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7E9F2"/>
          </a:solidFill>
          <a:ln/>
        </p:spPr>
      </p:sp>
      <p:sp>
        <p:nvSpPr>
          <p:cNvPr id="23" name="Shape 18"/>
          <p:cNvSpPr/>
          <p:nvPr/>
        </p:nvSpPr>
        <p:spPr>
          <a:xfrm>
            <a:off x="731520" y="4937760"/>
            <a:ext cx="502920" cy="502920"/>
          </a:xfrm>
          <a:prstGeom prst="ellipse">
            <a:avLst/>
          </a:prstGeom>
          <a:solidFill>
            <a:srgbClr val="6E40C9"/>
          </a:solidFill>
          <a:ln/>
        </p:spPr>
      </p:sp>
      <p:pic>
        <p:nvPicPr>
          <p:cNvPr id="24" name="Image 3" descr="/home/claude/gitgithub/icons/ge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900" y="5003140"/>
            <a:ext cx="372161" cy="37216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63040" y="48463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--list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6675120" y="48463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every current Git setting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 •  Day 2 — Branching Workflow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1F25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Branching Cheat Sheet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1F254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916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0" y="169164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local branches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1F2547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16916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4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052560" y="169164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remote branches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459736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1F2547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45973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45973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branches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2459736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1F2547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245973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4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&lt;name&gt;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052560" y="245973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switch to a new branch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227832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1F2547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2783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&lt;name&gt;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322783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an existing branch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3227832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1F2547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322783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4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&lt;name&gt;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52560" y="322783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a branch into the current one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995928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1F2547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99592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&lt;name&gt;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0" y="399592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 new branch and track it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3995928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1F2547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399592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4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 &lt;name&gt;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052560" y="399592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branch that is fully merged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 •  Day 2 — Branching Workflow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7E9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Branching Mistakes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E7E9F2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828800"/>
            <a:ext cx="457200" cy="45720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7" name="Image 0" descr="/home/claude/gitgithub/icons/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" y="1888236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76479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from main instead of develop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85800" y="27432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confirm your branch before creating a new one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97680" y="16916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E7E9F2"/>
          </a:solidFill>
          <a:ln/>
        </p:spPr>
      </p:sp>
      <p:sp>
        <p:nvSpPr>
          <p:cNvPr id="11" name="Shape 8"/>
          <p:cNvSpPr/>
          <p:nvPr/>
        </p:nvSpPr>
        <p:spPr>
          <a:xfrm>
            <a:off x="4434840" y="1828800"/>
            <a:ext cx="457200" cy="457200"/>
          </a:xfrm>
          <a:prstGeom prst="ellipse">
            <a:avLst/>
          </a:prstGeom>
          <a:solidFill>
            <a:srgbClr val="6E40C9"/>
          </a:solidFill>
          <a:ln/>
        </p:spPr>
      </p:sp>
      <p:pic>
        <p:nvPicPr>
          <p:cNvPr id="12" name="Image 1" descr="/home/claude/gitgithub/icons/warnin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276" y="1888236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83480" y="176479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-u on the first push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434840" y="27432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git push will fail without an upstream link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8046720" y="16916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E7E9F2"/>
          </a:solidFill>
          <a:ln/>
        </p:spPr>
      </p:sp>
      <p:sp>
        <p:nvSpPr>
          <p:cNvPr id="16" name="Shape 12"/>
          <p:cNvSpPr/>
          <p:nvPr/>
        </p:nvSpPr>
        <p:spPr>
          <a:xfrm>
            <a:off x="8183880" y="1828800"/>
            <a:ext cx="457200" cy="45720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7" name="Image 2" descr="/home/claude/gitgithub/icons/mer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3316" y="1888236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32520" y="176479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without pulling first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8183880" y="27432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git pull develop before merging into it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48640" y="347472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E7E9F2"/>
          </a:solidFill>
          <a:ln/>
        </p:spPr>
      </p:sp>
      <p:sp>
        <p:nvSpPr>
          <p:cNvPr id="21" name="Shape 16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6E40C9"/>
          </a:solidFill>
          <a:ln/>
        </p:spPr>
      </p:sp>
      <p:pic>
        <p:nvPicPr>
          <p:cNvPr id="22" name="Image 3" descr="/home/claude/gitgithub/icons/circle_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" y="3671316"/>
            <a:ext cx="338328" cy="3383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34440" y="354787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Force-pushing to main or develop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685800" y="45262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--force for your own private branches only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297680" y="347472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E7E9F2"/>
          </a:solidFill>
          <a:ln/>
        </p:spPr>
      </p:sp>
      <p:sp>
        <p:nvSpPr>
          <p:cNvPr id="26" name="Shape 20"/>
          <p:cNvSpPr/>
          <p:nvPr/>
        </p:nvSpPr>
        <p:spPr>
          <a:xfrm>
            <a:off x="4434840" y="3611880"/>
            <a:ext cx="457200" cy="45720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27" name="Image 4" descr="/home/claude/gitgithub/icons/comm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4276" y="3671316"/>
            <a:ext cx="338328" cy="33832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983480" y="354787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branch names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434840" y="45262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feature/, bugfix/, hotfix/ prefixes consistently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8046720" y="347472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E7E9F2"/>
          </a:solidFill>
          <a:ln/>
        </p:spPr>
      </p:sp>
      <p:sp>
        <p:nvSpPr>
          <p:cNvPr id="31" name="Shape 24"/>
          <p:cNvSpPr/>
          <p:nvPr/>
        </p:nvSpPr>
        <p:spPr>
          <a:xfrm>
            <a:off x="8183880" y="3611880"/>
            <a:ext cx="457200" cy="457200"/>
          </a:xfrm>
          <a:prstGeom prst="ellipse">
            <a:avLst/>
          </a:prstGeom>
          <a:solidFill>
            <a:srgbClr val="6E40C9"/>
          </a:solidFill>
          <a:ln/>
        </p:spPr>
      </p:sp>
      <p:pic>
        <p:nvPicPr>
          <p:cNvPr id="32" name="Image 5" descr="/home/claude/gitgithub/icons/ey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3316" y="3671316"/>
            <a:ext cx="338328" cy="33832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732520" y="354787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checking git status before committing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8183880" y="45262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status check prevents committing the wrong files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 •  Day 2 — Branching Workflow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1F25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Summary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F2547"/>
          </a:solidFill>
          <a:ln/>
        </p:spPr>
      </p:sp>
      <p:sp>
        <p:nvSpPr>
          <p:cNvPr id="6" name="Shape 4"/>
          <p:cNvSpPr/>
          <p:nvPr/>
        </p:nvSpPr>
        <p:spPr>
          <a:xfrm>
            <a:off x="1600200" y="1929384"/>
            <a:ext cx="548640" cy="54864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7" name="Image 0" descr="/home/claude/gitgithub/icons/down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1523" y="2000707"/>
            <a:ext cx="405994" cy="4059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2587752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&amp; push to main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78308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F2547"/>
          </a:solidFill>
          <a:ln/>
        </p:spPr>
      </p:sp>
      <p:sp>
        <p:nvSpPr>
          <p:cNvPr id="10" name="Shape 7"/>
          <p:cNvSpPr/>
          <p:nvPr/>
        </p:nvSpPr>
        <p:spPr>
          <a:xfrm>
            <a:off x="4434840" y="1929384"/>
            <a:ext cx="548640" cy="548640"/>
          </a:xfrm>
          <a:prstGeom prst="ellipse">
            <a:avLst/>
          </a:prstGeom>
          <a:solidFill>
            <a:srgbClr val="6E40C9"/>
          </a:solidFill>
          <a:ln/>
        </p:spPr>
      </p:sp>
      <p:pic>
        <p:nvPicPr>
          <p:cNvPr id="11" name="Image 1" descr="/home/claude/gitgithub/icons/bra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163" y="2000707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56432" y="2587752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branch -a / -r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178308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F2547"/>
          </a:solidFill>
          <a:ln/>
        </p:spPr>
      </p:sp>
      <p:sp>
        <p:nvSpPr>
          <p:cNvPr id="14" name="Shape 10"/>
          <p:cNvSpPr/>
          <p:nvPr/>
        </p:nvSpPr>
        <p:spPr>
          <a:xfrm>
            <a:off x="7269480" y="1929384"/>
            <a:ext cx="548640" cy="54864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5" name="Image 2" descr="/home/claude/gitgithub/icons/plu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803" y="2000707"/>
            <a:ext cx="405994" cy="40599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91072" y="2587752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develop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9052560" y="178308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F2547"/>
          </a:solidFill>
          <a:ln/>
        </p:spPr>
      </p:sp>
      <p:sp>
        <p:nvSpPr>
          <p:cNvPr id="18" name="Shape 13"/>
          <p:cNvSpPr/>
          <p:nvPr/>
        </p:nvSpPr>
        <p:spPr>
          <a:xfrm>
            <a:off x="10104120" y="1929384"/>
            <a:ext cx="548640" cy="548640"/>
          </a:xfrm>
          <a:prstGeom prst="ellipse">
            <a:avLst/>
          </a:prstGeom>
          <a:solidFill>
            <a:srgbClr val="6E40C9"/>
          </a:solidFill>
          <a:ln/>
        </p:spPr>
      </p:sp>
      <p:pic>
        <p:nvPicPr>
          <p:cNvPr id="19" name="Image 3" descr="/home/claude/gitgithub/icons/deskt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5443" y="2000707"/>
            <a:ext cx="405994" cy="40599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25712" y="2587752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feature/frontend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3218688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F2547"/>
          </a:solidFill>
          <a:ln/>
        </p:spPr>
      </p:sp>
      <p:sp>
        <p:nvSpPr>
          <p:cNvPr id="22" name="Shape 16"/>
          <p:cNvSpPr/>
          <p:nvPr/>
        </p:nvSpPr>
        <p:spPr>
          <a:xfrm>
            <a:off x="1600200" y="3364992"/>
            <a:ext cx="548640" cy="54864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23" name="Image 4" descr="/home/claude/gitgithub/icons/ser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1523" y="3436315"/>
            <a:ext cx="405994" cy="40599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21792" y="402336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feature/backend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3383280" y="3218688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F2547"/>
          </a:solidFill>
          <a:ln/>
        </p:spPr>
      </p:sp>
      <p:sp>
        <p:nvSpPr>
          <p:cNvPr id="26" name="Shape 19"/>
          <p:cNvSpPr/>
          <p:nvPr/>
        </p:nvSpPr>
        <p:spPr>
          <a:xfrm>
            <a:off x="4434840" y="3364992"/>
            <a:ext cx="548640" cy="548640"/>
          </a:xfrm>
          <a:prstGeom prst="ellipse">
            <a:avLst/>
          </a:prstGeom>
          <a:solidFill>
            <a:srgbClr val="6E40C9"/>
          </a:solidFill>
          <a:ln/>
        </p:spPr>
      </p:sp>
      <p:pic>
        <p:nvPicPr>
          <p:cNvPr id="27" name="Image 5" descr="/home/claude/gitgithub/icons/mer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6163" y="3436315"/>
            <a:ext cx="405994" cy="40599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456432" y="402336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into develop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6217920" y="3218688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F2547"/>
          </a:solidFill>
          <a:ln/>
        </p:spPr>
      </p:sp>
      <p:sp>
        <p:nvSpPr>
          <p:cNvPr id="30" name="Shape 22"/>
          <p:cNvSpPr/>
          <p:nvPr/>
        </p:nvSpPr>
        <p:spPr>
          <a:xfrm>
            <a:off x="7269480" y="3364992"/>
            <a:ext cx="548640" cy="54864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31" name="Image 6" descr="/home/claude/gitgithub/icons/pull_reques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0803" y="3436315"/>
            <a:ext cx="405994" cy="40599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291072" y="402336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merge to main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9052560" y="3218688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F2547"/>
          </a:solidFill>
          <a:ln/>
        </p:spPr>
      </p:sp>
      <p:sp>
        <p:nvSpPr>
          <p:cNvPr id="34" name="Shape 25"/>
          <p:cNvSpPr/>
          <p:nvPr/>
        </p:nvSpPr>
        <p:spPr>
          <a:xfrm>
            <a:off x="10104120" y="3364992"/>
            <a:ext cx="548640" cy="548640"/>
          </a:xfrm>
          <a:prstGeom prst="ellipse">
            <a:avLst/>
          </a:prstGeom>
          <a:solidFill>
            <a:srgbClr val="6E40C9"/>
          </a:solidFill>
          <a:ln/>
        </p:spPr>
      </p:sp>
      <p:pic>
        <p:nvPicPr>
          <p:cNvPr id="35" name="Image 7" descr="/home/claude/gitgithub/icons/uploa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75443" y="3436315"/>
            <a:ext cx="405994" cy="405994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9125712" y="402336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&amp; force-push</a:t>
            </a:r>
            <a:endParaRPr lang="en-US" sz="1100" dirty="0"/>
          </a:p>
        </p:txBody>
      </p:sp>
      <p:sp>
        <p:nvSpPr>
          <p:cNvPr id="37" name="Text 27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 •  Day 2 — Branching Workflow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7E9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Exercise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E7E9F2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700784"/>
            <a:ext cx="365760" cy="365760"/>
          </a:xfrm>
          <a:prstGeom prst="ellipse">
            <a:avLst/>
          </a:prstGeom>
          <a:solidFill>
            <a:srgbClr val="161B3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00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600200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your own repository (main only)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258568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359152"/>
            <a:ext cx="365760" cy="365760"/>
          </a:xfrm>
          <a:prstGeom prst="ellipse">
            <a:avLst/>
          </a:prstGeom>
          <a:solidFill>
            <a:srgbClr val="161B33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359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2258568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2 files, commit, and push to main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916936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E7E9F2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3017520"/>
            <a:ext cx="365760" cy="365760"/>
          </a:xfrm>
          <a:prstGeom prst="ellipse">
            <a:avLst/>
          </a:prstGeom>
          <a:solidFill>
            <a:srgbClr val="161B33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291693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push a develop branch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575304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675888"/>
            <a:ext cx="365760" cy="365760"/>
          </a:xfrm>
          <a:prstGeom prst="ellipse">
            <a:avLst/>
          </a:prstGeom>
          <a:solidFill>
            <a:srgbClr val="161B33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3575304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feature/frontend and add a file, push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23367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E7E9F2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4334256"/>
            <a:ext cx="365760" cy="365760"/>
          </a:xfrm>
          <a:prstGeom prst="ellipse">
            <a:avLst/>
          </a:prstGeom>
          <a:solidFill>
            <a:srgbClr val="161B33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4233672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feature/backend and add a file, push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8920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4992624"/>
            <a:ext cx="365760" cy="365760"/>
          </a:xfrm>
          <a:prstGeom prst="ellipse">
            <a:avLst/>
          </a:prstGeom>
          <a:solidFill>
            <a:srgbClr val="161B33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992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34440" y="4892040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both features into develop and push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550408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E7E9F2"/>
          </a:solidFill>
          <a:ln/>
        </p:spPr>
      </p:sp>
      <p:sp>
        <p:nvSpPr>
          <p:cNvPr id="30" name="Shape 28"/>
          <p:cNvSpPr/>
          <p:nvPr/>
        </p:nvSpPr>
        <p:spPr>
          <a:xfrm>
            <a:off x="685800" y="5650992"/>
            <a:ext cx="365760" cy="365760"/>
          </a:xfrm>
          <a:prstGeom prst="ellipse">
            <a:avLst/>
          </a:prstGeom>
          <a:solidFill>
            <a:srgbClr val="161B33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5650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34440" y="5550408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GitHub and merge develop into main via a Pull Request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 •  Day 2 — Branching Workflow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6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1F2547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754880"/>
            <a:ext cx="3108960" cy="3108960"/>
          </a:xfrm>
          <a:prstGeom prst="ellipse">
            <a:avLst/>
          </a:prstGeom>
          <a:solidFill>
            <a:srgbClr val="1F2547"/>
          </a:solidFill>
          <a:ln/>
        </p:spPr>
      </p:sp>
      <p:sp>
        <p:nvSpPr>
          <p:cNvPr id="4" name="Shape 2"/>
          <p:cNvSpPr/>
          <p:nvPr/>
        </p:nvSpPr>
        <p:spPr>
          <a:xfrm>
            <a:off x="4907128" y="914400"/>
            <a:ext cx="960120" cy="960120"/>
          </a:xfrm>
          <a:prstGeom prst="ellipse">
            <a:avLst/>
          </a:prstGeom>
          <a:solidFill>
            <a:srgbClr val="1F2547"/>
          </a:solidFill>
          <a:ln/>
        </p:spPr>
      </p:sp>
      <p:pic>
        <p:nvPicPr>
          <p:cNvPr id="5" name="Image 0" descr="/home/claude/gitgithub/icons/g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1943" y="1039216"/>
            <a:ext cx="710489" cy="710489"/>
          </a:xfrm>
          <a:prstGeom prst="rect">
            <a:avLst/>
          </a:prstGeom>
        </p:spPr>
      </p:pic>
      <p:pic>
        <p:nvPicPr>
          <p:cNvPr id="6" name="Image 1" descr="/home/claude/gitgithub/icons/github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128" y="1097280"/>
            <a:ext cx="594360" cy="59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22860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8" name="Text 4"/>
          <p:cNvSpPr/>
          <p:nvPr/>
        </p:nvSpPr>
        <p:spPr>
          <a:xfrm>
            <a:off x="548640" y="3246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4358488" y="4297680"/>
            <a:ext cx="3474720" cy="960120"/>
          </a:xfrm>
          <a:prstGeom prst="roundRect">
            <a:avLst>
              <a:gd name="adj" fmla="val 9524"/>
            </a:avLst>
          </a:prstGeom>
          <a:solidFill>
            <a:srgbClr val="1F2547"/>
          </a:solidFill>
          <a:ln/>
        </p:spPr>
      </p:sp>
      <p:sp>
        <p:nvSpPr>
          <p:cNvPr id="10" name="Shape 6"/>
          <p:cNvSpPr/>
          <p:nvPr/>
        </p:nvSpPr>
        <p:spPr>
          <a:xfrm>
            <a:off x="4587088" y="4480560"/>
            <a:ext cx="594360" cy="594360"/>
          </a:xfrm>
          <a:prstGeom prst="ellipse">
            <a:avLst/>
          </a:prstGeom>
          <a:solidFill>
            <a:srgbClr val="6E40C9"/>
          </a:solidFill>
          <a:ln/>
        </p:spPr>
      </p:sp>
      <p:pic>
        <p:nvPicPr>
          <p:cNvPr id="11" name="Image 2" descr="/home/claude/gitgithub/icons/us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354" y="4557827"/>
            <a:ext cx="439826" cy="43982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18608" y="4407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5318608" y="4645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Ranjita Rai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2026-08-02T12:47:35Z</dcterms:created>
  <dcterms:modified xsi:type="dcterms:W3CDTF">2026-08-02T12:47:35Z</dcterms:modified>
</cp:coreProperties>
</file>